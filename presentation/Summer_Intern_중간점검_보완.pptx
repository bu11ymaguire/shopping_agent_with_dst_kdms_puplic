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embeddedFontLst>
    <p:embeddedFont>
      <p:font typeface="IBM Plex Sans"/>
      <p:regular r:id="rId28"/>
      <p:bold r:id="rId29"/>
      <p:italic r:id="rId30"/>
      <p:boldItalic r:id="rId31"/>
    </p:embeddedFont>
    <p:embeddedFont>
      <p:font typeface="Nanum Gothic"/>
      <p:regular r:id="rId32"/>
      <p:bold r:id="rId33"/>
    </p:embeddedFont>
    <p:embeddedFont>
      <p:font typeface="IBM Plex Sans KR"/>
      <p:regular r:id="rId34"/>
      <p:bold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9C477C8-D558-4458-9357-916986D1DDB7}">
  <a:tblStyle styleId="{49C477C8-D558-4458-9357-916986D1DDB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IBMPlexSans-regular.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IBMPlexSans-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BMPlexSans-boldItalic.fntdata"/><Relationship Id="rId30" Type="http://schemas.openxmlformats.org/officeDocument/2006/relationships/font" Target="fonts/IBMPlexSans-italic.fntdata"/><Relationship Id="rId11" Type="http://schemas.openxmlformats.org/officeDocument/2006/relationships/slide" Target="slides/slide5.xml"/><Relationship Id="rId33" Type="http://schemas.openxmlformats.org/officeDocument/2006/relationships/font" Target="fonts/NanumGothic-bold.fntdata"/><Relationship Id="rId10" Type="http://schemas.openxmlformats.org/officeDocument/2006/relationships/slide" Target="slides/slide4.xml"/><Relationship Id="rId32" Type="http://schemas.openxmlformats.org/officeDocument/2006/relationships/font" Target="fonts/NanumGothic-regular.fntdata"/><Relationship Id="rId13" Type="http://schemas.openxmlformats.org/officeDocument/2006/relationships/slide" Target="slides/slide7.xml"/><Relationship Id="rId35" Type="http://schemas.openxmlformats.org/officeDocument/2006/relationships/font" Target="fonts/IBMPlexSansKR-bold.fntdata"/><Relationship Id="rId12" Type="http://schemas.openxmlformats.org/officeDocument/2006/relationships/slide" Target="slides/slide6.xml"/><Relationship Id="rId34" Type="http://schemas.openxmlformats.org/officeDocument/2006/relationships/font" Target="fonts/IBMPlexSansKR-regular.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f6f773adb6_0_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g3f6f773adb6_0_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96" name="Google Shape;96;g3f6f773adb6_0_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f6f773adb6_0_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g3f6f773adb6_0_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08" name="Google Shape;108;g3f6f773adb6_0_4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120" name="Google Shape;120;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132" name="Google Shape;132;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144" name="Google Shape;144;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156" name="Google Shape;156;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0" name="Google Shape;170;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171" name="Google Shape;171;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f6f773adb6_0_5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5" name="Google Shape;185;g3f6f773adb6_0_5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86" name="Google Shape;186;g3f6f773adb6_0_5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 name="Google Shape;197;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198" name="Google Shape;198;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f6f773adb6_0_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 name="Google Shape;209;g3f6f773adb6_0_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210" name="Google Shape;210;g3f6f773adb6_0_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f6f773adb6_0_6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1" name="Google Shape;221;g3f6f773adb6_0_6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22" name="Google Shape;222;g3f6f773adb6_0_6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f6f773adb6_0_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3" name="Google Shape;233;g3f6f773adb6_0_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234" name="Google Shape;234;g3f6f773adb6_0_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f9a0715bde_0_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5" name="Google Shape;245;g3f9a0715bde_0_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246" name="Google Shape;246;g3f9a0715bde_0_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f9a0715bde_0_7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9" name="Google Shape;259;g3f9a0715bde_0_7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260" name="Google Shape;260;g3f9a0715bde_0_7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f9a0715bde_0_10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1" name="Google Shape;271;g3f9a0715bde_0_10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272" name="Google Shape;272;g3f9a0715bde_0_10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f706c86f65_0_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 name="Google Shape;285;g3f706c86f65_0_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286" name="Google Shape;286;g3f706c86f65_0_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f706c86f65_0_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0" name="Google Shape;300;g3f706c86f65_0_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301" name="Google Shape;301;g3f706c86f65_0_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f706c86f65_0_5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 name="Google Shape;314;g3f706c86f65_0_5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315" name="Google Shape;315;g3f706c86f65_0_5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f706c86f65_0_8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0" name="Google Shape;330;g3f706c86f65_0_8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331" name="Google Shape;331;g3f706c86f65_0_8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f706c86f65_0_10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3" name="Google Shape;343;g3f706c86f65_0_10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1100">
              <a:latin typeface="Malgun Gothic"/>
              <a:ea typeface="Malgun Gothic"/>
              <a:cs typeface="Malgun Gothic"/>
              <a:sym typeface="Malgun Gothic"/>
            </a:endParaRPr>
          </a:p>
        </p:txBody>
      </p:sp>
      <p:sp>
        <p:nvSpPr>
          <p:cNvPr id="344" name="Google Shape;344;g3f706c86f65_0_10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p:nvPr>
            <p:ph idx="1" type="body"/>
          </p:nvPr>
        </p:nvSpPr>
        <p:spPr>
          <a:xfrm>
            <a:off x="457200" y="1535113"/>
            <a:ext cx="40401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9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9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400" cy="1162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 type="body"/>
          </p:nvPr>
        </p:nvSpPr>
        <p:spPr>
          <a:xfrm>
            <a:off x="3575050" y="273050"/>
            <a:ext cx="5111700" cy="58530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400" cy="4691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2308951" y="-251550"/>
            <a:ext cx="4526100"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51" y="2171689"/>
            <a:ext cx="5851500"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541350" y="190487"/>
            <a:ext cx="5851500"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cxnSp>
        <p:nvCxnSpPr>
          <p:cNvPr id="85" name="Google Shape;85;p13"/>
          <p:cNvCxnSpPr/>
          <p:nvPr/>
        </p:nvCxnSpPr>
        <p:spPr>
          <a:xfrm>
            <a:off x="508000" y="4191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39"/>
              </a:srgbClr>
            </a:outerShdw>
          </a:effectLst>
        </p:spPr>
      </p:cxnSp>
      <p:cxnSp>
        <p:nvCxnSpPr>
          <p:cNvPr id="86" name="Google Shape;86;p13"/>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39"/>
              </a:srgbClr>
            </a:outerShdw>
          </a:effectLst>
        </p:spPr>
      </p:cxnSp>
      <p:sp>
        <p:nvSpPr>
          <p:cNvPr id="87" name="Google Shape;87;p13"/>
          <p:cNvSpPr txBox="1"/>
          <p:nvPr/>
        </p:nvSpPr>
        <p:spPr>
          <a:xfrm>
            <a:off x="527050" y="596900"/>
            <a:ext cx="2710800" cy="396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1300"/>
              <a:buFont typeface="Arial"/>
              <a:buNone/>
            </a:pPr>
            <a:r>
              <a:rPr b="0" i="0" lang="ko" sz="1300" u="none" cap="none" strike="noStrike">
                <a:solidFill>
                  <a:srgbClr val="787878"/>
                </a:solidFill>
                <a:latin typeface="IBM Plex Sans"/>
                <a:ea typeface="IBM Plex Sans"/>
                <a:cs typeface="IBM Plex Sans"/>
                <a:sym typeface="IBM Plex Sans"/>
              </a:rPr>
              <a:t>DEPARTMENT OF DATA SCIENCE</a:t>
            </a:r>
            <a:endParaRPr b="0" i="0" sz="1400" u="none" cap="none" strike="noStrike">
              <a:solidFill>
                <a:srgbClr val="000000"/>
              </a:solidFill>
              <a:latin typeface="IBM Plex Sans"/>
              <a:ea typeface="IBM Plex Sans"/>
              <a:cs typeface="IBM Plex Sans"/>
              <a:sym typeface="IBM Plex Sans"/>
            </a:endParaRPr>
          </a:p>
          <a:p>
            <a:pPr indent="0" lvl="0" marL="0" marR="0" rtl="0" algn="l">
              <a:lnSpc>
                <a:spcPct val="120000"/>
              </a:lnSpc>
              <a:spcBef>
                <a:spcPts val="0"/>
              </a:spcBef>
              <a:spcAft>
                <a:spcPts val="0"/>
              </a:spcAft>
              <a:buClr>
                <a:srgbClr val="000000"/>
              </a:buClr>
              <a:buSzPts val="1300"/>
              <a:buFont typeface="Arial"/>
              <a:buNone/>
            </a:pPr>
            <a:r>
              <a:rPr b="0" i="0" lang="ko" sz="1300" u="none" cap="none" strike="noStrike">
                <a:solidFill>
                  <a:srgbClr val="787878"/>
                </a:solidFill>
                <a:latin typeface="IBM Plex Sans"/>
                <a:ea typeface="IBM Plex Sans"/>
                <a:cs typeface="IBM Plex Sans"/>
                <a:sym typeface="IBM Plex Sans"/>
              </a:rPr>
              <a:t>HANYANG UNIVERSITY</a:t>
            </a:r>
            <a:endParaRPr b="0" i="0" sz="1400" u="none" cap="none" strike="noStrike">
              <a:solidFill>
                <a:srgbClr val="000000"/>
              </a:solidFill>
              <a:latin typeface="IBM Plex Sans"/>
              <a:ea typeface="IBM Plex Sans"/>
              <a:cs typeface="IBM Plex Sans"/>
              <a:sym typeface="IBM Plex Sans"/>
            </a:endParaRPr>
          </a:p>
        </p:txBody>
      </p:sp>
      <p:sp>
        <p:nvSpPr>
          <p:cNvPr id="88" name="Google Shape;88;p13"/>
          <p:cNvSpPr txBox="1"/>
          <p:nvPr/>
        </p:nvSpPr>
        <p:spPr>
          <a:xfrm>
            <a:off x="527050" y="1854150"/>
            <a:ext cx="7886700" cy="405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chemeClr val="dk1"/>
              </a:buClr>
              <a:buSzPts val="1800"/>
              <a:buFont typeface="Arial"/>
              <a:buNone/>
            </a:pPr>
            <a:r>
              <a:rPr b="1" i="0" lang="ko" sz="1800" u="none" cap="none" strike="noStrike">
                <a:solidFill>
                  <a:srgbClr val="595959"/>
                </a:solidFill>
                <a:latin typeface="IBM Plex Sans"/>
                <a:ea typeface="IBM Plex Sans"/>
                <a:cs typeface="IBM Plex Sans"/>
                <a:sym typeface="IBM Plex Sans"/>
              </a:rPr>
              <a:t>Value Evaluation Based on Hidden Intent </a:t>
            </a:r>
            <a:endParaRPr b="1" i="0" sz="1800" u="none" cap="none" strike="noStrike">
              <a:solidFill>
                <a:srgbClr val="595959"/>
              </a:solidFill>
              <a:latin typeface="IBM Plex Sans"/>
              <a:ea typeface="IBM Plex Sans"/>
              <a:cs typeface="IBM Plex Sans"/>
              <a:sym typeface="IBM Plex Sans"/>
            </a:endParaRPr>
          </a:p>
          <a:p>
            <a:pPr indent="0" lvl="0" marL="0" marR="0" rtl="0" algn="l">
              <a:lnSpc>
                <a:spcPct val="125000"/>
              </a:lnSpc>
              <a:spcBef>
                <a:spcPts val="0"/>
              </a:spcBef>
              <a:spcAft>
                <a:spcPts val="0"/>
              </a:spcAft>
              <a:buClr>
                <a:schemeClr val="dk1"/>
              </a:buClr>
              <a:buSzPts val="1800"/>
              <a:buFont typeface="Arial"/>
              <a:buNone/>
            </a:pPr>
            <a:r>
              <a:rPr b="1" i="0" lang="ko" sz="1800" u="none" cap="none" strike="noStrike">
                <a:solidFill>
                  <a:srgbClr val="595959"/>
                </a:solidFill>
                <a:latin typeface="IBM Plex Sans"/>
                <a:ea typeface="IBM Plex Sans"/>
                <a:cs typeface="IBM Plex Sans"/>
                <a:sym typeface="IBM Plex Sans"/>
              </a:rPr>
              <a:t>in Agent-Based Conversational Recommender System - 중간점검 보완</a:t>
            </a:r>
            <a:endParaRPr b="0" i="0" sz="1800" u="none" cap="none" strike="noStrike">
              <a:solidFill>
                <a:schemeClr val="dk1"/>
              </a:solidFill>
              <a:latin typeface="IBM Plex Sans"/>
              <a:ea typeface="IBM Plex Sans"/>
              <a:cs typeface="IBM Plex Sans"/>
              <a:sym typeface="IBM Plex Sans"/>
            </a:endParaRPr>
          </a:p>
          <a:p>
            <a:pPr indent="0" lvl="0" marL="0" marR="0" rtl="0" algn="l">
              <a:lnSpc>
                <a:spcPct val="125000"/>
              </a:lnSpc>
              <a:spcBef>
                <a:spcPts val="0"/>
              </a:spcBef>
              <a:spcAft>
                <a:spcPts val="0"/>
              </a:spcAft>
              <a:buClr>
                <a:srgbClr val="000000"/>
              </a:buClr>
              <a:buSzPts val="1500"/>
              <a:buFont typeface="Arial"/>
              <a:buNone/>
            </a:pPr>
            <a:r>
              <a:t/>
            </a:r>
            <a:endParaRPr b="1" i="0" sz="1800" u="none" cap="none" strike="noStrike">
              <a:solidFill>
                <a:srgbClr val="595959"/>
              </a:solidFill>
              <a:latin typeface="IBM Plex Sans"/>
              <a:ea typeface="IBM Plex Sans"/>
              <a:cs typeface="IBM Plex Sans"/>
              <a:sym typeface="IBM Plex Sans"/>
            </a:endParaRPr>
          </a:p>
        </p:txBody>
      </p:sp>
      <p:sp>
        <p:nvSpPr>
          <p:cNvPr id="89" name="Google Shape;89;p13"/>
          <p:cNvSpPr txBox="1"/>
          <p:nvPr/>
        </p:nvSpPr>
        <p:spPr>
          <a:xfrm>
            <a:off x="5694500" y="2815006"/>
            <a:ext cx="2504100" cy="3963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00000"/>
              </a:buClr>
              <a:buSzPts val="1400"/>
              <a:buFont typeface="Arial"/>
              <a:buNone/>
            </a:pPr>
            <a:r>
              <a:rPr b="1" i="0" lang="ko" sz="1400" u="none" cap="none" strike="noStrike">
                <a:solidFill>
                  <a:srgbClr val="9E9E9E"/>
                </a:solidFill>
                <a:latin typeface="Malgun Gothic"/>
                <a:ea typeface="Malgun Gothic"/>
                <a:cs typeface="Malgun Gothic"/>
                <a:sym typeface="Malgun Gothic"/>
              </a:rPr>
              <a:t>데이터사이언스 전공 김진욱</a:t>
            </a:r>
            <a:endParaRPr b="0" i="0" sz="1400" u="none" cap="none" strike="noStrike">
              <a:solidFill>
                <a:srgbClr val="000000"/>
              </a:solidFill>
              <a:latin typeface="Arial"/>
              <a:ea typeface="Arial"/>
              <a:cs typeface="Arial"/>
              <a:sym typeface="Arial"/>
            </a:endParaRPr>
          </a:p>
        </p:txBody>
      </p:sp>
      <p:sp>
        <p:nvSpPr>
          <p:cNvPr id="90" name="Google Shape;90;p13"/>
          <p:cNvSpPr txBox="1"/>
          <p:nvPr/>
        </p:nvSpPr>
        <p:spPr>
          <a:xfrm>
            <a:off x="539750" y="4838700"/>
            <a:ext cx="2746200" cy="126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IBM Plex Sans"/>
                <a:ea typeface="IBM Plex Sans"/>
                <a:cs typeface="IBM Plex Sans"/>
                <a:sym typeface="IBM Plex Sans"/>
              </a:rPr>
              <a:t>H</a:t>
            </a:r>
            <a:r>
              <a:rPr b="0" i="0" lang="ko" sz="1000" u="none" cap="none" strike="noStrike">
                <a:solidFill>
                  <a:srgbClr val="787878"/>
                </a:solidFill>
                <a:latin typeface="IBM Plex Sans"/>
                <a:ea typeface="IBM Plex Sans"/>
                <a:cs typeface="IBM Plex Sans"/>
                <a:sym typeface="IBM Plex Sans"/>
              </a:rPr>
              <a:t>anyang </a:t>
            </a:r>
            <a:r>
              <a:rPr b="0" i="0" lang="ko" sz="1000" u="none" cap="none" strike="noStrike">
                <a:solidFill>
                  <a:srgbClr val="3452F0"/>
                </a:solidFill>
                <a:latin typeface="IBM Plex Sans"/>
                <a:ea typeface="IBM Plex Sans"/>
                <a:cs typeface="IBM Plex Sans"/>
                <a:sym typeface="IBM Plex Sans"/>
              </a:rPr>
              <a:t>H</a:t>
            </a:r>
            <a:r>
              <a:rPr b="0" i="0" lang="ko" sz="1000" u="none" cap="none" strike="noStrike">
                <a:solidFill>
                  <a:srgbClr val="787878"/>
                </a:solidFill>
                <a:latin typeface="IBM Plex Sans"/>
                <a:ea typeface="IBM Plex Sans"/>
                <a:cs typeface="IBM Plex Sans"/>
                <a:sym typeface="IBM Plex Sans"/>
              </a:rPr>
              <a:t>uman </a:t>
            </a:r>
            <a:r>
              <a:rPr b="0" i="0" lang="ko" sz="1000" u="none" cap="none" strike="noStrike">
                <a:solidFill>
                  <a:srgbClr val="3452F0"/>
                </a:solidFill>
                <a:latin typeface="IBM Plex Sans"/>
                <a:ea typeface="IBM Plex Sans"/>
                <a:cs typeface="IBM Plex Sans"/>
                <a:sym typeface="IBM Plex Sans"/>
              </a:rPr>
              <a:t>C</a:t>
            </a:r>
            <a:r>
              <a:rPr b="0" i="0" lang="ko" sz="1000" u="none" cap="none" strike="noStrike">
                <a:solidFill>
                  <a:srgbClr val="787878"/>
                </a:solidFill>
                <a:latin typeface="IBM Plex Sans"/>
                <a:ea typeface="IBM Plex Sans"/>
                <a:cs typeface="IBM Plex Sans"/>
                <a:sym typeface="IBM Plex Sans"/>
              </a:rPr>
              <a:t>entered Computing </a:t>
            </a:r>
            <a:r>
              <a:rPr b="0" i="0" lang="ko" sz="1000" u="none" cap="none" strike="noStrike">
                <a:solidFill>
                  <a:srgbClr val="3452F0"/>
                </a:solidFill>
                <a:latin typeface="IBM Plex Sans"/>
                <a:ea typeface="IBM Plex Sans"/>
                <a:cs typeface="IBM Plex Sans"/>
                <a:sym typeface="IBM Plex Sans"/>
              </a:rPr>
              <a:t>L</a:t>
            </a:r>
            <a:r>
              <a:rPr b="0" i="0" lang="ko" sz="1000" u="none" cap="none" strike="noStrike">
                <a:solidFill>
                  <a:srgbClr val="787878"/>
                </a:solidFill>
                <a:latin typeface="IBM Plex Sans"/>
                <a:ea typeface="IBM Plex Sans"/>
                <a:cs typeface="IBM Plex Sans"/>
                <a:sym typeface="IBM Plex Sans"/>
              </a:rPr>
              <a:t>ab</a:t>
            </a:r>
            <a:endParaRPr b="0" i="0" sz="1400" u="none" cap="none" strike="noStrike">
              <a:solidFill>
                <a:srgbClr val="000000"/>
              </a:solidFill>
              <a:latin typeface="IBM Plex Sans"/>
              <a:ea typeface="IBM Plex Sans"/>
              <a:cs typeface="IBM Plex Sans"/>
              <a:sym typeface="IBM Plex Sans"/>
            </a:endParaRPr>
          </a:p>
        </p:txBody>
      </p:sp>
      <p:sp>
        <p:nvSpPr>
          <p:cNvPr id="91" name="Google Shape;91;p1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ko"/>
              <a:t>‹#›</a:t>
            </a:fld>
            <a:endParaRPr/>
          </a:p>
        </p:txBody>
      </p:sp>
      <p:pic>
        <p:nvPicPr>
          <p:cNvPr descr="logo.png" id="92" name="Google Shape;92;p13"/>
          <p:cNvPicPr preferRelativeResize="0"/>
          <p:nvPr/>
        </p:nvPicPr>
        <p:blipFill rotWithShape="1">
          <a:blip r:embed="rId3">
            <a:alphaModFix/>
          </a:blip>
          <a:srcRect b="0" l="0" r="0" t="0"/>
          <a:stretch/>
        </p:blipFill>
        <p:spPr>
          <a:xfrm>
            <a:off x="7734300" y="4067056"/>
            <a:ext cx="774700" cy="3898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cxnSp>
        <p:nvCxnSpPr>
          <p:cNvPr id="98" name="Google Shape;98;p14"/>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99" name="Google Shape;99;p14"/>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100" name="Google Shape;100;p14"/>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101" name="Google Shape;101;p1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ko"/>
              <a:t>‹#›</a:t>
            </a:fld>
            <a:endParaRPr/>
          </a:p>
        </p:txBody>
      </p:sp>
      <p:sp>
        <p:nvSpPr>
          <p:cNvPr id="102" name="Google Shape;102;p14"/>
          <p:cNvSpPr txBox="1"/>
          <p:nvPr/>
        </p:nvSpPr>
        <p:spPr>
          <a:xfrm>
            <a:off x="547425" y="661274"/>
            <a:ext cx="2443800" cy="33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Index</a:t>
            </a:r>
            <a:endParaRPr b="0" i="0" sz="1800" u="none" cap="none" strike="noStrike">
              <a:solidFill>
                <a:schemeClr val="dk1"/>
              </a:solidFill>
              <a:latin typeface="IBM Plex Sans KR"/>
              <a:ea typeface="IBM Plex Sans KR"/>
              <a:cs typeface="IBM Plex Sans KR"/>
              <a:sym typeface="IBM Plex Sans KR"/>
            </a:endParaRPr>
          </a:p>
        </p:txBody>
      </p:sp>
      <p:sp>
        <p:nvSpPr>
          <p:cNvPr id="103" name="Google Shape;103;p14"/>
          <p:cNvSpPr txBox="1"/>
          <p:nvPr/>
        </p:nvSpPr>
        <p:spPr>
          <a:xfrm>
            <a:off x="547425" y="1387150"/>
            <a:ext cx="8076000" cy="9570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00000"/>
              </a:lnSpc>
              <a:spcBef>
                <a:spcPts val="0"/>
              </a:spcBef>
              <a:spcAft>
                <a:spcPts val="0"/>
              </a:spcAft>
              <a:buClr>
                <a:schemeClr val="dk1"/>
              </a:buClr>
              <a:buSzPts val="1600"/>
              <a:buFont typeface="IBM Plex Sans KR"/>
              <a:buAutoNum type="arabicPeriod"/>
            </a:pPr>
            <a:r>
              <a:rPr lang="ko" sz="1600">
                <a:solidFill>
                  <a:schemeClr val="dk1"/>
                </a:solidFill>
                <a:latin typeface="IBM Plex Sans KR"/>
                <a:ea typeface="IBM Plex Sans KR"/>
                <a:cs typeface="IBM Plex Sans KR"/>
                <a:sym typeface="IBM Plex Sans KR"/>
              </a:rPr>
              <a:t>선행 조사 및  Proposal</a:t>
            </a:r>
            <a:endParaRPr sz="1600">
              <a:solidFill>
                <a:schemeClr val="dk1"/>
              </a:solidFill>
              <a:latin typeface="IBM Plex Sans KR"/>
              <a:ea typeface="IBM Plex Sans KR"/>
              <a:cs typeface="IBM Plex Sans KR"/>
              <a:sym typeface="IBM Plex Sans KR"/>
            </a:endParaRPr>
          </a:p>
          <a:p>
            <a:pPr indent="-330200" lvl="0" marL="457200" marR="0" rtl="0" algn="l">
              <a:lnSpc>
                <a:spcPct val="100000"/>
              </a:lnSpc>
              <a:spcBef>
                <a:spcPts val="0"/>
              </a:spcBef>
              <a:spcAft>
                <a:spcPts val="0"/>
              </a:spcAft>
              <a:buClr>
                <a:schemeClr val="dk1"/>
              </a:buClr>
              <a:buSzPts val="1600"/>
              <a:buFont typeface="IBM Plex Sans KR"/>
              <a:buAutoNum type="arabicPeriod"/>
            </a:pPr>
            <a:r>
              <a:rPr lang="ko" sz="1600">
                <a:solidFill>
                  <a:schemeClr val="dk1"/>
                </a:solidFill>
                <a:latin typeface="IBM Plex Sans KR"/>
                <a:ea typeface="IBM Plex Sans KR"/>
                <a:cs typeface="IBM Plex Sans KR"/>
                <a:sym typeface="IBM Plex Sans KR"/>
              </a:rPr>
              <a:t>중간 점검 및 개선 방향 검토 </a:t>
            </a:r>
            <a:endParaRPr sz="1600">
              <a:solidFill>
                <a:schemeClr val="dk1"/>
              </a:solidFill>
              <a:latin typeface="IBM Plex Sans KR"/>
              <a:ea typeface="IBM Plex Sans KR"/>
              <a:cs typeface="IBM Plex Sans KR"/>
              <a:sym typeface="IBM Plex Sans KR"/>
            </a:endParaRPr>
          </a:p>
          <a:p>
            <a:pPr indent="-330200" lvl="0" marL="457200" marR="0" rtl="0" algn="l">
              <a:lnSpc>
                <a:spcPct val="100000"/>
              </a:lnSpc>
              <a:spcBef>
                <a:spcPts val="0"/>
              </a:spcBef>
              <a:spcAft>
                <a:spcPts val="0"/>
              </a:spcAft>
              <a:buClr>
                <a:schemeClr val="dk1"/>
              </a:buClr>
              <a:buSzPts val="1600"/>
              <a:buFont typeface="IBM Plex Sans KR"/>
              <a:buAutoNum type="arabicPeriod"/>
            </a:pPr>
            <a:r>
              <a:rPr lang="ko" sz="1600">
                <a:solidFill>
                  <a:schemeClr val="dk1"/>
                </a:solidFill>
                <a:latin typeface="IBM Plex Sans KR"/>
                <a:ea typeface="IBM Plex Sans KR"/>
                <a:cs typeface="IBM Plex Sans KR"/>
                <a:sym typeface="IBM Plex Sans KR"/>
              </a:rPr>
              <a:t>개선된 연구 내용 - 사용자 요구 변화를 추적하는 다중 턴 쇼핑 에이전트</a:t>
            </a:r>
            <a:endParaRPr sz="1600">
              <a:solidFill>
                <a:schemeClr val="dk1"/>
              </a:solidFill>
              <a:latin typeface="IBM Plex Sans KR"/>
              <a:ea typeface="IBM Plex Sans KR"/>
              <a:cs typeface="IBM Plex Sans KR"/>
              <a:sym typeface="IBM Plex Sans KR"/>
            </a:endParaRPr>
          </a:p>
        </p:txBody>
      </p:sp>
      <p:pic>
        <p:nvPicPr>
          <p:cNvPr descr="logo.png" id="104" name="Google Shape;104;p14"/>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cxnSp>
        <p:nvCxnSpPr>
          <p:cNvPr id="110" name="Google Shape;110;p15"/>
          <p:cNvCxnSpPr/>
          <p:nvPr/>
        </p:nvCxnSpPr>
        <p:spPr>
          <a:xfrm>
            <a:off x="508000" y="4191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111" name="Google Shape;111;p15"/>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112" name="Google Shape;112;p15"/>
          <p:cNvSpPr txBox="1"/>
          <p:nvPr/>
        </p:nvSpPr>
        <p:spPr>
          <a:xfrm>
            <a:off x="527050" y="596900"/>
            <a:ext cx="2710800" cy="396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1300"/>
              <a:buFont typeface="Arial"/>
              <a:buNone/>
            </a:pPr>
            <a:r>
              <a:rPr b="0" i="0" lang="ko" sz="1300" u="none" cap="none" strike="noStrike">
                <a:solidFill>
                  <a:srgbClr val="787878"/>
                </a:solidFill>
                <a:latin typeface="IBM Plex Sans"/>
                <a:ea typeface="IBM Plex Sans"/>
                <a:cs typeface="IBM Plex Sans"/>
                <a:sym typeface="IBM Plex Sans"/>
              </a:rPr>
              <a:t>DEPARTMENT OF DATA SCIENCE</a:t>
            </a:r>
            <a:endParaRPr b="0" i="0" sz="1400" u="none" cap="none" strike="noStrike">
              <a:solidFill>
                <a:srgbClr val="000000"/>
              </a:solidFill>
              <a:latin typeface="IBM Plex Sans"/>
              <a:ea typeface="IBM Plex Sans"/>
              <a:cs typeface="IBM Plex Sans"/>
              <a:sym typeface="IBM Plex Sans"/>
            </a:endParaRPr>
          </a:p>
          <a:p>
            <a:pPr indent="0" lvl="0" marL="0" marR="0" rtl="0" algn="l">
              <a:lnSpc>
                <a:spcPct val="120000"/>
              </a:lnSpc>
              <a:spcBef>
                <a:spcPts val="0"/>
              </a:spcBef>
              <a:spcAft>
                <a:spcPts val="0"/>
              </a:spcAft>
              <a:buClr>
                <a:srgbClr val="000000"/>
              </a:buClr>
              <a:buSzPts val="1300"/>
              <a:buFont typeface="Arial"/>
              <a:buNone/>
            </a:pPr>
            <a:r>
              <a:rPr b="0" i="0" lang="ko" sz="1300" u="none" cap="none" strike="noStrike">
                <a:solidFill>
                  <a:srgbClr val="787878"/>
                </a:solidFill>
                <a:latin typeface="IBM Plex Sans"/>
                <a:ea typeface="IBM Plex Sans"/>
                <a:cs typeface="IBM Plex Sans"/>
                <a:sym typeface="IBM Plex Sans"/>
              </a:rPr>
              <a:t>HANYANG UNIVERSITY</a:t>
            </a:r>
            <a:endParaRPr b="0" i="0" sz="1400" u="none" cap="none" strike="noStrike">
              <a:solidFill>
                <a:srgbClr val="000000"/>
              </a:solidFill>
              <a:latin typeface="IBM Plex Sans"/>
              <a:ea typeface="IBM Plex Sans"/>
              <a:cs typeface="IBM Plex Sans"/>
              <a:sym typeface="IBM Plex Sans"/>
            </a:endParaRPr>
          </a:p>
        </p:txBody>
      </p:sp>
      <p:sp>
        <p:nvSpPr>
          <p:cNvPr id="113" name="Google Shape;113;p15"/>
          <p:cNvSpPr txBox="1"/>
          <p:nvPr/>
        </p:nvSpPr>
        <p:spPr>
          <a:xfrm>
            <a:off x="527050" y="1854150"/>
            <a:ext cx="7886700" cy="405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500"/>
              <a:buFont typeface="Arial"/>
              <a:buNone/>
            </a:pPr>
            <a:r>
              <a:rPr b="1" lang="ko" sz="1800">
                <a:solidFill>
                  <a:srgbClr val="595959"/>
                </a:solidFill>
                <a:latin typeface="IBM Plex Sans"/>
                <a:ea typeface="IBM Plex Sans"/>
                <a:cs typeface="IBM Plex Sans"/>
                <a:sym typeface="IBM Plex Sans"/>
              </a:rPr>
              <a:t>선행 조사 및 Proposal</a:t>
            </a:r>
            <a:endParaRPr b="1" i="0" sz="1800" u="none" cap="none" strike="noStrike">
              <a:solidFill>
                <a:srgbClr val="595959"/>
              </a:solidFill>
              <a:latin typeface="IBM Plex Sans"/>
              <a:ea typeface="IBM Plex Sans"/>
              <a:cs typeface="IBM Plex Sans"/>
              <a:sym typeface="IBM Plex Sans"/>
            </a:endParaRPr>
          </a:p>
        </p:txBody>
      </p:sp>
      <p:sp>
        <p:nvSpPr>
          <p:cNvPr id="114" name="Google Shape;114;p15"/>
          <p:cNvSpPr txBox="1"/>
          <p:nvPr/>
        </p:nvSpPr>
        <p:spPr>
          <a:xfrm>
            <a:off x="539750" y="4838700"/>
            <a:ext cx="2746200" cy="126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IBM Plex Sans"/>
                <a:ea typeface="IBM Plex Sans"/>
                <a:cs typeface="IBM Plex Sans"/>
                <a:sym typeface="IBM Plex Sans"/>
              </a:rPr>
              <a:t>H</a:t>
            </a:r>
            <a:r>
              <a:rPr b="0" i="0" lang="ko" sz="1000" u="none" cap="none" strike="noStrike">
                <a:solidFill>
                  <a:srgbClr val="787878"/>
                </a:solidFill>
                <a:latin typeface="IBM Plex Sans"/>
                <a:ea typeface="IBM Plex Sans"/>
                <a:cs typeface="IBM Plex Sans"/>
                <a:sym typeface="IBM Plex Sans"/>
              </a:rPr>
              <a:t>anyang </a:t>
            </a:r>
            <a:r>
              <a:rPr b="0" i="0" lang="ko" sz="1000" u="none" cap="none" strike="noStrike">
                <a:solidFill>
                  <a:srgbClr val="3452F0"/>
                </a:solidFill>
                <a:latin typeface="IBM Plex Sans"/>
                <a:ea typeface="IBM Plex Sans"/>
                <a:cs typeface="IBM Plex Sans"/>
                <a:sym typeface="IBM Plex Sans"/>
              </a:rPr>
              <a:t>H</a:t>
            </a:r>
            <a:r>
              <a:rPr b="0" i="0" lang="ko" sz="1000" u="none" cap="none" strike="noStrike">
                <a:solidFill>
                  <a:srgbClr val="787878"/>
                </a:solidFill>
                <a:latin typeface="IBM Plex Sans"/>
                <a:ea typeface="IBM Plex Sans"/>
                <a:cs typeface="IBM Plex Sans"/>
                <a:sym typeface="IBM Plex Sans"/>
              </a:rPr>
              <a:t>uman </a:t>
            </a:r>
            <a:r>
              <a:rPr b="0" i="0" lang="ko" sz="1000" u="none" cap="none" strike="noStrike">
                <a:solidFill>
                  <a:srgbClr val="3452F0"/>
                </a:solidFill>
                <a:latin typeface="IBM Plex Sans"/>
                <a:ea typeface="IBM Plex Sans"/>
                <a:cs typeface="IBM Plex Sans"/>
                <a:sym typeface="IBM Plex Sans"/>
              </a:rPr>
              <a:t>C</a:t>
            </a:r>
            <a:r>
              <a:rPr b="0" i="0" lang="ko" sz="1000" u="none" cap="none" strike="noStrike">
                <a:solidFill>
                  <a:srgbClr val="787878"/>
                </a:solidFill>
                <a:latin typeface="IBM Plex Sans"/>
                <a:ea typeface="IBM Plex Sans"/>
                <a:cs typeface="IBM Plex Sans"/>
                <a:sym typeface="IBM Plex Sans"/>
              </a:rPr>
              <a:t>entered Computing </a:t>
            </a:r>
            <a:r>
              <a:rPr b="0" i="0" lang="ko" sz="1000" u="none" cap="none" strike="noStrike">
                <a:solidFill>
                  <a:srgbClr val="3452F0"/>
                </a:solidFill>
                <a:latin typeface="IBM Plex Sans"/>
                <a:ea typeface="IBM Plex Sans"/>
                <a:cs typeface="IBM Plex Sans"/>
                <a:sym typeface="IBM Plex Sans"/>
              </a:rPr>
              <a:t>L</a:t>
            </a:r>
            <a:r>
              <a:rPr b="0" i="0" lang="ko" sz="1000" u="none" cap="none" strike="noStrike">
                <a:solidFill>
                  <a:srgbClr val="787878"/>
                </a:solidFill>
                <a:latin typeface="IBM Plex Sans"/>
                <a:ea typeface="IBM Plex Sans"/>
                <a:cs typeface="IBM Plex Sans"/>
                <a:sym typeface="IBM Plex Sans"/>
              </a:rPr>
              <a:t>ab</a:t>
            </a:r>
            <a:endParaRPr b="0" i="0" sz="1400" u="none" cap="none" strike="noStrike">
              <a:solidFill>
                <a:srgbClr val="000000"/>
              </a:solidFill>
              <a:latin typeface="IBM Plex Sans"/>
              <a:ea typeface="IBM Plex Sans"/>
              <a:cs typeface="IBM Plex Sans"/>
              <a:sym typeface="IBM Plex Sans"/>
            </a:endParaRPr>
          </a:p>
        </p:txBody>
      </p:sp>
      <p:sp>
        <p:nvSpPr>
          <p:cNvPr id="115" name="Google Shape;115;p1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ko"/>
              <a:t>‹#›</a:t>
            </a:fld>
            <a:endParaRPr/>
          </a:p>
        </p:txBody>
      </p:sp>
      <p:pic>
        <p:nvPicPr>
          <p:cNvPr descr="logo.png" id="116" name="Google Shape;116;p15"/>
          <p:cNvPicPr preferRelativeResize="0"/>
          <p:nvPr/>
        </p:nvPicPr>
        <p:blipFill rotWithShape="1">
          <a:blip r:embed="rId3">
            <a:alphaModFix/>
          </a:blip>
          <a:srcRect b="0" l="0" r="0" t="0"/>
          <a:stretch/>
        </p:blipFill>
        <p:spPr>
          <a:xfrm>
            <a:off x="7734300" y="4067056"/>
            <a:ext cx="774700" cy="38989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cxnSp>
        <p:nvCxnSpPr>
          <p:cNvPr id="122" name="Google Shape;122;p16"/>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39"/>
              </a:srgbClr>
            </a:outerShdw>
          </a:effectLst>
        </p:spPr>
      </p:cxnSp>
      <p:cxnSp>
        <p:nvCxnSpPr>
          <p:cNvPr id="123" name="Google Shape;123;p16"/>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39"/>
              </a:srgbClr>
            </a:outerShdw>
          </a:effectLst>
        </p:spPr>
      </p:cxnSp>
      <p:sp>
        <p:nvSpPr>
          <p:cNvPr id="124" name="Google Shape;124;p16"/>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125" name="Google Shape;125;p1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ko"/>
              <a:t>‹#›</a:t>
            </a:fld>
            <a:endParaRPr/>
          </a:p>
        </p:txBody>
      </p:sp>
      <p:sp>
        <p:nvSpPr>
          <p:cNvPr id="126" name="Google Shape;126;p16"/>
          <p:cNvSpPr txBox="1"/>
          <p:nvPr/>
        </p:nvSpPr>
        <p:spPr>
          <a:xfrm>
            <a:off x="547425" y="661274"/>
            <a:ext cx="2443800" cy="33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ko" sz="1800" u="none" cap="none" strike="noStrike">
                <a:solidFill>
                  <a:schemeClr val="dk1"/>
                </a:solidFill>
                <a:latin typeface="IBM Plex Sans KR"/>
                <a:ea typeface="IBM Plex Sans KR"/>
                <a:cs typeface="IBM Plex Sans KR"/>
                <a:sym typeface="IBM Plex Sans KR"/>
              </a:rPr>
              <a:t>선행연구의 한계</a:t>
            </a:r>
            <a:endParaRPr b="0" i="0" sz="1800" u="none" cap="none" strike="noStrike">
              <a:solidFill>
                <a:schemeClr val="dk1"/>
              </a:solidFill>
              <a:latin typeface="IBM Plex Sans KR"/>
              <a:ea typeface="IBM Plex Sans KR"/>
              <a:cs typeface="IBM Plex Sans KR"/>
              <a:sym typeface="IBM Plex Sans KR"/>
            </a:endParaRPr>
          </a:p>
        </p:txBody>
      </p:sp>
      <p:sp>
        <p:nvSpPr>
          <p:cNvPr id="127" name="Google Shape;127;p16"/>
          <p:cNvSpPr txBox="1"/>
          <p:nvPr/>
        </p:nvSpPr>
        <p:spPr>
          <a:xfrm>
            <a:off x="547425" y="1229771"/>
            <a:ext cx="8076000" cy="1742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a:p>
            <a:pPr indent="-304800" lvl="0" marL="457200" marR="0" rtl="0" algn="l">
              <a:lnSpc>
                <a:spcPct val="100000"/>
              </a:lnSpc>
              <a:spcBef>
                <a:spcPts val="0"/>
              </a:spcBef>
              <a:spcAft>
                <a:spcPts val="0"/>
              </a:spcAft>
              <a:buClr>
                <a:schemeClr val="dk1"/>
              </a:buClr>
              <a:buSzPts val="1200"/>
              <a:buFont typeface="Calibri"/>
              <a:buChar char="-"/>
            </a:pPr>
            <a:r>
              <a:rPr b="0" i="0" lang="ko" sz="1200" u="none" cap="none" strike="noStrike">
                <a:solidFill>
                  <a:schemeClr val="dk1"/>
                </a:solidFill>
                <a:latin typeface="Calibri"/>
                <a:ea typeface="Calibri"/>
                <a:cs typeface="Calibri"/>
                <a:sym typeface="Calibri"/>
              </a:rPr>
              <a:t>추천 시스템은 사용자 프로필과 과거 상호작용을 기반으로 선호와 의도를 추론하고,  </a:t>
            </a:r>
            <a:endParaRPr b="0" i="0" sz="12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200"/>
              <a:buFont typeface="Arial"/>
              <a:buNone/>
            </a:pPr>
            <a:r>
              <a:rPr b="0" i="0" lang="ko" sz="1200" u="none" cap="none" strike="noStrike">
                <a:solidFill>
                  <a:schemeClr val="dk1"/>
                </a:solidFill>
                <a:latin typeface="Calibri"/>
                <a:ea typeface="Calibri"/>
                <a:cs typeface="Calibri"/>
                <a:sym typeface="Calibri"/>
              </a:rPr>
              <a:t>이를 후보 검색과 순위화에 활용해 추천 정확도를 높여 왔다.</a:t>
            </a:r>
            <a:endParaRPr b="0" i="0" sz="12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a:p>
            <a:pPr indent="-304800" lvl="0" marL="457200" marR="0" rtl="0" algn="l">
              <a:lnSpc>
                <a:spcPct val="100000"/>
              </a:lnSpc>
              <a:spcBef>
                <a:spcPts val="0"/>
              </a:spcBef>
              <a:spcAft>
                <a:spcPts val="0"/>
              </a:spcAft>
              <a:buClr>
                <a:schemeClr val="dk1"/>
              </a:buClr>
              <a:buSzPts val="1200"/>
              <a:buFont typeface="Calibri"/>
              <a:buChar char="-"/>
            </a:pPr>
            <a:r>
              <a:rPr b="0" i="0" lang="ko" sz="1200" u="none" cap="none" strike="noStrike">
                <a:solidFill>
                  <a:schemeClr val="dk1"/>
                </a:solidFill>
                <a:latin typeface="Calibri"/>
                <a:ea typeface="Calibri"/>
                <a:cs typeface="Calibri"/>
                <a:sym typeface="Calibri"/>
              </a:rPr>
              <a:t>고정된 데이터에서 다음 아이템을 예측하는 방식은 실제 쇼핑 과정에서 변화하는  요구, 상품 거절 이유, </a:t>
            </a:r>
            <a:endParaRPr b="0" i="0" sz="12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None/>
            </a:pPr>
            <a:r>
              <a:rPr b="0" i="0" lang="ko" sz="1200" u="none" cap="none" strike="noStrike">
                <a:solidFill>
                  <a:schemeClr val="dk1"/>
                </a:solidFill>
                <a:latin typeface="Calibri"/>
                <a:ea typeface="Calibri"/>
                <a:cs typeface="Calibri"/>
                <a:sym typeface="Calibri"/>
              </a:rPr>
              <a:t>재고·가격·배송과 같은 현재 정보, 그리고 여러 턴의 대화 맥락을 충분히 반영하기 어렵다.</a:t>
            </a:r>
            <a:endParaRPr b="0" i="0" sz="1200" u="none" cap="none" strike="noStrike">
              <a:solidFill>
                <a:schemeClr val="dk1"/>
              </a:solidFill>
              <a:latin typeface="Calibri"/>
              <a:ea typeface="Calibri"/>
              <a:cs typeface="Calibri"/>
              <a:sym typeface="Calibri"/>
            </a:endParaRPr>
          </a:p>
        </p:txBody>
      </p:sp>
      <p:pic>
        <p:nvPicPr>
          <p:cNvPr descr="logo.png" id="128" name="Google Shape;128;p16"/>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cxnSp>
        <p:nvCxnSpPr>
          <p:cNvPr id="134" name="Google Shape;134;p17"/>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39"/>
              </a:srgbClr>
            </a:outerShdw>
          </a:effectLst>
        </p:spPr>
      </p:cxnSp>
      <p:cxnSp>
        <p:nvCxnSpPr>
          <p:cNvPr id="135" name="Google Shape;135;p17"/>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39"/>
              </a:srgbClr>
            </a:outerShdw>
          </a:effectLst>
        </p:spPr>
      </p:cxnSp>
      <p:sp>
        <p:nvSpPr>
          <p:cNvPr id="136" name="Google Shape;136;p17"/>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137" name="Google Shape;137;p1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ko"/>
              <a:t>‹#›</a:t>
            </a:fld>
            <a:endParaRPr/>
          </a:p>
        </p:txBody>
      </p:sp>
      <p:sp>
        <p:nvSpPr>
          <p:cNvPr id="138" name="Google Shape;138;p17"/>
          <p:cNvSpPr txBox="1"/>
          <p:nvPr/>
        </p:nvSpPr>
        <p:spPr>
          <a:xfrm>
            <a:off x="547425" y="661274"/>
            <a:ext cx="2443800" cy="33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ko" sz="1800" u="none" cap="none" strike="noStrike">
                <a:solidFill>
                  <a:schemeClr val="dk1"/>
                </a:solidFill>
                <a:latin typeface="IBM Plex Sans KR"/>
                <a:ea typeface="IBM Plex Sans KR"/>
                <a:cs typeface="IBM Plex Sans KR"/>
                <a:sym typeface="IBM Plex Sans KR"/>
              </a:rPr>
              <a:t>Agent N 사용후기</a:t>
            </a:r>
            <a:endParaRPr b="0" i="0" sz="1800" u="none" cap="none" strike="noStrike">
              <a:solidFill>
                <a:schemeClr val="dk1"/>
              </a:solidFill>
              <a:latin typeface="IBM Plex Sans KR"/>
              <a:ea typeface="IBM Plex Sans KR"/>
              <a:cs typeface="IBM Plex Sans KR"/>
              <a:sym typeface="IBM Plex Sans KR"/>
            </a:endParaRPr>
          </a:p>
        </p:txBody>
      </p:sp>
      <p:sp>
        <p:nvSpPr>
          <p:cNvPr id="139" name="Google Shape;139;p17"/>
          <p:cNvSpPr txBox="1"/>
          <p:nvPr/>
        </p:nvSpPr>
        <p:spPr>
          <a:xfrm>
            <a:off x="547425" y="1261132"/>
            <a:ext cx="8076000" cy="2326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a:p>
            <a:pPr indent="-304800" lvl="0" marL="457200" marR="0" rtl="0" algn="l">
              <a:lnSpc>
                <a:spcPct val="100000"/>
              </a:lnSpc>
              <a:spcBef>
                <a:spcPts val="0"/>
              </a:spcBef>
              <a:spcAft>
                <a:spcPts val="0"/>
              </a:spcAft>
              <a:buClr>
                <a:schemeClr val="dk1"/>
              </a:buClr>
              <a:buSzPts val="1200"/>
              <a:buFont typeface="Calibri"/>
              <a:buChar char="●"/>
            </a:pPr>
            <a:r>
              <a:rPr b="0" i="0" lang="ko" sz="1200" u="none" cap="none" strike="noStrike">
                <a:solidFill>
                  <a:schemeClr val="dk1"/>
                </a:solidFill>
                <a:latin typeface="Calibri"/>
                <a:ea typeface="Calibri"/>
                <a:cs typeface="Calibri"/>
                <a:sym typeface="Calibri"/>
              </a:rPr>
              <a:t>장점:</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a:p>
            <a:pPr indent="-304800" lvl="0" marL="457200" marR="0" rtl="0" algn="l">
              <a:lnSpc>
                <a:spcPct val="100000"/>
              </a:lnSpc>
              <a:spcBef>
                <a:spcPts val="0"/>
              </a:spcBef>
              <a:spcAft>
                <a:spcPts val="0"/>
              </a:spcAft>
              <a:buClr>
                <a:schemeClr val="dk1"/>
              </a:buClr>
              <a:buSzPts val="1200"/>
              <a:buFont typeface="Calibri"/>
              <a:buChar char="-"/>
            </a:pPr>
            <a:r>
              <a:rPr b="0" i="0" lang="ko" sz="1200" u="none" cap="none" strike="noStrike">
                <a:solidFill>
                  <a:schemeClr val="dk1"/>
                </a:solidFill>
                <a:latin typeface="Calibri"/>
                <a:ea typeface="Calibri"/>
                <a:cs typeface="Calibri"/>
                <a:sym typeface="Calibri"/>
              </a:rPr>
              <a:t>제품군을 유형별로 나눠서 제시하여, 유형별 차이를 인식하기 좋다.</a:t>
            </a:r>
            <a:endParaRPr b="0" i="0" sz="1200" u="none" cap="none" strike="noStrike">
              <a:solidFill>
                <a:schemeClr val="dk1"/>
              </a:solidFill>
              <a:latin typeface="Calibri"/>
              <a:ea typeface="Calibri"/>
              <a:cs typeface="Calibri"/>
              <a:sym typeface="Calibri"/>
            </a:endParaRPr>
          </a:p>
          <a:p>
            <a:pPr indent="-304800" lvl="0" marL="457200" marR="0" rtl="0" algn="l">
              <a:lnSpc>
                <a:spcPct val="100000"/>
              </a:lnSpc>
              <a:spcBef>
                <a:spcPts val="0"/>
              </a:spcBef>
              <a:spcAft>
                <a:spcPts val="0"/>
              </a:spcAft>
              <a:buClr>
                <a:schemeClr val="dk1"/>
              </a:buClr>
              <a:buSzPts val="1200"/>
              <a:buFont typeface="Calibri"/>
              <a:buChar char="-"/>
            </a:pPr>
            <a:r>
              <a:rPr b="0" i="0" lang="ko" sz="1200" u="none" cap="none" strike="noStrike">
                <a:solidFill>
                  <a:schemeClr val="dk1"/>
                </a:solidFill>
                <a:latin typeface="Calibri"/>
                <a:ea typeface="Calibri"/>
                <a:cs typeface="Calibri"/>
                <a:sym typeface="Calibri"/>
              </a:rPr>
              <a:t>대화 맥락이 유지됨.</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a:p>
            <a:pPr indent="-304800" lvl="0" marL="457200" marR="0" rtl="0" algn="l">
              <a:lnSpc>
                <a:spcPct val="100000"/>
              </a:lnSpc>
              <a:spcBef>
                <a:spcPts val="0"/>
              </a:spcBef>
              <a:spcAft>
                <a:spcPts val="0"/>
              </a:spcAft>
              <a:buClr>
                <a:schemeClr val="dk1"/>
              </a:buClr>
              <a:buSzPts val="1200"/>
              <a:buFont typeface="Calibri"/>
              <a:buChar char="●"/>
            </a:pPr>
            <a:r>
              <a:rPr b="0" i="0" lang="ko" sz="1200" u="none" cap="none" strike="noStrike">
                <a:solidFill>
                  <a:schemeClr val="dk1"/>
                </a:solidFill>
                <a:latin typeface="Calibri"/>
                <a:ea typeface="Calibri"/>
                <a:cs typeface="Calibri"/>
                <a:sym typeface="Calibri"/>
              </a:rPr>
              <a:t>단점:</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a:p>
            <a:pPr indent="-304800" lvl="0" marL="457200" marR="0" rtl="0" algn="l">
              <a:lnSpc>
                <a:spcPct val="100000"/>
              </a:lnSpc>
              <a:spcBef>
                <a:spcPts val="0"/>
              </a:spcBef>
              <a:spcAft>
                <a:spcPts val="0"/>
              </a:spcAft>
              <a:buClr>
                <a:schemeClr val="dk1"/>
              </a:buClr>
              <a:buSzPts val="1200"/>
              <a:buFont typeface="Calibri"/>
              <a:buChar char="-"/>
            </a:pPr>
            <a:r>
              <a:rPr b="0" i="0" lang="ko" sz="1200" u="none" cap="none" strike="noStrike">
                <a:solidFill>
                  <a:schemeClr val="dk1"/>
                </a:solidFill>
                <a:latin typeface="Calibri"/>
                <a:ea typeface="Calibri"/>
                <a:cs typeface="Calibri"/>
                <a:sym typeface="Calibri"/>
              </a:rPr>
              <a:t>대화 맥락이 누적되어도 추천 아이템의 범위가 좁혀지지 않아서, 소비자가 의사결정 과정에서 느끼는 피로감을 해소 X</a:t>
            </a:r>
            <a:endParaRPr b="0" i="0" sz="1200" u="none" cap="none" strike="noStrike">
              <a:solidFill>
                <a:schemeClr val="dk1"/>
              </a:solidFill>
              <a:latin typeface="Calibri"/>
              <a:ea typeface="Calibri"/>
              <a:cs typeface="Calibri"/>
              <a:sym typeface="Calibri"/>
            </a:endParaRPr>
          </a:p>
          <a:p>
            <a:pPr indent="-304800" lvl="0" marL="457200" marR="0" rtl="0" algn="l">
              <a:lnSpc>
                <a:spcPct val="100000"/>
              </a:lnSpc>
              <a:spcBef>
                <a:spcPts val="0"/>
              </a:spcBef>
              <a:spcAft>
                <a:spcPts val="0"/>
              </a:spcAft>
              <a:buClr>
                <a:schemeClr val="dk1"/>
              </a:buClr>
              <a:buSzPts val="1200"/>
              <a:buFont typeface="Calibri"/>
              <a:buChar char="-"/>
            </a:pPr>
            <a:r>
              <a:rPr b="0" i="0" lang="ko" sz="1200" u="none" cap="none" strike="noStrike">
                <a:solidFill>
                  <a:schemeClr val="dk1"/>
                </a:solidFill>
                <a:latin typeface="Calibri"/>
                <a:ea typeface="Calibri"/>
                <a:cs typeface="Calibri"/>
                <a:sym typeface="Calibri"/>
              </a:rPr>
              <a:t>테블릿 구매 에피소드에서 잘못된 상품(테블릿 케이스) 추천</a:t>
            </a:r>
            <a:endParaRPr b="0" i="0" sz="1200" u="none" cap="none" strike="noStrike">
              <a:solidFill>
                <a:schemeClr val="dk1"/>
              </a:solidFill>
              <a:latin typeface="Calibri"/>
              <a:ea typeface="Calibri"/>
              <a:cs typeface="Calibri"/>
              <a:sym typeface="Calibri"/>
            </a:endParaRPr>
          </a:p>
          <a:p>
            <a:pPr indent="-304800" lvl="0" marL="457200" marR="0" rtl="0" algn="l">
              <a:lnSpc>
                <a:spcPct val="100000"/>
              </a:lnSpc>
              <a:spcBef>
                <a:spcPts val="0"/>
              </a:spcBef>
              <a:spcAft>
                <a:spcPts val="0"/>
              </a:spcAft>
              <a:buClr>
                <a:schemeClr val="dk1"/>
              </a:buClr>
              <a:buSzPts val="1200"/>
              <a:buFont typeface="Calibri"/>
              <a:buChar char="-"/>
            </a:pPr>
            <a:r>
              <a:rPr b="0" i="0" lang="ko" sz="1200" u="none" cap="none" strike="noStrike">
                <a:solidFill>
                  <a:schemeClr val="dk1"/>
                </a:solidFill>
                <a:latin typeface="Calibri"/>
                <a:ea typeface="Calibri"/>
                <a:cs typeface="Calibri"/>
                <a:sym typeface="Calibri"/>
              </a:rPr>
              <a:t>나이, 성별에 의존하여 추천 상품을 지나치게 일반화</a:t>
            </a:r>
            <a:endParaRPr b="0" i="0" sz="1200" u="none" cap="none" strike="noStrike">
              <a:solidFill>
                <a:schemeClr val="dk1"/>
              </a:solidFill>
              <a:latin typeface="Calibri"/>
              <a:ea typeface="Calibri"/>
              <a:cs typeface="Calibri"/>
              <a:sym typeface="Calibri"/>
            </a:endParaRPr>
          </a:p>
          <a:p>
            <a:pPr indent="-304800" lvl="0" marL="457200" marR="0" rtl="0" algn="l">
              <a:lnSpc>
                <a:spcPct val="100000"/>
              </a:lnSpc>
              <a:spcBef>
                <a:spcPts val="0"/>
              </a:spcBef>
              <a:spcAft>
                <a:spcPts val="0"/>
              </a:spcAft>
              <a:buClr>
                <a:schemeClr val="dk1"/>
              </a:buClr>
              <a:buSzPts val="1200"/>
              <a:buFont typeface="Calibri"/>
              <a:buChar char="-"/>
            </a:pPr>
            <a:r>
              <a:rPr b="0" i="0" lang="ko" sz="1200" u="none" cap="none" strike="noStrike">
                <a:solidFill>
                  <a:schemeClr val="dk1"/>
                </a:solidFill>
                <a:latin typeface="Calibri"/>
                <a:ea typeface="Calibri"/>
                <a:cs typeface="Calibri"/>
                <a:sym typeface="Calibri"/>
              </a:rPr>
              <a:t>구매 시 고려해야 하는 요소들간의 우선순위를 고려하지 않음.</a:t>
            </a:r>
            <a:endParaRPr b="0" i="0" sz="1200" u="none" cap="none" strike="noStrike">
              <a:solidFill>
                <a:schemeClr val="dk1"/>
              </a:solidFill>
              <a:latin typeface="Calibri"/>
              <a:ea typeface="Calibri"/>
              <a:cs typeface="Calibri"/>
              <a:sym typeface="Calibri"/>
            </a:endParaRPr>
          </a:p>
        </p:txBody>
      </p:sp>
      <p:pic>
        <p:nvPicPr>
          <p:cNvPr descr="logo.png" id="140" name="Google Shape;140;p17"/>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cxnSp>
        <p:nvCxnSpPr>
          <p:cNvPr id="146" name="Google Shape;146;p18"/>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39"/>
              </a:srgbClr>
            </a:outerShdw>
          </a:effectLst>
        </p:spPr>
      </p:cxnSp>
      <p:cxnSp>
        <p:nvCxnSpPr>
          <p:cNvPr id="147" name="Google Shape;147;p18"/>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39"/>
              </a:srgbClr>
            </a:outerShdw>
          </a:effectLst>
        </p:spPr>
      </p:cxnSp>
      <p:sp>
        <p:nvSpPr>
          <p:cNvPr id="148" name="Google Shape;148;p18"/>
          <p:cNvSpPr txBox="1"/>
          <p:nvPr/>
        </p:nvSpPr>
        <p:spPr>
          <a:xfrm>
            <a:off x="508000" y="721139"/>
            <a:ext cx="3271500" cy="262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800"/>
              <a:buFont typeface="Arial"/>
              <a:buNone/>
            </a:pPr>
            <a:r>
              <a:rPr b="0" i="0" lang="ko" sz="1800" u="none" cap="none" strike="noStrike">
                <a:solidFill>
                  <a:srgbClr val="000000"/>
                </a:solidFill>
                <a:latin typeface="IBM Plex Sans KR"/>
                <a:ea typeface="IBM Plex Sans KR"/>
                <a:cs typeface="IBM Plex Sans KR"/>
                <a:sym typeface="IBM Plex Sans KR"/>
              </a:rPr>
              <a:t>Proposal</a:t>
            </a:r>
            <a:endParaRPr b="0" i="0" sz="1400" u="none" cap="none" strike="noStrike">
              <a:solidFill>
                <a:srgbClr val="000000"/>
              </a:solidFill>
              <a:latin typeface="IBM Plex Sans KR"/>
              <a:ea typeface="IBM Plex Sans KR"/>
              <a:cs typeface="IBM Plex Sans KR"/>
              <a:sym typeface="IBM Plex Sans KR"/>
            </a:endParaRPr>
          </a:p>
        </p:txBody>
      </p:sp>
      <p:sp>
        <p:nvSpPr>
          <p:cNvPr id="149" name="Google Shape;149;p18"/>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150" name="Google Shape;150;p18"/>
          <p:cNvSpPr txBox="1"/>
          <p:nvPr/>
        </p:nvSpPr>
        <p:spPr>
          <a:xfrm>
            <a:off x="505025" y="1239904"/>
            <a:ext cx="8274900" cy="26547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chemeClr val="dk1"/>
              </a:buClr>
              <a:buSzPts val="1100"/>
              <a:buFont typeface="IBM Plex Sans KR"/>
              <a:buChar char="●"/>
            </a:pPr>
            <a:r>
              <a:rPr b="0" i="0" lang="ko" sz="1100" u="none" cap="none" strike="noStrike">
                <a:solidFill>
                  <a:schemeClr val="dk1"/>
                </a:solidFill>
                <a:latin typeface="IBM Plex Sans KR"/>
                <a:ea typeface="IBM Plex Sans KR"/>
                <a:cs typeface="IBM Plex Sans KR"/>
                <a:sym typeface="IBM Plex Sans KR"/>
              </a:rPr>
              <a:t>쇼핑 에이전트:</a:t>
            </a:r>
            <a:endParaRPr b="0" i="0" sz="1100" u="none" cap="none" strike="noStrike">
              <a:solidFill>
                <a:schemeClr val="dk1"/>
              </a:solidFill>
              <a:latin typeface="IBM Plex Sans KR"/>
              <a:ea typeface="IBM Plex Sans KR"/>
              <a:cs typeface="IBM Plex Sans KR"/>
              <a:sym typeface="IBM Plex Sans KR"/>
            </a:endParaRPr>
          </a:p>
          <a:p>
            <a:pPr indent="0" lvl="0" marL="45720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IBM Plex Sans KR"/>
              <a:ea typeface="IBM Plex Sans KR"/>
              <a:cs typeface="IBM Plex Sans KR"/>
              <a:sym typeface="IBM Plex Sans KR"/>
            </a:endParaRPr>
          </a:p>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chemeClr val="dk1"/>
                </a:solidFill>
                <a:latin typeface="IBM Plex Sans KR"/>
                <a:ea typeface="IBM Plex Sans KR"/>
                <a:cs typeface="IBM Plex Sans KR"/>
                <a:sym typeface="IBM Plex Sans KR"/>
              </a:rPr>
              <a:t>   쇼핑 에이전트는 대화와 탐색을 통해 상태와 후보를 반복적으로 갱신해야함.</a:t>
            </a:r>
            <a:endParaRPr b="0" i="0" sz="1000" u="none" cap="none" strike="noStrike">
              <a:solidFill>
                <a:schemeClr val="dk1"/>
              </a:solidFill>
              <a:latin typeface="IBM Plex Sans KR"/>
              <a:ea typeface="IBM Plex Sans KR"/>
              <a:cs typeface="IBM Plex Sans KR"/>
              <a:sym typeface="IBM Plex Sans KR"/>
            </a:endParaRPr>
          </a:p>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chemeClr val="dk1"/>
              </a:solidFill>
              <a:latin typeface="IBM Plex Sans KR"/>
              <a:ea typeface="IBM Plex Sans KR"/>
              <a:cs typeface="IBM Plex Sans KR"/>
              <a:sym typeface="IBM Plex Sans KR"/>
            </a:endParaRPr>
          </a:p>
          <a:p>
            <a:pPr indent="-285750" lvl="0" marL="457200" marR="0" rtl="0" algn="l">
              <a:lnSpc>
                <a:spcPct val="100000"/>
              </a:lnSpc>
              <a:spcBef>
                <a:spcPts val="0"/>
              </a:spcBef>
              <a:spcAft>
                <a:spcPts val="0"/>
              </a:spcAft>
              <a:buClr>
                <a:schemeClr val="dk1"/>
              </a:buClr>
              <a:buSzPts val="900"/>
              <a:buFont typeface="IBM Plex Sans KR"/>
              <a:buChar char="-"/>
            </a:pPr>
            <a:r>
              <a:rPr b="0" i="0" lang="ko" sz="900" u="none" cap="none" strike="noStrike">
                <a:solidFill>
                  <a:schemeClr val="dk1"/>
                </a:solidFill>
                <a:latin typeface="IBM Plex Sans KR"/>
                <a:ea typeface="IBM Plex Sans KR"/>
                <a:cs typeface="IBM Plex Sans KR"/>
                <a:sym typeface="IBM Plex Sans KR"/>
              </a:rPr>
              <a:t>사용자 요구 확인</a:t>
            </a:r>
            <a:endParaRPr b="0" i="0" sz="900" u="none" cap="none" strike="noStrike">
              <a:solidFill>
                <a:schemeClr val="dk1"/>
              </a:solidFill>
              <a:latin typeface="IBM Plex Sans KR"/>
              <a:ea typeface="IBM Plex Sans KR"/>
              <a:cs typeface="IBM Plex Sans KR"/>
              <a:sym typeface="IBM Plex Sans KR"/>
            </a:endParaRPr>
          </a:p>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IBM Plex Sans KR"/>
              <a:ea typeface="IBM Plex Sans KR"/>
              <a:cs typeface="IBM Plex Sans KR"/>
              <a:sym typeface="IBM Plex Sans KR"/>
            </a:endParaRPr>
          </a:p>
          <a:p>
            <a:pPr indent="-285750" lvl="0" marL="457200" marR="0" rtl="0" algn="l">
              <a:lnSpc>
                <a:spcPct val="100000"/>
              </a:lnSpc>
              <a:spcBef>
                <a:spcPts val="0"/>
              </a:spcBef>
              <a:spcAft>
                <a:spcPts val="0"/>
              </a:spcAft>
              <a:buClr>
                <a:schemeClr val="dk1"/>
              </a:buClr>
              <a:buSzPts val="900"/>
              <a:buFont typeface="IBM Plex Sans KR"/>
              <a:buChar char="-"/>
            </a:pPr>
            <a:r>
              <a:rPr b="0" i="0" lang="ko" sz="900" u="none" cap="none" strike="noStrike">
                <a:solidFill>
                  <a:schemeClr val="dk1"/>
                </a:solidFill>
                <a:latin typeface="Calibri"/>
                <a:ea typeface="Calibri"/>
                <a:cs typeface="Calibri"/>
                <a:sym typeface="Calibri"/>
              </a:rPr>
              <a:t>상품·리뷰·실시간 정보 탐색</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a:p>
            <a:pPr indent="-285750" lvl="0" marL="457200" marR="0" rtl="0" algn="l">
              <a:lnSpc>
                <a:spcPct val="100000"/>
              </a:lnSpc>
              <a:spcBef>
                <a:spcPts val="0"/>
              </a:spcBef>
              <a:spcAft>
                <a:spcPts val="0"/>
              </a:spcAft>
              <a:buClr>
                <a:schemeClr val="dk1"/>
              </a:buClr>
              <a:buSzPts val="900"/>
              <a:buFont typeface="Calibri"/>
              <a:buChar char="-"/>
            </a:pPr>
            <a:r>
              <a:rPr b="0" i="0" lang="ko" sz="900" u="none" cap="none" strike="noStrike">
                <a:solidFill>
                  <a:schemeClr val="dk1"/>
                </a:solidFill>
                <a:latin typeface="Calibri"/>
                <a:ea typeface="Calibri"/>
                <a:cs typeface="Calibri"/>
                <a:sym typeface="Calibri"/>
              </a:rPr>
              <a:t>피드백에 따른 후보 갱신</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a:p>
            <a:pPr indent="-285750" lvl="0" marL="457200" marR="0" rtl="0" algn="l">
              <a:lnSpc>
                <a:spcPct val="100000"/>
              </a:lnSpc>
              <a:spcBef>
                <a:spcPts val="0"/>
              </a:spcBef>
              <a:spcAft>
                <a:spcPts val="0"/>
              </a:spcAft>
              <a:buClr>
                <a:schemeClr val="dk1"/>
              </a:buClr>
              <a:buSzPts val="900"/>
              <a:buFont typeface="Calibri"/>
              <a:buChar char="-"/>
            </a:pPr>
            <a:r>
              <a:rPr b="0" i="0" lang="ko" sz="900" u="none" cap="none" strike="noStrike">
                <a:solidFill>
                  <a:schemeClr val="dk1"/>
                </a:solidFill>
                <a:latin typeface="Calibri"/>
                <a:ea typeface="Calibri"/>
                <a:cs typeface="Calibri"/>
                <a:sym typeface="Calibri"/>
              </a:rPr>
              <a:t>추천 근거와 트레이드오프 설명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chemeClr val="dk1"/>
                </a:solidFill>
                <a:latin typeface="Calibri"/>
                <a:ea typeface="Calibri"/>
                <a:cs typeface="Calibri"/>
                <a:sym typeface="Calibri"/>
              </a:rPr>
              <a:t>   쇼핑 에이전트의 상품 평가에는 무엇을 추천했는가뿐 아니라, 어떤 정보를 수집하고 사용자 피드백에 따라 후보를 어떻게 변경했는가까지 포함해야함.</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100"/>
              <a:buFont typeface="Arial"/>
              <a:buNone/>
            </a:pPr>
            <a:r>
              <a:rPr b="0" i="0" lang="ko" sz="900" u="none" cap="none" strike="noStrike">
                <a:solidFill>
                  <a:schemeClr val="dk1"/>
                </a:solidFill>
                <a:latin typeface="IBM Plex Sans KR"/>
                <a:ea typeface="IBM Plex Sans KR"/>
                <a:cs typeface="IBM Plex Sans KR"/>
                <a:sym typeface="IBM Plex Sans KR"/>
              </a:rPr>
              <a:t>e.g.) iPhone 교체 사례: 긴급 교체 필요 확인 → 재고·수령 시점 및 리뷰 탐색 → 후보 제외 사유 반영 → 즉시 수령 가능한 17 Pro 추천</a:t>
            </a:r>
            <a:endParaRPr b="0" i="0" sz="900" u="none" cap="none" strike="noStrike">
              <a:solidFill>
                <a:schemeClr val="dk1"/>
              </a:solidFill>
              <a:latin typeface="IBM Plex Sans KR"/>
              <a:ea typeface="IBM Plex Sans KR"/>
              <a:cs typeface="IBM Plex Sans KR"/>
              <a:sym typeface="IBM Plex Sans KR"/>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Calibri"/>
              <a:ea typeface="Calibri"/>
              <a:cs typeface="Calibri"/>
              <a:sym typeface="Calibri"/>
            </a:endParaRPr>
          </a:p>
        </p:txBody>
      </p:sp>
      <p:sp>
        <p:nvSpPr>
          <p:cNvPr id="151" name="Google Shape;151;p1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ko"/>
              <a:t>‹#›</a:t>
            </a:fld>
            <a:endParaRPr/>
          </a:p>
        </p:txBody>
      </p:sp>
      <p:pic>
        <p:nvPicPr>
          <p:cNvPr descr="logo.png" id="152" name="Google Shape;152;p18"/>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cxnSp>
        <p:nvCxnSpPr>
          <p:cNvPr id="158" name="Google Shape;158;p19"/>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39"/>
              </a:srgbClr>
            </a:outerShdw>
          </a:effectLst>
        </p:spPr>
      </p:cxnSp>
      <p:cxnSp>
        <p:nvCxnSpPr>
          <p:cNvPr id="159" name="Google Shape;159;p19"/>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39"/>
              </a:srgbClr>
            </a:outerShdw>
          </a:effectLst>
        </p:spPr>
      </p:cxnSp>
      <p:sp>
        <p:nvSpPr>
          <p:cNvPr id="160" name="Google Shape;160;p19"/>
          <p:cNvSpPr txBox="1"/>
          <p:nvPr/>
        </p:nvSpPr>
        <p:spPr>
          <a:xfrm>
            <a:off x="508000" y="723900"/>
            <a:ext cx="8128200" cy="262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800"/>
              <a:buFont typeface="Arial"/>
              <a:buNone/>
            </a:pPr>
            <a:r>
              <a:rPr b="0" i="0" lang="ko" sz="1800" u="none" cap="none" strike="noStrike">
                <a:solidFill>
                  <a:srgbClr val="000000"/>
                </a:solidFill>
                <a:latin typeface="IBM Plex Sans"/>
                <a:ea typeface="IBM Plex Sans"/>
                <a:cs typeface="IBM Plex Sans"/>
                <a:sym typeface="IBM Plex Sans"/>
              </a:rPr>
              <a:t>SPN Shopping Agent</a:t>
            </a:r>
            <a:r>
              <a:rPr b="0" i="0" lang="ko" sz="1800" u="none" cap="none" strike="noStrike">
                <a:solidFill>
                  <a:srgbClr val="000000"/>
                </a:solidFill>
                <a:latin typeface="IBM Plex Sans KR"/>
                <a:ea typeface="IBM Plex Sans KR"/>
                <a:cs typeface="IBM Plex Sans KR"/>
                <a:sym typeface="IBM Plex Sans KR"/>
              </a:rPr>
              <a:t> — 사용자와 환경에 행동하는 에이전트</a:t>
            </a:r>
            <a:endParaRPr b="0" i="0" sz="1400" u="none" cap="none" strike="noStrike">
              <a:solidFill>
                <a:srgbClr val="000000"/>
              </a:solidFill>
              <a:latin typeface="IBM Plex Sans KR"/>
              <a:ea typeface="IBM Plex Sans KR"/>
              <a:cs typeface="IBM Plex Sans KR"/>
              <a:sym typeface="IBM Plex Sans KR"/>
            </a:endParaRPr>
          </a:p>
        </p:txBody>
      </p:sp>
      <p:sp>
        <p:nvSpPr>
          <p:cNvPr id="161" name="Google Shape;161;p19"/>
          <p:cNvSpPr txBox="1"/>
          <p:nvPr/>
        </p:nvSpPr>
        <p:spPr>
          <a:xfrm>
            <a:off x="501550" y="1228097"/>
            <a:ext cx="8128200" cy="195600"/>
          </a:xfrm>
          <a:prstGeom prst="rect">
            <a:avLst/>
          </a:prstGeom>
          <a:noFill/>
          <a:ln>
            <a:noFill/>
          </a:ln>
        </p:spPr>
        <p:txBody>
          <a:bodyPr anchorCtr="0" anchor="t" bIns="0" lIns="0" spcFirstLastPara="1" rIns="0" wrap="square" tIns="0">
            <a:noAutofit/>
          </a:bodyPr>
          <a:lstStyle/>
          <a:p>
            <a:pPr indent="-298450" lvl="0" marL="457200" marR="0" rtl="0" algn="l">
              <a:lnSpc>
                <a:spcPct val="140000"/>
              </a:lnSpc>
              <a:spcBef>
                <a:spcPts val="0"/>
              </a:spcBef>
              <a:spcAft>
                <a:spcPts val="0"/>
              </a:spcAft>
              <a:buClr>
                <a:srgbClr val="000000"/>
              </a:buClr>
              <a:buSzPts val="1100"/>
              <a:buFont typeface="IBM Plex Sans KR"/>
              <a:buChar char="●"/>
            </a:pPr>
            <a:r>
              <a:rPr b="0" i="0" lang="ko" sz="1100" u="none" cap="none" strike="noStrike">
                <a:solidFill>
                  <a:srgbClr val="000000"/>
                </a:solidFill>
                <a:latin typeface="IBM Plex Sans KR"/>
                <a:ea typeface="IBM Plex Sans KR"/>
                <a:cs typeface="IBM Plex Sans KR"/>
                <a:sym typeface="IBM Plex Sans KR"/>
              </a:rPr>
              <a:t>에이전트가 필요한 정보를 직접 수집하고, 이해부터 응답까지의 과정을 턴마다 자동으로 실행.</a:t>
            </a:r>
            <a:endParaRPr b="0" i="0" sz="1400" u="none" cap="none" strike="noStrike">
              <a:solidFill>
                <a:srgbClr val="000000"/>
              </a:solidFill>
              <a:latin typeface="IBM Plex Sans KR"/>
              <a:ea typeface="IBM Plex Sans KR"/>
              <a:cs typeface="IBM Plex Sans KR"/>
              <a:sym typeface="IBM Plex Sans KR"/>
            </a:endParaRPr>
          </a:p>
        </p:txBody>
      </p:sp>
      <p:sp>
        <p:nvSpPr>
          <p:cNvPr id="162" name="Google Shape;162;p19"/>
          <p:cNvSpPr/>
          <p:nvPr/>
        </p:nvSpPr>
        <p:spPr>
          <a:xfrm>
            <a:off x="713337" y="1857154"/>
            <a:ext cx="3759300" cy="1467300"/>
          </a:xfrm>
          <a:prstGeom prst="rect">
            <a:avLst/>
          </a:prstGeom>
          <a:solidFill>
            <a:srgbClr val="EEEEEE"/>
          </a:solidFill>
          <a:ln>
            <a:noFill/>
          </a:ln>
        </p:spPr>
        <p:txBody>
          <a:bodyPr anchorCtr="0" anchor="ctr" bIns="45700" lIns="91425" spcFirstLastPara="1" rIns="91425" wrap="square" tIns="45700">
            <a:noAutofit/>
          </a:bodyPr>
          <a:lstStyle/>
          <a:p>
            <a:pPr indent="0" lvl="0" marL="0" marR="0" rtl="0" algn="l">
              <a:lnSpc>
                <a:spcPct val="145000"/>
              </a:lnSpc>
              <a:spcBef>
                <a:spcPts val="0"/>
              </a:spcBef>
              <a:spcAft>
                <a:spcPts val="0"/>
              </a:spcAft>
              <a:buClr>
                <a:schemeClr val="dk1"/>
              </a:buClr>
              <a:buSzPts val="1000"/>
              <a:buFont typeface="Arial"/>
              <a:buNone/>
            </a:pPr>
            <a:r>
              <a:rPr b="1" i="0" lang="ko" sz="1000" u="none" cap="none" strike="noStrike">
                <a:solidFill>
                  <a:srgbClr val="595959"/>
                </a:solidFill>
                <a:latin typeface="IBM Plex Sans KR"/>
                <a:ea typeface="IBM Plex Sans KR"/>
                <a:cs typeface="IBM Plex Sans KR"/>
                <a:sym typeface="IBM Plex Sans KR"/>
              </a:rPr>
              <a:t>CAPABILITY</a:t>
            </a:r>
            <a:endParaRPr b="0" i="0" sz="1500" u="none" cap="none" strike="noStrike">
              <a:solidFill>
                <a:schemeClr val="dk1"/>
              </a:solidFill>
              <a:latin typeface="IBM Plex Sans KR"/>
              <a:ea typeface="IBM Plex Sans KR"/>
              <a:cs typeface="IBM Plex Sans KR"/>
              <a:sym typeface="IBM Plex Sans KR"/>
            </a:endParaRPr>
          </a:p>
          <a:p>
            <a:pPr indent="-285750" lvl="0" marL="457200" marR="0" rtl="0" algn="l">
              <a:lnSpc>
                <a:spcPct val="100000"/>
              </a:lnSpc>
              <a:spcBef>
                <a:spcPts val="0"/>
              </a:spcBef>
              <a:spcAft>
                <a:spcPts val="0"/>
              </a:spcAft>
              <a:buClr>
                <a:schemeClr val="dk1"/>
              </a:buClr>
              <a:buSzPts val="900"/>
              <a:buFont typeface="IBM Plex Sans KR"/>
              <a:buChar char="-"/>
            </a:pPr>
            <a:r>
              <a:rPr b="0" i="0" lang="ko" sz="900" u="none" cap="none" strike="noStrike">
                <a:solidFill>
                  <a:schemeClr val="dk1"/>
                </a:solidFill>
                <a:latin typeface="IBM Plex Sans KR"/>
                <a:ea typeface="IBM Plex Sans KR"/>
                <a:cs typeface="IBM Plex Sans KR"/>
                <a:sym typeface="IBM Plex Sans KR"/>
              </a:rPr>
              <a:t>사용자 발화와 요구 이해</a:t>
            </a:r>
            <a:endParaRPr b="0" i="0" sz="900" u="none" cap="none" strike="noStrike">
              <a:solidFill>
                <a:schemeClr val="dk1"/>
              </a:solidFill>
              <a:latin typeface="IBM Plex Sans KR"/>
              <a:ea typeface="IBM Plex Sans KR"/>
              <a:cs typeface="IBM Plex Sans KR"/>
              <a:sym typeface="IBM Plex Sans KR"/>
            </a:endParaRPr>
          </a:p>
          <a:p>
            <a:pPr indent="0" lvl="0" marL="457200" marR="0" rtl="0" algn="l">
              <a:lnSpc>
                <a:spcPct val="100000"/>
              </a:lnSpc>
              <a:spcBef>
                <a:spcPts val="0"/>
              </a:spcBef>
              <a:spcAft>
                <a:spcPts val="0"/>
              </a:spcAft>
              <a:buClr>
                <a:srgbClr val="000000"/>
              </a:buClr>
              <a:buSzPts val="300"/>
              <a:buFont typeface="Arial"/>
              <a:buNone/>
            </a:pPr>
            <a:r>
              <a:t/>
            </a:r>
            <a:endParaRPr b="0" i="0" sz="300" u="none" cap="none" strike="noStrike">
              <a:solidFill>
                <a:schemeClr val="dk1"/>
              </a:solidFill>
              <a:latin typeface="IBM Plex Sans KR"/>
              <a:ea typeface="IBM Plex Sans KR"/>
              <a:cs typeface="IBM Plex Sans KR"/>
              <a:sym typeface="IBM Plex Sans KR"/>
            </a:endParaRPr>
          </a:p>
          <a:p>
            <a:pPr indent="-285750" lvl="0" marL="457200" marR="0" rtl="0" algn="l">
              <a:lnSpc>
                <a:spcPct val="100000"/>
              </a:lnSpc>
              <a:spcBef>
                <a:spcPts val="0"/>
              </a:spcBef>
              <a:spcAft>
                <a:spcPts val="0"/>
              </a:spcAft>
              <a:buClr>
                <a:schemeClr val="dk1"/>
              </a:buClr>
              <a:buSzPts val="900"/>
              <a:buFont typeface="IBM Plex Sans KR"/>
              <a:buChar char="-"/>
            </a:pPr>
            <a:r>
              <a:rPr b="0" i="0" lang="ko" sz="900" u="none" cap="none" strike="noStrike">
                <a:solidFill>
                  <a:schemeClr val="dk1"/>
                </a:solidFill>
                <a:latin typeface="IBM Plex Sans KR"/>
                <a:ea typeface="IBM Plex Sans KR"/>
                <a:cs typeface="IBM Plex Sans KR"/>
                <a:sym typeface="IBM Plex Sans KR"/>
              </a:rPr>
              <a:t>부족한 정보에 대한 추가 질문</a:t>
            </a:r>
            <a:endParaRPr b="0" i="0" sz="900" u="none" cap="none" strike="noStrike">
              <a:solidFill>
                <a:schemeClr val="dk1"/>
              </a:solidFill>
              <a:latin typeface="IBM Plex Sans KR"/>
              <a:ea typeface="IBM Plex Sans KR"/>
              <a:cs typeface="IBM Plex Sans KR"/>
              <a:sym typeface="IBM Plex Sans KR"/>
            </a:endParaRPr>
          </a:p>
          <a:p>
            <a:pPr indent="0" lvl="0" marL="457200" marR="0" rtl="0" algn="l">
              <a:lnSpc>
                <a:spcPct val="100000"/>
              </a:lnSpc>
              <a:spcBef>
                <a:spcPts val="0"/>
              </a:spcBef>
              <a:spcAft>
                <a:spcPts val="0"/>
              </a:spcAft>
              <a:buClr>
                <a:srgbClr val="000000"/>
              </a:buClr>
              <a:buSzPts val="300"/>
              <a:buFont typeface="Arial"/>
              <a:buNone/>
            </a:pPr>
            <a:r>
              <a:t/>
            </a:r>
            <a:endParaRPr b="0" i="0" sz="300" u="none" cap="none" strike="noStrike">
              <a:solidFill>
                <a:schemeClr val="dk1"/>
              </a:solidFill>
              <a:latin typeface="IBM Plex Sans KR"/>
              <a:ea typeface="IBM Plex Sans KR"/>
              <a:cs typeface="IBM Plex Sans KR"/>
              <a:sym typeface="IBM Plex Sans KR"/>
            </a:endParaRPr>
          </a:p>
          <a:p>
            <a:pPr indent="-285750" lvl="0" marL="457200" marR="0" rtl="0" algn="l">
              <a:lnSpc>
                <a:spcPct val="145000"/>
              </a:lnSpc>
              <a:spcBef>
                <a:spcPts val="0"/>
              </a:spcBef>
              <a:spcAft>
                <a:spcPts val="0"/>
              </a:spcAft>
              <a:buClr>
                <a:schemeClr val="dk1"/>
              </a:buClr>
              <a:buSzPts val="900"/>
              <a:buFont typeface="IBM Plex Sans KR"/>
              <a:buChar char="-"/>
            </a:pPr>
            <a:r>
              <a:rPr b="0" i="0" lang="ko" sz="900" u="none" cap="none" strike="noStrike">
                <a:solidFill>
                  <a:schemeClr val="dk1"/>
                </a:solidFill>
                <a:latin typeface="IBM Plex Sans KR"/>
                <a:ea typeface="IBM Plex Sans KR"/>
                <a:cs typeface="IBM Plex Sans KR"/>
                <a:sym typeface="IBM Plex Sans KR"/>
              </a:rPr>
              <a:t>상품 · 리뷰 · 이미지 탐색</a:t>
            </a:r>
            <a:endParaRPr b="0" i="0" sz="900" u="none" cap="none" strike="noStrike">
              <a:solidFill>
                <a:schemeClr val="dk1"/>
              </a:solidFill>
              <a:latin typeface="IBM Plex Sans KR"/>
              <a:ea typeface="IBM Plex Sans KR"/>
              <a:cs typeface="IBM Plex Sans KR"/>
              <a:sym typeface="IBM Plex Sans KR"/>
            </a:endParaRPr>
          </a:p>
          <a:p>
            <a:pPr indent="0" lvl="0" marL="457200" marR="0" rtl="0" algn="l">
              <a:lnSpc>
                <a:spcPct val="145000"/>
              </a:lnSpc>
              <a:spcBef>
                <a:spcPts val="0"/>
              </a:spcBef>
              <a:spcAft>
                <a:spcPts val="0"/>
              </a:spcAft>
              <a:buClr>
                <a:srgbClr val="000000"/>
              </a:buClr>
              <a:buSzPts val="300"/>
              <a:buFont typeface="Arial"/>
              <a:buNone/>
            </a:pPr>
            <a:r>
              <a:t/>
            </a:r>
            <a:endParaRPr b="0" i="0" sz="300" u="none" cap="none" strike="noStrike">
              <a:solidFill>
                <a:schemeClr val="dk1"/>
              </a:solidFill>
              <a:latin typeface="IBM Plex Sans KR"/>
              <a:ea typeface="IBM Plex Sans KR"/>
              <a:cs typeface="IBM Plex Sans KR"/>
              <a:sym typeface="IBM Plex Sans KR"/>
            </a:endParaRPr>
          </a:p>
          <a:p>
            <a:pPr indent="-285750" lvl="0" marL="457200" marR="0" rtl="0" algn="l">
              <a:lnSpc>
                <a:spcPct val="145000"/>
              </a:lnSpc>
              <a:spcBef>
                <a:spcPts val="0"/>
              </a:spcBef>
              <a:spcAft>
                <a:spcPts val="0"/>
              </a:spcAft>
              <a:buClr>
                <a:schemeClr val="dk1"/>
              </a:buClr>
              <a:buSzPts val="900"/>
              <a:buFont typeface="IBM Plex Sans KR"/>
              <a:buChar char="-"/>
            </a:pPr>
            <a:r>
              <a:rPr b="0" i="0" lang="ko" sz="900" u="none" cap="none" strike="noStrike">
                <a:solidFill>
                  <a:schemeClr val="dk1"/>
                </a:solidFill>
                <a:latin typeface="IBM Plex Sans KR"/>
                <a:ea typeface="IBM Plex Sans KR"/>
                <a:cs typeface="IBM Plex Sans KR"/>
                <a:sym typeface="IBM Plex Sans KR"/>
              </a:rPr>
              <a:t>다음 행동 결정</a:t>
            </a:r>
            <a:endParaRPr b="0" i="0" sz="900" u="none" cap="none" strike="noStrike">
              <a:solidFill>
                <a:schemeClr val="dk1"/>
              </a:solidFill>
              <a:latin typeface="IBM Plex Sans KR"/>
              <a:ea typeface="IBM Plex Sans KR"/>
              <a:cs typeface="IBM Plex Sans KR"/>
              <a:sym typeface="IBM Plex Sans KR"/>
            </a:endParaRPr>
          </a:p>
          <a:p>
            <a:pPr indent="0" lvl="0" marL="0" marR="0" rtl="0" algn="l">
              <a:lnSpc>
                <a:spcPct val="145000"/>
              </a:lnSpc>
              <a:spcBef>
                <a:spcPts val="0"/>
              </a:spcBef>
              <a:spcAft>
                <a:spcPts val="0"/>
              </a:spcAft>
              <a:buClr>
                <a:srgbClr val="000000"/>
              </a:buClr>
              <a:buSzPts val="300"/>
              <a:buFont typeface="Arial"/>
              <a:buNone/>
            </a:pPr>
            <a:r>
              <a:t/>
            </a:r>
            <a:endParaRPr b="0" i="0" sz="300" u="none" cap="none" strike="noStrike">
              <a:solidFill>
                <a:schemeClr val="dk1"/>
              </a:solidFill>
              <a:latin typeface="IBM Plex Sans KR"/>
              <a:ea typeface="IBM Plex Sans KR"/>
              <a:cs typeface="IBM Plex Sans KR"/>
              <a:sym typeface="IBM Plex Sans KR"/>
            </a:endParaRPr>
          </a:p>
          <a:p>
            <a:pPr indent="-285750" lvl="0" marL="457200" marR="0" rtl="0" algn="l">
              <a:lnSpc>
                <a:spcPct val="145000"/>
              </a:lnSpc>
              <a:spcBef>
                <a:spcPts val="0"/>
              </a:spcBef>
              <a:spcAft>
                <a:spcPts val="0"/>
              </a:spcAft>
              <a:buClr>
                <a:schemeClr val="dk1"/>
              </a:buClr>
              <a:buSzPts val="900"/>
              <a:buFont typeface="IBM Plex Sans KR"/>
              <a:buChar char="-"/>
            </a:pPr>
            <a:r>
              <a:rPr b="0" i="0" lang="ko" sz="900" u="none" cap="none" strike="noStrike">
                <a:solidFill>
                  <a:schemeClr val="dk1"/>
                </a:solidFill>
                <a:latin typeface="IBM Plex Sans KR"/>
                <a:ea typeface="IBM Plex Sans KR"/>
                <a:cs typeface="IBM Plex Sans KR"/>
                <a:sym typeface="IBM Plex Sans KR"/>
              </a:rPr>
              <a:t>최종 응답 구성</a:t>
            </a:r>
            <a:endParaRPr b="0" i="0" sz="900" u="none" cap="none" strike="noStrike">
              <a:solidFill>
                <a:schemeClr val="dk1"/>
              </a:solidFill>
              <a:latin typeface="IBM Plex Sans KR"/>
              <a:ea typeface="IBM Plex Sans KR"/>
              <a:cs typeface="IBM Plex Sans KR"/>
              <a:sym typeface="IBM Plex Sans KR"/>
            </a:endParaRPr>
          </a:p>
        </p:txBody>
      </p:sp>
      <p:sp>
        <p:nvSpPr>
          <p:cNvPr id="163" name="Google Shape;163;p19"/>
          <p:cNvSpPr txBox="1"/>
          <p:nvPr/>
        </p:nvSpPr>
        <p:spPr>
          <a:xfrm>
            <a:off x="4571858" y="2009413"/>
            <a:ext cx="788700" cy="165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000"/>
              <a:buFont typeface="Arial"/>
              <a:buNone/>
            </a:pPr>
            <a:r>
              <a:rPr b="1" i="0" lang="ko" sz="1000" u="none" cap="none" strike="noStrike">
                <a:solidFill>
                  <a:srgbClr val="000000"/>
                </a:solidFill>
                <a:latin typeface="Malgun Gothic"/>
                <a:ea typeface="Malgun Gothic"/>
                <a:cs typeface="Malgun Gothic"/>
                <a:sym typeface="Malgun Gothic"/>
              </a:rPr>
              <a:t>한계 </a:t>
            </a:r>
            <a:endParaRPr b="0" i="0" sz="1400" u="none" cap="none" strike="noStrike">
              <a:solidFill>
                <a:srgbClr val="000000"/>
              </a:solidFill>
              <a:latin typeface="Arial"/>
              <a:ea typeface="Arial"/>
              <a:cs typeface="Arial"/>
              <a:sym typeface="Arial"/>
            </a:endParaRPr>
          </a:p>
        </p:txBody>
      </p:sp>
      <p:sp>
        <p:nvSpPr>
          <p:cNvPr id="164" name="Google Shape;164;p19"/>
          <p:cNvSpPr txBox="1"/>
          <p:nvPr/>
        </p:nvSpPr>
        <p:spPr>
          <a:xfrm>
            <a:off x="4571848" y="2341980"/>
            <a:ext cx="4064100" cy="171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100"/>
              <a:buFont typeface="Arial"/>
              <a:buNone/>
            </a:pPr>
            <a:r>
              <a:rPr b="0" i="0" lang="ko" sz="1100" u="none" cap="none" strike="noStrike">
                <a:solidFill>
                  <a:srgbClr val="000000"/>
                </a:solidFill>
                <a:latin typeface="IBM Plex Sans KR"/>
                <a:ea typeface="IBM Plex Sans KR"/>
                <a:cs typeface="IBM Plex Sans KR"/>
                <a:sym typeface="IBM Plex Sans KR"/>
              </a:rPr>
              <a:t>조건과 상품 피드백을 누적시켜서 상태를 관리하는 구조의 부재</a:t>
            </a:r>
            <a:endParaRPr b="0" i="0" sz="1100" u="none" cap="none" strike="noStrike">
              <a:solidFill>
                <a:srgbClr val="000000"/>
              </a:solidFill>
              <a:latin typeface="IBM Plex Sans KR"/>
              <a:ea typeface="IBM Plex Sans KR"/>
              <a:cs typeface="IBM Plex Sans KR"/>
              <a:sym typeface="IBM Plex Sans KR"/>
            </a:endParaRPr>
          </a:p>
        </p:txBody>
      </p:sp>
      <p:sp>
        <p:nvSpPr>
          <p:cNvPr id="165" name="Google Shape;165;p19"/>
          <p:cNvSpPr txBox="1"/>
          <p:nvPr/>
        </p:nvSpPr>
        <p:spPr>
          <a:xfrm>
            <a:off x="1064133" y="4838700"/>
            <a:ext cx="2471400" cy="126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IBM Plex Sans"/>
                <a:ea typeface="IBM Plex Sans"/>
                <a:cs typeface="IBM Plex Sans"/>
                <a:sym typeface="IBM Plex Sans"/>
              </a:rPr>
              <a:t>H</a:t>
            </a:r>
            <a:r>
              <a:rPr b="0" i="0" lang="ko" sz="1000" u="none" cap="none" strike="noStrike">
                <a:solidFill>
                  <a:srgbClr val="787878"/>
                </a:solidFill>
                <a:latin typeface="IBM Plex Sans"/>
                <a:ea typeface="IBM Plex Sans"/>
                <a:cs typeface="IBM Plex Sans"/>
                <a:sym typeface="IBM Plex Sans"/>
              </a:rPr>
              <a:t>anyang </a:t>
            </a:r>
            <a:r>
              <a:rPr b="0" i="0" lang="ko" sz="1000" u="none" cap="none" strike="noStrike">
                <a:solidFill>
                  <a:srgbClr val="3452F0"/>
                </a:solidFill>
                <a:latin typeface="IBM Plex Sans"/>
                <a:ea typeface="IBM Plex Sans"/>
                <a:cs typeface="IBM Plex Sans"/>
                <a:sym typeface="IBM Plex Sans"/>
              </a:rPr>
              <a:t>H</a:t>
            </a:r>
            <a:r>
              <a:rPr b="0" i="0" lang="ko" sz="1000" u="none" cap="none" strike="noStrike">
                <a:solidFill>
                  <a:srgbClr val="787878"/>
                </a:solidFill>
                <a:latin typeface="IBM Plex Sans"/>
                <a:ea typeface="IBM Plex Sans"/>
                <a:cs typeface="IBM Plex Sans"/>
                <a:sym typeface="IBM Plex Sans"/>
              </a:rPr>
              <a:t>uman </a:t>
            </a:r>
            <a:r>
              <a:rPr b="0" i="0" lang="ko" sz="1000" u="none" cap="none" strike="noStrike">
                <a:solidFill>
                  <a:srgbClr val="3452F0"/>
                </a:solidFill>
                <a:latin typeface="IBM Plex Sans"/>
                <a:ea typeface="IBM Plex Sans"/>
                <a:cs typeface="IBM Plex Sans"/>
                <a:sym typeface="IBM Plex Sans"/>
              </a:rPr>
              <a:t>C</a:t>
            </a:r>
            <a:r>
              <a:rPr b="0" i="0" lang="ko" sz="1000" u="none" cap="none" strike="noStrike">
                <a:solidFill>
                  <a:srgbClr val="787878"/>
                </a:solidFill>
                <a:latin typeface="IBM Plex Sans"/>
                <a:ea typeface="IBM Plex Sans"/>
                <a:cs typeface="IBM Plex Sans"/>
                <a:sym typeface="IBM Plex Sans"/>
              </a:rPr>
              <a:t>entered Computing </a:t>
            </a:r>
            <a:r>
              <a:rPr b="0" i="0" lang="ko" sz="1000" u="none" cap="none" strike="noStrike">
                <a:solidFill>
                  <a:srgbClr val="3452F0"/>
                </a:solidFill>
                <a:latin typeface="IBM Plex Sans"/>
                <a:ea typeface="IBM Plex Sans"/>
                <a:cs typeface="IBM Plex Sans"/>
                <a:sym typeface="IBM Plex Sans"/>
              </a:rPr>
              <a:t>L</a:t>
            </a:r>
            <a:r>
              <a:rPr b="0" i="0" lang="ko" sz="1000" u="none" cap="none" strike="noStrike">
                <a:solidFill>
                  <a:srgbClr val="787878"/>
                </a:solidFill>
                <a:latin typeface="IBM Plex Sans"/>
                <a:ea typeface="IBM Plex Sans"/>
                <a:cs typeface="IBM Plex Sans"/>
                <a:sym typeface="IBM Plex Sans"/>
              </a:rPr>
              <a:t>ab</a:t>
            </a:r>
            <a:endParaRPr b="0" i="0" sz="1400" u="none" cap="none" strike="noStrike">
              <a:solidFill>
                <a:srgbClr val="000000"/>
              </a:solidFill>
              <a:latin typeface="IBM Plex Sans"/>
              <a:ea typeface="IBM Plex Sans"/>
              <a:cs typeface="IBM Plex Sans"/>
              <a:sym typeface="IBM Plex Sans"/>
            </a:endParaRPr>
          </a:p>
        </p:txBody>
      </p:sp>
      <p:sp>
        <p:nvSpPr>
          <p:cNvPr id="166" name="Google Shape;166;p1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ko"/>
              <a:t>‹#›</a:t>
            </a:fld>
            <a:endParaRPr/>
          </a:p>
        </p:txBody>
      </p:sp>
      <p:pic>
        <p:nvPicPr>
          <p:cNvPr descr="logo.png" id="167" name="Google Shape;167;p19"/>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cxnSp>
        <p:nvCxnSpPr>
          <p:cNvPr id="173" name="Google Shape;173;p20"/>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39"/>
              </a:srgbClr>
            </a:outerShdw>
          </a:effectLst>
        </p:spPr>
      </p:cxnSp>
      <p:cxnSp>
        <p:nvCxnSpPr>
          <p:cNvPr id="174" name="Google Shape;174;p20"/>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39"/>
              </a:srgbClr>
            </a:outerShdw>
          </a:effectLst>
        </p:spPr>
      </p:cxnSp>
      <p:sp>
        <p:nvSpPr>
          <p:cNvPr id="175" name="Google Shape;175;p20"/>
          <p:cNvSpPr txBox="1"/>
          <p:nvPr/>
        </p:nvSpPr>
        <p:spPr>
          <a:xfrm>
            <a:off x="508000" y="723900"/>
            <a:ext cx="8128200" cy="262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800"/>
              <a:buFont typeface="Arial"/>
              <a:buNone/>
            </a:pPr>
            <a:r>
              <a:rPr b="0" i="0" lang="ko" sz="1800" u="none" cap="none" strike="noStrike">
                <a:solidFill>
                  <a:schemeClr val="dk1"/>
                </a:solidFill>
                <a:latin typeface="IBM Plex Sans KR"/>
                <a:ea typeface="IBM Plex Sans KR"/>
                <a:cs typeface="IBM Plex Sans KR"/>
                <a:sym typeface="IBM Plex Sans KR"/>
              </a:rPr>
              <a:t>RA-Rec — 대화를 기억하고 후보를 순위화하는 추천 모듈</a:t>
            </a:r>
            <a:endParaRPr b="0" i="0" sz="1400" u="none" cap="none" strike="noStrike">
              <a:solidFill>
                <a:schemeClr val="dk1"/>
              </a:solidFill>
              <a:latin typeface="IBM Plex Sans KR"/>
              <a:ea typeface="IBM Plex Sans KR"/>
              <a:cs typeface="IBM Plex Sans KR"/>
              <a:sym typeface="IBM Plex Sans KR"/>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rgbClr val="000000"/>
              </a:solidFill>
              <a:latin typeface="IBM Plex Sans"/>
              <a:ea typeface="IBM Plex Sans"/>
              <a:cs typeface="IBM Plex Sans"/>
              <a:sym typeface="IBM Plex Sans"/>
            </a:endParaRPr>
          </a:p>
        </p:txBody>
      </p:sp>
      <p:sp>
        <p:nvSpPr>
          <p:cNvPr id="176" name="Google Shape;176;p20"/>
          <p:cNvSpPr txBox="1"/>
          <p:nvPr/>
        </p:nvSpPr>
        <p:spPr>
          <a:xfrm>
            <a:off x="501550" y="1228097"/>
            <a:ext cx="8128200" cy="195600"/>
          </a:xfrm>
          <a:prstGeom prst="rect">
            <a:avLst/>
          </a:prstGeom>
          <a:noFill/>
          <a:ln>
            <a:noFill/>
          </a:ln>
        </p:spPr>
        <p:txBody>
          <a:bodyPr anchorCtr="0" anchor="t" bIns="0" lIns="0" spcFirstLastPara="1" rIns="0" wrap="square" tIns="0">
            <a:noAutofit/>
          </a:bodyPr>
          <a:lstStyle/>
          <a:p>
            <a:pPr indent="-298450" lvl="0" marL="457200" marR="0" rtl="0" algn="l">
              <a:lnSpc>
                <a:spcPct val="140000"/>
              </a:lnSpc>
              <a:spcBef>
                <a:spcPts val="0"/>
              </a:spcBef>
              <a:spcAft>
                <a:spcPts val="0"/>
              </a:spcAft>
              <a:buClr>
                <a:schemeClr val="dk1"/>
              </a:buClr>
              <a:buSzPts val="1100"/>
              <a:buFont typeface="IBM Plex Sans KR"/>
              <a:buChar char="●"/>
            </a:pPr>
            <a:r>
              <a:rPr b="0" i="0" lang="ko" sz="1100" u="none" cap="none" strike="noStrike">
                <a:solidFill>
                  <a:schemeClr val="dk1"/>
                </a:solidFill>
                <a:latin typeface="IBM Plex Sans KR"/>
                <a:ea typeface="IBM Plex Sans KR"/>
                <a:cs typeface="IBM Plex Sans KR"/>
                <a:sym typeface="IBM Plex Sans KR"/>
              </a:rPr>
              <a:t>여러 턴에 걸친 사용자 요구와 피드백을 Dialogue State에 누적하고, 이를 검색 및 상품 순위화에 활용</a:t>
            </a:r>
            <a:endParaRPr b="0" i="0" sz="1100" u="none" cap="none" strike="noStrike">
              <a:solidFill>
                <a:srgbClr val="000000"/>
              </a:solidFill>
              <a:latin typeface="IBM Plex Sans KR"/>
              <a:ea typeface="IBM Plex Sans KR"/>
              <a:cs typeface="IBM Plex Sans KR"/>
              <a:sym typeface="IBM Plex Sans KR"/>
            </a:endParaRPr>
          </a:p>
        </p:txBody>
      </p:sp>
      <p:sp>
        <p:nvSpPr>
          <p:cNvPr id="177" name="Google Shape;177;p20"/>
          <p:cNvSpPr/>
          <p:nvPr/>
        </p:nvSpPr>
        <p:spPr>
          <a:xfrm>
            <a:off x="736912" y="1887054"/>
            <a:ext cx="3759300" cy="1467300"/>
          </a:xfrm>
          <a:prstGeom prst="rect">
            <a:avLst/>
          </a:prstGeom>
          <a:solidFill>
            <a:srgbClr val="EEEEEE"/>
          </a:solidFill>
          <a:ln>
            <a:noFill/>
          </a:ln>
        </p:spPr>
        <p:txBody>
          <a:bodyPr anchorCtr="0" anchor="ctr" bIns="45700" lIns="91425" spcFirstLastPara="1" rIns="91425" wrap="square" tIns="45700">
            <a:noAutofit/>
          </a:bodyPr>
          <a:lstStyle/>
          <a:p>
            <a:pPr indent="0" lvl="0" marL="0" marR="0" rtl="0" algn="l">
              <a:lnSpc>
                <a:spcPct val="145000"/>
              </a:lnSpc>
              <a:spcBef>
                <a:spcPts val="0"/>
              </a:spcBef>
              <a:spcAft>
                <a:spcPts val="0"/>
              </a:spcAft>
              <a:buClr>
                <a:srgbClr val="000000"/>
              </a:buClr>
              <a:buSzPts val="1000"/>
              <a:buFont typeface="Arial"/>
              <a:buNone/>
            </a:pPr>
            <a:r>
              <a:rPr b="1" i="0" lang="ko" sz="1000" u="none" cap="none" strike="noStrike">
                <a:solidFill>
                  <a:srgbClr val="595959"/>
                </a:solidFill>
                <a:latin typeface="IBM Plex Sans KR"/>
                <a:ea typeface="IBM Plex Sans KR"/>
                <a:cs typeface="IBM Plex Sans KR"/>
                <a:sym typeface="IBM Plex Sans KR"/>
              </a:rPr>
              <a:t>CAPABILITY</a:t>
            </a:r>
            <a:endParaRPr b="0" i="0" sz="1500" u="none" cap="none" strike="noStrike">
              <a:solidFill>
                <a:schemeClr val="dk1"/>
              </a:solidFill>
              <a:latin typeface="IBM Plex Sans KR"/>
              <a:ea typeface="IBM Plex Sans KR"/>
              <a:cs typeface="IBM Plex Sans KR"/>
              <a:sym typeface="IBM Plex Sans KR"/>
            </a:endParaRPr>
          </a:p>
          <a:p>
            <a:pPr indent="0" lvl="0" marL="0" marR="0" rtl="0" algn="l">
              <a:lnSpc>
                <a:spcPct val="100000"/>
              </a:lnSpc>
              <a:spcBef>
                <a:spcPts val="0"/>
              </a:spcBef>
              <a:spcAft>
                <a:spcPts val="0"/>
              </a:spcAft>
              <a:buClr>
                <a:srgbClr val="000000"/>
              </a:buClr>
              <a:buSzPts val="300"/>
              <a:buFont typeface="Arial"/>
              <a:buNone/>
            </a:pPr>
            <a:r>
              <a:t/>
            </a:r>
            <a:endParaRPr b="0" i="0" sz="300" u="none" cap="none" strike="noStrike">
              <a:solidFill>
                <a:schemeClr val="dk1"/>
              </a:solidFill>
              <a:latin typeface="IBM Plex Sans KR"/>
              <a:ea typeface="IBM Plex Sans KR"/>
              <a:cs typeface="IBM Plex Sans KR"/>
              <a:sym typeface="IBM Plex Sans KR"/>
            </a:endParaRPr>
          </a:p>
          <a:p>
            <a:pPr indent="-285750" lvl="0" marL="457200" marR="0" rtl="0" algn="l">
              <a:lnSpc>
                <a:spcPct val="145000"/>
              </a:lnSpc>
              <a:spcBef>
                <a:spcPts val="0"/>
              </a:spcBef>
              <a:spcAft>
                <a:spcPts val="0"/>
              </a:spcAft>
              <a:buClr>
                <a:schemeClr val="dk1"/>
              </a:buClr>
              <a:buSzPts val="900"/>
              <a:buFont typeface="IBM Plex Sans KR"/>
              <a:buChar char="-"/>
            </a:pPr>
            <a:r>
              <a:rPr b="0" i="0" lang="ko" sz="900" u="none" cap="none" strike="noStrike">
                <a:solidFill>
                  <a:schemeClr val="dk1"/>
                </a:solidFill>
                <a:latin typeface="IBM Plex Sans KR"/>
                <a:ea typeface="IBM Plex Sans KR"/>
                <a:cs typeface="IBM Plex Sans KR"/>
                <a:sym typeface="IBM Plex Sans KR"/>
              </a:rPr>
              <a:t>자연어 Dialogue State 관리</a:t>
            </a:r>
            <a:endParaRPr b="0" i="0" sz="900" u="none" cap="none" strike="noStrike">
              <a:solidFill>
                <a:schemeClr val="dk1"/>
              </a:solidFill>
              <a:latin typeface="IBM Plex Sans KR"/>
              <a:ea typeface="IBM Plex Sans KR"/>
              <a:cs typeface="IBM Plex Sans KR"/>
              <a:sym typeface="IBM Plex Sans KR"/>
            </a:endParaRPr>
          </a:p>
          <a:p>
            <a:pPr indent="-285750" lvl="0" marL="457200" marR="0" rtl="0" algn="l">
              <a:lnSpc>
                <a:spcPct val="145000"/>
              </a:lnSpc>
              <a:spcBef>
                <a:spcPts val="0"/>
              </a:spcBef>
              <a:spcAft>
                <a:spcPts val="0"/>
              </a:spcAft>
              <a:buClr>
                <a:schemeClr val="dk1"/>
              </a:buClr>
              <a:buSzPts val="900"/>
              <a:buFont typeface="IBM Plex Sans KR"/>
              <a:buChar char="-"/>
            </a:pPr>
            <a:r>
              <a:rPr b="0" i="0" lang="ko" sz="900" u="none" cap="none" strike="noStrike">
                <a:solidFill>
                  <a:schemeClr val="dk1"/>
                </a:solidFill>
                <a:latin typeface="IBM Plex Sans KR"/>
                <a:ea typeface="IBM Plex Sans KR"/>
                <a:cs typeface="IBM Plex Sans KR"/>
                <a:sym typeface="IBM Plex Sans KR"/>
              </a:rPr>
              <a:t>필수 제약과 선호 조건 구분</a:t>
            </a:r>
            <a:endParaRPr b="0" i="0" sz="900" u="none" cap="none" strike="noStrike">
              <a:solidFill>
                <a:schemeClr val="dk1"/>
              </a:solidFill>
              <a:latin typeface="IBM Plex Sans KR"/>
              <a:ea typeface="IBM Plex Sans KR"/>
              <a:cs typeface="IBM Plex Sans KR"/>
              <a:sym typeface="IBM Plex Sans KR"/>
            </a:endParaRPr>
          </a:p>
          <a:p>
            <a:pPr indent="-285750" lvl="0" marL="457200" marR="0" rtl="0" algn="l">
              <a:lnSpc>
                <a:spcPct val="145000"/>
              </a:lnSpc>
              <a:spcBef>
                <a:spcPts val="0"/>
              </a:spcBef>
              <a:spcAft>
                <a:spcPts val="0"/>
              </a:spcAft>
              <a:buClr>
                <a:schemeClr val="dk1"/>
              </a:buClr>
              <a:buSzPts val="900"/>
              <a:buFont typeface="IBM Plex Sans KR"/>
              <a:buChar char="-"/>
            </a:pPr>
            <a:r>
              <a:rPr b="0" i="0" lang="ko" sz="900" u="none" cap="none" strike="noStrike">
                <a:solidFill>
                  <a:schemeClr val="dk1"/>
                </a:solidFill>
                <a:latin typeface="IBM Plex Sans KR"/>
                <a:ea typeface="IBM Plex Sans KR"/>
                <a:cs typeface="IBM Plex Sans KR"/>
                <a:sym typeface="IBM Plex Sans KR"/>
              </a:rPr>
              <a:t>추천 · 관심 · 거절 · 수락 이력 관리</a:t>
            </a:r>
            <a:endParaRPr b="0" i="0" sz="900" u="none" cap="none" strike="noStrike">
              <a:solidFill>
                <a:schemeClr val="dk1"/>
              </a:solidFill>
              <a:latin typeface="IBM Plex Sans KR"/>
              <a:ea typeface="IBM Plex Sans KR"/>
              <a:cs typeface="IBM Plex Sans KR"/>
              <a:sym typeface="IBM Plex Sans KR"/>
            </a:endParaRPr>
          </a:p>
          <a:p>
            <a:pPr indent="-285750" lvl="0" marL="457200" marR="0" rtl="0" algn="l">
              <a:lnSpc>
                <a:spcPct val="145000"/>
              </a:lnSpc>
              <a:spcBef>
                <a:spcPts val="0"/>
              </a:spcBef>
              <a:spcAft>
                <a:spcPts val="0"/>
              </a:spcAft>
              <a:buClr>
                <a:schemeClr val="dk1"/>
              </a:buClr>
              <a:buSzPts val="900"/>
              <a:buFont typeface="IBM Plex Sans KR"/>
              <a:buChar char="-"/>
            </a:pPr>
            <a:r>
              <a:rPr b="0" i="0" lang="ko" sz="900" u="none" cap="none" strike="noStrike">
                <a:solidFill>
                  <a:schemeClr val="dk1"/>
                </a:solidFill>
                <a:latin typeface="IBM Plex Sans KR"/>
                <a:ea typeface="IBM Plex Sans KR"/>
                <a:cs typeface="IBM Plex Sans KR"/>
                <a:sym typeface="IBM Plex Sans KR"/>
              </a:rPr>
              <a:t>상태 기반 검색 생성</a:t>
            </a:r>
            <a:endParaRPr b="0" i="0" sz="900" u="none" cap="none" strike="noStrike">
              <a:solidFill>
                <a:schemeClr val="dk1"/>
              </a:solidFill>
              <a:latin typeface="IBM Plex Sans KR"/>
              <a:ea typeface="IBM Plex Sans KR"/>
              <a:cs typeface="IBM Plex Sans KR"/>
              <a:sym typeface="IBM Plex Sans KR"/>
            </a:endParaRPr>
          </a:p>
          <a:p>
            <a:pPr indent="-285750" lvl="0" marL="457200" marR="0" rtl="0" algn="l">
              <a:lnSpc>
                <a:spcPct val="145000"/>
              </a:lnSpc>
              <a:spcBef>
                <a:spcPts val="0"/>
              </a:spcBef>
              <a:spcAft>
                <a:spcPts val="0"/>
              </a:spcAft>
              <a:buClr>
                <a:schemeClr val="dk1"/>
              </a:buClr>
              <a:buSzPts val="900"/>
              <a:buFont typeface="IBM Plex Sans KR"/>
              <a:buChar char="-"/>
            </a:pPr>
            <a:r>
              <a:rPr b="0" i="0" lang="ko" sz="900" u="none" cap="none" strike="noStrike">
                <a:solidFill>
                  <a:schemeClr val="dk1"/>
                </a:solidFill>
                <a:latin typeface="IBM Plex Sans KR"/>
                <a:ea typeface="IBM Plex Sans KR"/>
                <a:cs typeface="IBM Plex Sans KR"/>
                <a:sym typeface="IBM Plex Sans KR"/>
              </a:rPr>
              <a:t>리뷰 관련도 기반 상품 순위화</a:t>
            </a:r>
            <a:endParaRPr b="0" i="0" sz="900" u="none" cap="none" strike="noStrike">
              <a:solidFill>
                <a:schemeClr val="dk1"/>
              </a:solidFill>
              <a:latin typeface="IBM Plex Sans KR"/>
              <a:ea typeface="IBM Plex Sans KR"/>
              <a:cs typeface="IBM Plex Sans KR"/>
              <a:sym typeface="IBM Plex Sans KR"/>
            </a:endParaRPr>
          </a:p>
        </p:txBody>
      </p:sp>
      <p:sp>
        <p:nvSpPr>
          <p:cNvPr id="178" name="Google Shape;178;p20"/>
          <p:cNvSpPr txBox="1"/>
          <p:nvPr/>
        </p:nvSpPr>
        <p:spPr>
          <a:xfrm>
            <a:off x="4571858" y="2009413"/>
            <a:ext cx="788700" cy="165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000"/>
              <a:buFont typeface="Arial"/>
              <a:buNone/>
            </a:pPr>
            <a:r>
              <a:rPr b="1" i="0" lang="ko" sz="1000" u="none" cap="none" strike="noStrike">
                <a:solidFill>
                  <a:srgbClr val="000000"/>
                </a:solidFill>
                <a:latin typeface="Malgun Gothic"/>
                <a:ea typeface="Malgun Gothic"/>
                <a:cs typeface="Malgun Gothic"/>
                <a:sym typeface="Malgun Gothic"/>
              </a:rPr>
              <a:t>한계 </a:t>
            </a:r>
            <a:endParaRPr b="0" i="0" sz="1400" u="none" cap="none" strike="noStrike">
              <a:solidFill>
                <a:srgbClr val="000000"/>
              </a:solidFill>
              <a:latin typeface="Arial"/>
              <a:ea typeface="Arial"/>
              <a:cs typeface="Arial"/>
              <a:sym typeface="Arial"/>
            </a:endParaRPr>
          </a:p>
        </p:txBody>
      </p:sp>
      <p:sp>
        <p:nvSpPr>
          <p:cNvPr id="179" name="Google Shape;179;p20"/>
          <p:cNvSpPr txBox="1"/>
          <p:nvPr/>
        </p:nvSpPr>
        <p:spPr>
          <a:xfrm>
            <a:off x="4571848" y="2444230"/>
            <a:ext cx="4064100" cy="171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100"/>
              <a:buFont typeface="Arial"/>
              <a:buNone/>
            </a:pPr>
            <a:r>
              <a:rPr b="0" i="0" lang="ko" sz="1100" u="none" cap="none" strike="noStrike">
                <a:solidFill>
                  <a:srgbClr val="000000"/>
                </a:solidFill>
                <a:latin typeface="IBM Plex Sans KR"/>
                <a:ea typeface="IBM Plex Sans KR"/>
                <a:cs typeface="IBM Plex Sans KR"/>
                <a:sym typeface="IBM Plex Sans KR"/>
              </a:rPr>
              <a:t>실제 행동을 수행하는 별도의 에이전트 구조가 필요함.</a:t>
            </a:r>
            <a:endParaRPr b="0" i="0" sz="1100" u="none" cap="none" strike="noStrike">
              <a:solidFill>
                <a:srgbClr val="000000"/>
              </a:solidFill>
              <a:latin typeface="IBM Plex Sans KR"/>
              <a:ea typeface="IBM Plex Sans KR"/>
              <a:cs typeface="IBM Plex Sans KR"/>
              <a:sym typeface="IBM Plex Sans KR"/>
            </a:endParaRPr>
          </a:p>
        </p:txBody>
      </p:sp>
      <p:sp>
        <p:nvSpPr>
          <p:cNvPr id="180" name="Google Shape;180;p20"/>
          <p:cNvSpPr txBox="1"/>
          <p:nvPr/>
        </p:nvSpPr>
        <p:spPr>
          <a:xfrm>
            <a:off x="1064133" y="4838700"/>
            <a:ext cx="2471400" cy="126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IBM Plex Sans"/>
                <a:ea typeface="IBM Plex Sans"/>
                <a:cs typeface="IBM Plex Sans"/>
                <a:sym typeface="IBM Plex Sans"/>
              </a:rPr>
              <a:t>H</a:t>
            </a:r>
            <a:r>
              <a:rPr b="0" i="0" lang="ko" sz="1000" u="none" cap="none" strike="noStrike">
                <a:solidFill>
                  <a:srgbClr val="787878"/>
                </a:solidFill>
                <a:latin typeface="IBM Plex Sans"/>
                <a:ea typeface="IBM Plex Sans"/>
                <a:cs typeface="IBM Plex Sans"/>
                <a:sym typeface="IBM Plex Sans"/>
              </a:rPr>
              <a:t>anyang </a:t>
            </a:r>
            <a:r>
              <a:rPr b="0" i="0" lang="ko" sz="1000" u="none" cap="none" strike="noStrike">
                <a:solidFill>
                  <a:srgbClr val="3452F0"/>
                </a:solidFill>
                <a:latin typeface="IBM Plex Sans"/>
                <a:ea typeface="IBM Plex Sans"/>
                <a:cs typeface="IBM Plex Sans"/>
                <a:sym typeface="IBM Plex Sans"/>
              </a:rPr>
              <a:t>H</a:t>
            </a:r>
            <a:r>
              <a:rPr b="0" i="0" lang="ko" sz="1000" u="none" cap="none" strike="noStrike">
                <a:solidFill>
                  <a:srgbClr val="787878"/>
                </a:solidFill>
                <a:latin typeface="IBM Plex Sans"/>
                <a:ea typeface="IBM Plex Sans"/>
                <a:cs typeface="IBM Plex Sans"/>
                <a:sym typeface="IBM Plex Sans"/>
              </a:rPr>
              <a:t>uman </a:t>
            </a:r>
            <a:r>
              <a:rPr b="0" i="0" lang="ko" sz="1000" u="none" cap="none" strike="noStrike">
                <a:solidFill>
                  <a:srgbClr val="3452F0"/>
                </a:solidFill>
                <a:latin typeface="IBM Plex Sans"/>
                <a:ea typeface="IBM Plex Sans"/>
                <a:cs typeface="IBM Plex Sans"/>
                <a:sym typeface="IBM Plex Sans"/>
              </a:rPr>
              <a:t>C</a:t>
            </a:r>
            <a:r>
              <a:rPr b="0" i="0" lang="ko" sz="1000" u="none" cap="none" strike="noStrike">
                <a:solidFill>
                  <a:srgbClr val="787878"/>
                </a:solidFill>
                <a:latin typeface="IBM Plex Sans"/>
                <a:ea typeface="IBM Plex Sans"/>
                <a:cs typeface="IBM Plex Sans"/>
                <a:sym typeface="IBM Plex Sans"/>
              </a:rPr>
              <a:t>entered Computing </a:t>
            </a:r>
            <a:r>
              <a:rPr b="0" i="0" lang="ko" sz="1000" u="none" cap="none" strike="noStrike">
                <a:solidFill>
                  <a:srgbClr val="3452F0"/>
                </a:solidFill>
                <a:latin typeface="IBM Plex Sans"/>
                <a:ea typeface="IBM Plex Sans"/>
                <a:cs typeface="IBM Plex Sans"/>
                <a:sym typeface="IBM Plex Sans"/>
              </a:rPr>
              <a:t>L</a:t>
            </a:r>
            <a:r>
              <a:rPr b="0" i="0" lang="ko" sz="1000" u="none" cap="none" strike="noStrike">
                <a:solidFill>
                  <a:srgbClr val="787878"/>
                </a:solidFill>
                <a:latin typeface="IBM Plex Sans"/>
                <a:ea typeface="IBM Plex Sans"/>
                <a:cs typeface="IBM Plex Sans"/>
                <a:sym typeface="IBM Plex Sans"/>
              </a:rPr>
              <a:t>ab</a:t>
            </a:r>
            <a:endParaRPr b="0" i="0" sz="1400" u="none" cap="none" strike="noStrike">
              <a:solidFill>
                <a:srgbClr val="000000"/>
              </a:solidFill>
              <a:latin typeface="IBM Plex Sans"/>
              <a:ea typeface="IBM Plex Sans"/>
              <a:cs typeface="IBM Plex Sans"/>
              <a:sym typeface="IBM Plex Sans"/>
            </a:endParaRPr>
          </a:p>
        </p:txBody>
      </p:sp>
      <p:sp>
        <p:nvSpPr>
          <p:cNvPr id="181" name="Google Shape;181;p2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ko"/>
              <a:t>‹#›</a:t>
            </a:fld>
            <a:endParaRPr/>
          </a:p>
        </p:txBody>
      </p:sp>
      <p:pic>
        <p:nvPicPr>
          <p:cNvPr descr="logo.png" id="182" name="Google Shape;182;p20"/>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cxnSp>
        <p:nvCxnSpPr>
          <p:cNvPr id="188" name="Google Shape;188;p21"/>
          <p:cNvCxnSpPr/>
          <p:nvPr/>
        </p:nvCxnSpPr>
        <p:spPr>
          <a:xfrm>
            <a:off x="508000" y="4191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189" name="Google Shape;189;p21"/>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190" name="Google Shape;190;p21"/>
          <p:cNvSpPr txBox="1"/>
          <p:nvPr/>
        </p:nvSpPr>
        <p:spPr>
          <a:xfrm>
            <a:off x="527050" y="596900"/>
            <a:ext cx="2710800" cy="396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1300"/>
              <a:buFont typeface="Arial"/>
              <a:buNone/>
            </a:pPr>
            <a:r>
              <a:rPr b="0" i="0" lang="ko" sz="1300" u="none" cap="none" strike="noStrike">
                <a:solidFill>
                  <a:srgbClr val="787878"/>
                </a:solidFill>
                <a:latin typeface="IBM Plex Sans"/>
                <a:ea typeface="IBM Plex Sans"/>
                <a:cs typeface="IBM Plex Sans"/>
                <a:sym typeface="IBM Plex Sans"/>
              </a:rPr>
              <a:t>DEPARTMENT OF DATA SCIENCE</a:t>
            </a:r>
            <a:endParaRPr b="0" i="0" sz="1400" u="none" cap="none" strike="noStrike">
              <a:solidFill>
                <a:srgbClr val="000000"/>
              </a:solidFill>
              <a:latin typeface="IBM Plex Sans"/>
              <a:ea typeface="IBM Plex Sans"/>
              <a:cs typeface="IBM Plex Sans"/>
              <a:sym typeface="IBM Plex Sans"/>
            </a:endParaRPr>
          </a:p>
          <a:p>
            <a:pPr indent="0" lvl="0" marL="0" marR="0" rtl="0" algn="l">
              <a:lnSpc>
                <a:spcPct val="120000"/>
              </a:lnSpc>
              <a:spcBef>
                <a:spcPts val="0"/>
              </a:spcBef>
              <a:spcAft>
                <a:spcPts val="0"/>
              </a:spcAft>
              <a:buClr>
                <a:srgbClr val="000000"/>
              </a:buClr>
              <a:buSzPts val="1300"/>
              <a:buFont typeface="Arial"/>
              <a:buNone/>
            </a:pPr>
            <a:r>
              <a:rPr b="0" i="0" lang="ko" sz="1300" u="none" cap="none" strike="noStrike">
                <a:solidFill>
                  <a:srgbClr val="787878"/>
                </a:solidFill>
                <a:latin typeface="IBM Plex Sans"/>
                <a:ea typeface="IBM Plex Sans"/>
                <a:cs typeface="IBM Plex Sans"/>
                <a:sym typeface="IBM Plex Sans"/>
              </a:rPr>
              <a:t>HANYANG UNIVERSITY</a:t>
            </a:r>
            <a:endParaRPr b="0" i="0" sz="1400" u="none" cap="none" strike="noStrike">
              <a:solidFill>
                <a:srgbClr val="000000"/>
              </a:solidFill>
              <a:latin typeface="IBM Plex Sans"/>
              <a:ea typeface="IBM Plex Sans"/>
              <a:cs typeface="IBM Plex Sans"/>
              <a:sym typeface="IBM Plex Sans"/>
            </a:endParaRPr>
          </a:p>
        </p:txBody>
      </p:sp>
      <p:sp>
        <p:nvSpPr>
          <p:cNvPr id="191" name="Google Shape;191;p21"/>
          <p:cNvSpPr txBox="1"/>
          <p:nvPr/>
        </p:nvSpPr>
        <p:spPr>
          <a:xfrm>
            <a:off x="527050" y="1854150"/>
            <a:ext cx="7886700" cy="405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500"/>
              <a:buFont typeface="Arial"/>
              <a:buNone/>
            </a:pPr>
            <a:r>
              <a:rPr b="1" lang="ko" sz="1800">
                <a:solidFill>
                  <a:srgbClr val="595959"/>
                </a:solidFill>
                <a:latin typeface="IBM Plex Sans"/>
                <a:ea typeface="IBM Plex Sans"/>
                <a:cs typeface="IBM Plex Sans"/>
                <a:sym typeface="IBM Plex Sans"/>
              </a:rPr>
              <a:t>중간점검 및 개선 방향 검토</a:t>
            </a:r>
            <a:endParaRPr b="1" i="0" sz="1800" u="none" cap="none" strike="noStrike">
              <a:solidFill>
                <a:srgbClr val="595959"/>
              </a:solidFill>
              <a:latin typeface="IBM Plex Sans"/>
              <a:ea typeface="IBM Plex Sans"/>
              <a:cs typeface="IBM Plex Sans"/>
              <a:sym typeface="IBM Plex Sans"/>
            </a:endParaRPr>
          </a:p>
        </p:txBody>
      </p:sp>
      <p:sp>
        <p:nvSpPr>
          <p:cNvPr id="192" name="Google Shape;192;p21"/>
          <p:cNvSpPr txBox="1"/>
          <p:nvPr/>
        </p:nvSpPr>
        <p:spPr>
          <a:xfrm>
            <a:off x="539750" y="4838700"/>
            <a:ext cx="2746200" cy="126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IBM Plex Sans"/>
                <a:ea typeface="IBM Plex Sans"/>
                <a:cs typeface="IBM Plex Sans"/>
                <a:sym typeface="IBM Plex Sans"/>
              </a:rPr>
              <a:t>H</a:t>
            </a:r>
            <a:r>
              <a:rPr b="0" i="0" lang="ko" sz="1000" u="none" cap="none" strike="noStrike">
                <a:solidFill>
                  <a:srgbClr val="787878"/>
                </a:solidFill>
                <a:latin typeface="IBM Plex Sans"/>
                <a:ea typeface="IBM Plex Sans"/>
                <a:cs typeface="IBM Plex Sans"/>
                <a:sym typeface="IBM Plex Sans"/>
              </a:rPr>
              <a:t>anyang </a:t>
            </a:r>
            <a:r>
              <a:rPr b="0" i="0" lang="ko" sz="1000" u="none" cap="none" strike="noStrike">
                <a:solidFill>
                  <a:srgbClr val="3452F0"/>
                </a:solidFill>
                <a:latin typeface="IBM Plex Sans"/>
                <a:ea typeface="IBM Plex Sans"/>
                <a:cs typeface="IBM Plex Sans"/>
                <a:sym typeface="IBM Plex Sans"/>
              </a:rPr>
              <a:t>H</a:t>
            </a:r>
            <a:r>
              <a:rPr b="0" i="0" lang="ko" sz="1000" u="none" cap="none" strike="noStrike">
                <a:solidFill>
                  <a:srgbClr val="787878"/>
                </a:solidFill>
                <a:latin typeface="IBM Plex Sans"/>
                <a:ea typeface="IBM Plex Sans"/>
                <a:cs typeface="IBM Plex Sans"/>
                <a:sym typeface="IBM Plex Sans"/>
              </a:rPr>
              <a:t>uman </a:t>
            </a:r>
            <a:r>
              <a:rPr b="0" i="0" lang="ko" sz="1000" u="none" cap="none" strike="noStrike">
                <a:solidFill>
                  <a:srgbClr val="3452F0"/>
                </a:solidFill>
                <a:latin typeface="IBM Plex Sans"/>
                <a:ea typeface="IBM Plex Sans"/>
                <a:cs typeface="IBM Plex Sans"/>
                <a:sym typeface="IBM Plex Sans"/>
              </a:rPr>
              <a:t>C</a:t>
            </a:r>
            <a:r>
              <a:rPr b="0" i="0" lang="ko" sz="1000" u="none" cap="none" strike="noStrike">
                <a:solidFill>
                  <a:srgbClr val="787878"/>
                </a:solidFill>
                <a:latin typeface="IBM Plex Sans"/>
                <a:ea typeface="IBM Plex Sans"/>
                <a:cs typeface="IBM Plex Sans"/>
                <a:sym typeface="IBM Plex Sans"/>
              </a:rPr>
              <a:t>entered Computing </a:t>
            </a:r>
            <a:r>
              <a:rPr b="0" i="0" lang="ko" sz="1000" u="none" cap="none" strike="noStrike">
                <a:solidFill>
                  <a:srgbClr val="3452F0"/>
                </a:solidFill>
                <a:latin typeface="IBM Plex Sans"/>
                <a:ea typeface="IBM Plex Sans"/>
                <a:cs typeface="IBM Plex Sans"/>
                <a:sym typeface="IBM Plex Sans"/>
              </a:rPr>
              <a:t>L</a:t>
            </a:r>
            <a:r>
              <a:rPr b="0" i="0" lang="ko" sz="1000" u="none" cap="none" strike="noStrike">
                <a:solidFill>
                  <a:srgbClr val="787878"/>
                </a:solidFill>
                <a:latin typeface="IBM Plex Sans"/>
                <a:ea typeface="IBM Plex Sans"/>
                <a:cs typeface="IBM Plex Sans"/>
                <a:sym typeface="IBM Plex Sans"/>
              </a:rPr>
              <a:t>ab</a:t>
            </a:r>
            <a:endParaRPr b="0" i="0" sz="1400" u="none" cap="none" strike="noStrike">
              <a:solidFill>
                <a:srgbClr val="000000"/>
              </a:solidFill>
              <a:latin typeface="IBM Plex Sans"/>
              <a:ea typeface="IBM Plex Sans"/>
              <a:cs typeface="IBM Plex Sans"/>
              <a:sym typeface="IBM Plex Sans"/>
            </a:endParaRPr>
          </a:p>
        </p:txBody>
      </p:sp>
      <p:sp>
        <p:nvSpPr>
          <p:cNvPr id="193" name="Google Shape;193;p2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ko"/>
              <a:t>‹#›</a:t>
            </a:fld>
            <a:endParaRPr/>
          </a:p>
        </p:txBody>
      </p:sp>
      <p:pic>
        <p:nvPicPr>
          <p:cNvPr descr="logo.png" id="194" name="Google Shape;194;p21"/>
          <p:cNvPicPr preferRelativeResize="0"/>
          <p:nvPr/>
        </p:nvPicPr>
        <p:blipFill rotWithShape="1">
          <a:blip r:embed="rId3">
            <a:alphaModFix/>
          </a:blip>
          <a:srcRect b="0" l="0" r="0" t="0"/>
          <a:stretch/>
        </p:blipFill>
        <p:spPr>
          <a:xfrm>
            <a:off x="7734300" y="4067056"/>
            <a:ext cx="774700" cy="38989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cxnSp>
        <p:nvCxnSpPr>
          <p:cNvPr id="200" name="Google Shape;200;p22"/>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39"/>
              </a:srgbClr>
            </a:outerShdw>
          </a:effectLst>
        </p:spPr>
      </p:cxnSp>
      <p:cxnSp>
        <p:nvCxnSpPr>
          <p:cNvPr id="201" name="Google Shape;201;p22"/>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39"/>
              </a:srgbClr>
            </a:outerShdw>
          </a:effectLst>
        </p:spPr>
      </p:cxnSp>
      <p:sp>
        <p:nvSpPr>
          <p:cNvPr id="202" name="Google Shape;202;p22"/>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203" name="Google Shape;203;p2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ko"/>
              <a:t>‹#›</a:t>
            </a:fld>
            <a:endParaRPr/>
          </a:p>
        </p:txBody>
      </p:sp>
      <p:sp>
        <p:nvSpPr>
          <p:cNvPr id="204" name="Google Shape;204;p22"/>
          <p:cNvSpPr txBox="1"/>
          <p:nvPr/>
        </p:nvSpPr>
        <p:spPr>
          <a:xfrm>
            <a:off x="547425" y="675582"/>
            <a:ext cx="1708500" cy="33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07.30 </a:t>
            </a:r>
            <a:r>
              <a:rPr b="0" i="0" lang="ko" sz="1800" u="none" cap="none" strike="noStrike">
                <a:solidFill>
                  <a:schemeClr val="dk1"/>
                </a:solidFill>
                <a:latin typeface="IBM Plex Sans KR"/>
                <a:ea typeface="IBM Plex Sans KR"/>
                <a:cs typeface="IBM Plex Sans KR"/>
                <a:sym typeface="IBM Plex Sans KR"/>
              </a:rPr>
              <a:t>중간점검</a:t>
            </a:r>
            <a:endParaRPr b="0" i="0" sz="1800" u="none" cap="none" strike="noStrike">
              <a:solidFill>
                <a:schemeClr val="dk1"/>
              </a:solidFill>
              <a:latin typeface="IBM Plex Sans KR"/>
              <a:ea typeface="IBM Plex Sans KR"/>
              <a:cs typeface="IBM Plex Sans KR"/>
              <a:sym typeface="IBM Plex Sans KR"/>
            </a:endParaRPr>
          </a:p>
        </p:txBody>
      </p:sp>
      <p:pic>
        <p:nvPicPr>
          <p:cNvPr descr="logo.png" id="205" name="Google Shape;205;p22"/>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sp>
        <p:nvSpPr>
          <p:cNvPr id="206" name="Google Shape;206;p22"/>
          <p:cNvSpPr txBox="1"/>
          <p:nvPr/>
        </p:nvSpPr>
        <p:spPr>
          <a:xfrm>
            <a:off x="639050" y="1442650"/>
            <a:ext cx="7947900" cy="27684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IBM Plex Sans KR"/>
              <a:buChar char="●"/>
            </a:pPr>
            <a:r>
              <a:rPr lang="ko" sz="1200">
                <a:solidFill>
                  <a:schemeClr val="dk1"/>
                </a:solidFill>
                <a:latin typeface="IBM Plex Sans KR"/>
                <a:ea typeface="IBM Plex Sans KR"/>
                <a:cs typeface="IBM Plex Sans KR"/>
                <a:sym typeface="IBM Plex Sans KR"/>
              </a:rPr>
              <a:t>HCI 도메인과의 연계 가능성 검토:</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600">
              <a:solidFill>
                <a:schemeClr val="dk1"/>
              </a:solidFill>
              <a:latin typeface="IBM Plex Sans KR"/>
              <a:ea typeface="IBM Plex Sans KR"/>
              <a:cs typeface="IBM Plex Sans KR"/>
              <a:sym typeface="IBM Plex Sans KR"/>
            </a:endParaRPr>
          </a:p>
          <a:p>
            <a:pPr indent="0" lvl="0" marL="457200" rtl="0" algn="l">
              <a:spcBef>
                <a:spcPts val="0"/>
              </a:spcBef>
              <a:spcAft>
                <a:spcPts val="0"/>
              </a:spcAft>
              <a:buNone/>
            </a:pPr>
            <a:r>
              <a:rPr lang="ko" sz="1200">
                <a:solidFill>
                  <a:schemeClr val="dk1"/>
                </a:solidFill>
                <a:latin typeface="IBM Plex Sans KR"/>
                <a:ea typeface="IBM Plex Sans KR"/>
                <a:cs typeface="IBM Plex Sans KR"/>
                <a:sym typeface="IBM Plex Sans KR"/>
              </a:rPr>
              <a:t>SPN Shopping Agent + RA-Rec은 변화하는 사용자 요구를 Dialogue State에 누적하고 추천 행동에 반영하는 현재의 워크 플로우를 HCI 도메인과 어떻게 연결 할 수 있을지 검토해볼 필요가 있다.</a:t>
            </a:r>
            <a:endParaRPr sz="1200">
              <a:solidFill>
                <a:schemeClr val="dk1"/>
              </a:solidFill>
              <a:latin typeface="IBM Plex Sans KR"/>
              <a:ea typeface="IBM Plex Sans KR"/>
              <a:cs typeface="IBM Plex Sans KR"/>
              <a:sym typeface="IBM Plex Sans KR"/>
            </a:endParaRPr>
          </a:p>
          <a:p>
            <a:pPr indent="0" lvl="0" marL="457200" rtl="0" algn="l">
              <a:spcBef>
                <a:spcPts val="0"/>
              </a:spcBef>
              <a:spcAft>
                <a:spcPts val="0"/>
              </a:spcAft>
              <a:buNone/>
            </a:pPr>
            <a:r>
              <a:t/>
            </a:r>
            <a:endParaRPr sz="1200">
              <a:solidFill>
                <a:schemeClr val="dk1"/>
              </a:solidFill>
              <a:latin typeface="IBM Plex Sans KR"/>
              <a:ea typeface="IBM Plex Sans KR"/>
              <a:cs typeface="IBM Plex Sans KR"/>
              <a:sym typeface="IBM Plex Sans KR"/>
            </a:endParaRPr>
          </a:p>
          <a:p>
            <a:pPr indent="0" lvl="0" marL="457200" rtl="0" algn="l">
              <a:spcBef>
                <a:spcPts val="0"/>
              </a:spcBef>
              <a:spcAft>
                <a:spcPts val="0"/>
              </a:spcAft>
              <a:buNone/>
            </a:pPr>
            <a:r>
              <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200">
              <a:solidFill>
                <a:schemeClr val="dk1"/>
              </a:solidFill>
              <a:latin typeface="IBM Plex Sans KR"/>
              <a:ea typeface="IBM Plex Sans KR"/>
              <a:cs typeface="IBM Plex Sans KR"/>
              <a:sym typeface="IBM Plex Sans KR"/>
            </a:endParaRPr>
          </a:p>
          <a:p>
            <a:pPr indent="-304800" lvl="0" marL="457200" rtl="0" algn="l">
              <a:lnSpc>
                <a:spcPct val="115000"/>
              </a:lnSpc>
              <a:spcBef>
                <a:spcPts val="0"/>
              </a:spcBef>
              <a:spcAft>
                <a:spcPts val="0"/>
              </a:spcAft>
              <a:buClr>
                <a:schemeClr val="dk1"/>
              </a:buClr>
              <a:buSzPts val="1200"/>
              <a:buFont typeface="IBM Plex Sans KR"/>
              <a:buChar char="●"/>
            </a:pPr>
            <a:r>
              <a:rPr lang="ko" sz="1100">
                <a:solidFill>
                  <a:schemeClr val="dk1"/>
                </a:solidFill>
                <a:latin typeface="IBM Plex Sans KR"/>
                <a:ea typeface="IBM Plex Sans KR"/>
                <a:cs typeface="IBM Plex Sans KR"/>
                <a:sym typeface="IBM Plex Sans KR"/>
              </a:rPr>
              <a:t>실제 쇼핑 환경으로의 확장 가능성:</a:t>
            </a:r>
            <a:endParaRPr sz="1100">
              <a:solidFill>
                <a:schemeClr val="dk1"/>
              </a:solidFill>
              <a:latin typeface="IBM Plex Sans KR"/>
              <a:ea typeface="IBM Plex Sans KR"/>
              <a:cs typeface="IBM Plex Sans KR"/>
              <a:sym typeface="IBM Plex Sans KR"/>
            </a:endParaRPr>
          </a:p>
          <a:p>
            <a:pPr indent="0" lvl="0" marL="457200" rtl="0" algn="l">
              <a:spcBef>
                <a:spcPts val="0"/>
              </a:spcBef>
              <a:spcAft>
                <a:spcPts val="0"/>
              </a:spcAft>
              <a:buNone/>
            </a:pPr>
            <a:r>
              <a:t/>
            </a:r>
            <a:endParaRPr sz="600">
              <a:solidFill>
                <a:schemeClr val="dk1"/>
              </a:solidFill>
              <a:latin typeface="IBM Plex Sans KR"/>
              <a:ea typeface="IBM Plex Sans KR"/>
              <a:cs typeface="IBM Plex Sans KR"/>
              <a:sym typeface="IBM Plex Sans KR"/>
            </a:endParaRPr>
          </a:p>
          <a:p>
            <a:pPr indent="0" lvl="0" marL="457200" rtl="0" algn="l">
              <a:spcBef>
                <a:spcPts val="0"/>
              </a:spcBef>
              <a:spcAft>
                <a:spcPts val="0"/>
              </a:spcAft>
              <a:buNone/>
            </a:pPr>
            <a:r>
              <a:rPr lang="ko" sz="1200">
                <a:solidFill>
                  <a:schemeClr val="dk1"/>
                </a:solidFill>
                <a:latin typeface="IBM Plex Sans KR"/>
                <a:ea typeface="IBM Plex Sans KR"/>
                <a:cs typeface="IBM Plex Sans KR"/>
                <a:sym typeface="IBM Plex Sans KR"/>
              </a:rPr>
              <a:t>현재의 정해진 시나리오와 local mock 데이터에서 나아가, 실제 상품·리뷰 및 가격·재고·배송 정보를 활용하는 환경 을 구성하고, 다양한 대화와 피드백에서도 각 모듈이 적절하게 작동하는지를 검증할 필요가 있다. </a:t>
            </a:r>
            <a:endParaRPr sz="1200">
              <a:solidFill>
                <a:schemeClr val="dk1"/>
              </a:solidFill>
              <a:latin typeface="IBM Plex Sans KR"/>
              <a:ea typeface="IBM Plex Sans KR"/>
              <a:cs typeface="IBM Plex Sans KR"/>
              <a:sym typeface="IBM Plex Sans KR"/>
            </a:endParaRPr>
          </a:p>
          <a:p>
            <a:pPr indent="0" lvl="0" marL="457200" rtl="0" algn="l">
              <a:spcBef>
                <a:spcPts val="0"/>
              </a:spcBef>
              <a:spcAft>
                <a:spcPts val="0"/>
              </a:spcAft>
              <a:buNone/>
            </a:pPr>
            <a:r>
              <a:t/>
            </a:r>
            <a:endParaRPr sz="1200">
              <a:solidFill>
                <a:schemeClr val="dk1"/>
              </a:solidFill>
              <a:latin typeface="IBM Plex Sans KR"/>
              <a:ea typeface="IBM Plex Sans KR"/>
              <a:cs typeface="IBM Plex Sans KR"/>
              <a:sym typeface="IBM Plex Sans K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cxnSp>
        <p:nvCxnSpPr>
          <p:cNvPr id="212" name="Google Shape;212;p23"/>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213" name="Google Shape;213;p23"/>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214" name="Google Shape;214;p23"/>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215" name="Google Shape;215;p2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ko"/>
              <a:t>‹#›</a:t>
            </a:fld>
            <a:endParaRPr/>
          </a:p>
        </p:txBody>
      </p:sp>
      <p:sp>
        <p:nvSpPr>
          <p:cNvPr id="216" name="Google Shape;216;p23"/>
          <p:cNvSpPr txBox="1"/>
          <p:nvPr/>
        </p:nvSpPr>
        <p:spPr>
          <a:xfrm>
            <a:off x="547425" y="661275"/>
            <a:ext cx="1300500" cy="45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개선 방향성</a:t>
            </a:r>
            <a:endParaRPr b="0" i="0" sz="1800" u="none" cap="none" strike="noStrike">
              <a:solidFill>
                <a:schemeClr val="dk1"/>
              </a:solidFill>
              <a:latin typeface="IBM Plex Sans KR"/>
              <a:ea typeface="IBM Plex Sans KR"/>
              <a:cs typeface="IBM Plex Sans KR"/>
              <a:sym typeface="IBM Plex Sans KR"/>
            </a:endParaRPr>
          </a:p>
        </p:txBody>
      </p:sp>
      <p:pic>
        <p:nvPicPr>
          <p:cNvPr descr="logo.png" id="217" name="Google Shape;217;p23"/>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sp>
        <p:nvSpPr>
          <p:cNvPr id="218" name="Google Shape;218;p23"/>
          <p:cNvSpPr txBox="1"/>
          <p:nvPr/>
        </p:nvSpPr>
        <p:spPr>
          <a:xfrm>
            <a:off x="639050" y="1442650"/>
            <a:ext cx="7947900" cy="21390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IBM Plex Sans KR"/>
              <a:buChar char="●"/>
            </a:pPr>
            <a:r>
              <a:rPr lang="ko" sz="1200">
                <a:solidFill>
                  <a:schemeClr val="dk1"/>
                </a:solidFill>
                <a:latin typeface="IBM Plex Sans KR"/>
                <a:ea typeface="IBM Plex Sans KR"/>
                <a:cs typeface="IBM Plex Sans KR"/>
                <a:sym typeface="IBM Plex Sans KR"/>
              </a:rPr>
              <a:t>Amazon Reviews 2023 데이터셋에서 상품 메타데이터와 실제 리뷰를 추출하여 상품 후보와 리뷰 근거를 구성하고, 외부 API를 통해 가격·재고·배송 정보와 같은 실시간 정보를 호출하여 실제 소비자의 구매 상황과 유사한 환경을 구축한 다음, 에이전트가 실시간 상품 정보·리뷰 근거를 바탕으로 사용자 상태와 숨은 의도 가설을 관리하고, 각 모듈의 처리 결과를 추적·평가하고자 한다.</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200">
              <a:solidFill>
                <a:schemeClr val="dk1"/>
              </a:solidFill>
              <a:latin typeface="IBM Plex Sans KR"/>
              <a:ea typeface="IBM Plex Sans KR"/>
              <a:cs typeface="IBM Plex Sans KR"/>
              <a:sym typeface="IBM Plex Sans KR"/>
            </a:endParaRPr>
          </a:p>
          <a:p>
            <a:pPr indent="-304800" lvl="0" marL="457200" rtl="0" algn="l">
              <a:lnSpc>
                <a:spcPct val="115000"/>
              </a:lnSpc>
              <a:spcBef>
                <a:spcPts val="0"/>
              </a:spcBef>
              <a:spcAft>
                <a:spcPts val="0"/>
              </a:spcAft>
              <a:buClr>
                <a:schemeClr val="dk1"/>
              </a:buClr>
              <a:buSzPts val="1200"/>
              <a:buFont typeface="IBM Plex Sans KR"/>
              <a:buChar char="●"/>
            </a:pPr>
            <a:r>
              <a:rPr lang="ko" sz="1100">
                <a:solidFill>
                  <a:schemeClr val="dk1"/>
                </a:solidFill>
                <a:latin typeface="IBM Plex Sans KR"/>
                <a:ea typeface="IBM Plex Sans KR"/>
                <a:cs typeface="IBM Plex Sans KR"/>
                <a:sym typeface="IBM Plex Sans KR"/>
              </a:rPr>
              <a:t>InterQuest의 content confidence와 scope confidence를 참고하여 에이전트 추론의 타당성과 적용 범위를 구분하고, 불확실하면서 추천 결과에 큰 영향을 주는 가설을 사용자에게 우선적으로 확인하고자 한다. 각 모듈이 최종 추천에 미치는 영향은 confidence와 구분하여, 모듈별 출력 평가, oracle replacement 및 ablation study를 통해 측정할 계획이며, </a:t>
            </a:r>
            <a:endParaRPr sz="1100">
              <a:solidFill>
                <a:schemeClr val="dk1"/>
              </a:solidFill>
              <a:latin typeface="IBM Plex Sans KR"/>
              <a:ea typeface="IBM Plex Sans KR"/>
              <a:cs typeface="IBM Plex Sans KR"/>
              <a:sym typeface="IBM Plex Sans KR"/>
            </a:endParaRPr>
          </a:p>
          <a:p>
            <a:pPr indent="0" lvl="0" marL="457200" rtl="0" algn="l">
              <a:lnSpc>
                <a:spcPct val="115000"/>
              </a:lnSpc>
              <a:spcBef>
                <a:spcPts val="0"/>
              </a:spcBef>
              <a:spcAft>
                <a:spcPts val="0"/>
              </a:spcAft>
              <a:buNone/>
            </a:pPr>
            <a:r>
              <a:rPr lang="ko" sz="1100">
                <a:solidFill>
                  <a:schemeClr val="dk1"/>
                </a:solidFill>
                <a:latin typeface="IBM Plex Sans KR"/>
                <a:ea typeface="IBM Plex Sans KR"/>
                <a:cs typeface="IBM Plex Sans KR"/>
                <a:sym typeface="IBM Plex Sans KR"/>
              </a:rPr>
              <a:t>이를 통해 숨은 의도의 근거와 수정 과정뿐 아니라 발화 이해, 상태 갱신, 정책 결정, 상품 탐색 및 재순위화가 각각 적절하게 수행되는지 분석하고자 한다.</a:t>
            </a:r>
            <a:endParaRPr sz="1100">
              <a:solidFill>
                <a:schemeClr val="dk1"/>
              </a:solidFill>
              <a:latin typeface="IBM Plex Sans KR"/>
              <a:ea typeface="IBM Plex Sans KR"/>
              <a:cs typeface="IBM Plex Sans KR"/>
              <a:sym typeface="IBM Plex Sans KR"/>
            </a:endParaRPr>
          </a:p>
          <a:p>
            <a:pPr indent="0" lvl="0" marL="457200" rtl="0" algn="l">
              <a:lnSpc>
                <a:spcPct val="115000"/>
              </a:lnSpc>
              <a:spcBef>
                <a:spcPts val="0"/>
              </a:spcBef>
              <a:spcAft>
                <a:spcPts val="0"/>
              </a:spcAft>
              <a:buNone/>
            </a:pPr>
            <a:r>
              <a:t/>
            </a:r>
            <a:endParaRPr sz="1200">
              <a:solidFill>
                <a:schemeClr val="dk1"/>
              </a:solidFill>
              <a:latin typeface="IBM Plex Sans KR"/>
              <a:ea typeface="IBM Plex Sans KR"/>
              <a:cs typeface="IBM Plex Sans KR"/>
              <a:sym typeface="IBM Plex Sans K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cxnSp>
        <p:nvCxnSpPr>
          <p:cNvPr id="224" name="Google Shape;224;p24"/>
          <p:cNvCxnSpPr/>
          <p:nvPr/>
        </p:nvCxnSpPr>
        <p:spPr>
          <a:xfrm>
            <a:off x="508000" y="4191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225" name="Google Shape;225;p24"/>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226" name="Google Shape;226;p24"/>
          <p:cNvSpPr txBox="1"/>
          <p:nvPr/>
        </p:nvSpPr>
        <p:spPr>
          <a:xfrm>
            <a:off x="527050" y="596900"/>
            <a:ext cx="2710800" cy="396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1300"/>
              <a:buFont typeface="Arial"/>
              <a:buNone/>
            </a:pPr>
            <a:r>
              <a:rPr b="0" i="0" lang="ko" sz="1300" u="none" cap="none" strike="noStrike">
                <a:solidFill>
                  <a:srgbClr val="787878"/>
                </a:solidFill>
                <a:latin typeface="IBM Plex Sans"/>
                <a:ea typeface="IBM Plex Sans"/>
                <a:cs typeface="IBM Plex Sans"/>
                <a:sym typeface="IBM Plex Sans"/>
              </a:rPr>
              <a:t>DEPARTMENT OF DATA SCIENCE</a:t>
            </a:r>
            <a:endParaRPr b="0" i="0" sz="1400" u="none" cap="none" strike="noStrike">
              <a:solidFill>
                <a:srgbClr val="000000"/>
              </a:solidFill>
              <a:latin typeface="IBM Plex Sans"/>
              <a:ea typeface="IBM Plex Sans"/>
              <a:cs typeface="IBM Plex Sans"/>
              <a:sym typeface="IBM Plex Sans"/>
            </a:endParaRPr>
          </a:p>
          <a:p>
            <a:pPr indent="0" lvl="0" marL="0" marR="0" rtl="0" algn="l">
              <a:lnSpc>
                <a:spcPct val="120000"/>
              </a:lnSpc>
              <a:spcBef>
                <a:spcPts val="0"/>
              </a:spcBef>
              <a:spcAft>
                <a:spcPts val="0"/>
              </a:spcAft>
              <a:buClr>
                <a:srgbClr val="000000"/>
              </a:buClr>
              <a:buSzPts val="1300"/>
              <a:buFont typeface="Arial"/>
              <a:buNone/>
            </a:pPr>
            <a:r>
              <a:rPr b="0" i="0" lang="ko" sz="1300" u="none" cap="none" strike="noStrike">
                <a:solidFill>
                  <a:srgbClr val="787878"/>
                </a:solidFill>
                <a:latin typeface="IBM Plex Sans"/>
                <a:ea typeface="IBM Plex Sans"/>
                <a:cs typeface="IBM Plex Sans"/>
                <a:sym typeface="IBM Plex Sans"/>
              </a:rPr>
              <a:t>HANYANG UNIVERSITY</a:t>
            </a:r>
            <a:endParaRPr b="0" i="0" sz="1400" u="none" cap="none" strike="noStrike">
              <a:solidFill>
                <a:srgbClr val="000000"/>
              </a:solidFill>
              <a:latin typeface="IBM Plex Sans"/>
              <a:ea typeface="IBM Plex Sans"/>
              <a:cs typeface="IBM Plex Sans"/>
              <a:sym typeface="IBM Plex Sans"/>
            </a:endParaRPr>
          </a:p>
        </p:txBody>
      </p:sp>
      <p:sp>
        <p:nvSpPr>
          <p:cNvPr id="227" name="Google Shape;227;p24"/>
          <p:cNvSpPr txBox="1"/>
          <p:nvPr/>
        </p:nvSpPr>
        <p:spPr>
          <a:xfrm>
            <a:off x="527050" y="1854150"/>
            <a:ext cx="7886700" cy="405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500"/>
              <a:buFont typeface="Arial"/>
              <a:buNone/>
            </a:pPr>
            <a:r>
              <a:rPr b="1" lang="ko" sz="1800">
                <a:solidFill>
                  <a:srgbClr val="595959"/>
                </a:solidFill>
                <a:latin typeface="IBM Plex Sans"/>
                <a:ea typeface="IBM Plex Sans"/>
                <a:cs typeface="IBM Plex Sans"/>
                <a:sym typeface="IBM Plex Sans"/>
              </a:rPr>
              <a:t>개선된 연구 내용 - 사용자 요구 변화를 추적하는 다중 턴 쇼핑 에이전트</a:t>
            </a:r>
            <a:endParaRPr b="1" i="0" sz="1800" u="none" cap="none" strike="noStrike">
              <a:solidFill>
                <a:srgbClr val="595959"/>
              </a:solidFill>
              <a:latin typeface="IBM Plex Sans"/>
              <a:ea typeface="IBM Plex Sans"/>
              <a:cs typeface="IBM Plex Sans"/>
              <a:sym typeface="IBM Plex Sans"/>
            </a:endParaRPr>
          </a:p>
        </p:txBody>
      </p:sp>
      <p:sp>
        <p:nvSpPr>
          <p:cNvPr id="228" name="Google Shape;228;p24"/>
          <p:cNvSpPr txBox="1"/>
          <p:nvPr/>
        </p:nvSpPr>
        <p:spPr>
          <a:xfrm>
            <a:off x="539750" y="4838700"/>
            <a:ext cx="2746200" cy="126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IBM Plex Sans"/>
                <a:ea typeface="IBM Plex Sans"/>
                <a:cs typeface="IBM Plex Sans"/>
                <a:sym typeface="IBM Plex Sans"/>
              </a:rPr>
              <a:t>H</a:t>
            </a:r>
            <a:r>
              <a:rPr b="0" i="0" lang="ko" sz="1000" u="none" cap="none" strike="noStrike">
                <a:solidFill>
                  <a:srgbClr val="787878"/>
                </a:solidFill>
                <a:latin typeface="IBM Plex Sans"/>
                <a:ea typeface="IBM Plex Sans"/>
                <a:cs typeface="IBM Plex Sans"/>
                <a:sym typeface="IBM Plex Sans"/>
              </a:rPr>
              <a:t>anyang </a:t>
            </a:r>
            <a:r>
              <a:rPr b="0" i="0" lang="ko" sz="1000" u="none" cap="none" strike="noStrike">
                <a:solidFill>
                  <a:srgbClr val="3452F0"/>
                </a:solidFill>
                <a:latin typeface="IBM Plex Sans"/>
                <a:ea typeface="IBM Plex Sans"/>
                <a:cs typeface="IBM Plex Sans"/>
                <a:sym typeface="IBM Plex Sans"/>
              </a:rPr>
              <a:t>H</a:t>
            </a:r>
            <a:r>
              <a:rPr b="0" i="0" lang="ko" sz="1000" u="none" cap="none" strike="noStrike">
                <a:solidFill>
                  <a:srgbClr val="787878"/>
                </a:solidFill>
                <a:latin typeface="IBM Plex Sans"/>
                <a:ea typeface="IBM Plex Sans"/>
                <a:cs typeface="IBM Plex Sans"/>
                <a:sym typeface="IBM Plex Sans"/>
              </a:rPr>
              <a:t>uman </a:t>
            </a:r>
            <a:r>
              <a:rPr b="0" i="0" lang="ko" sz="1000" u="none" cap="none" strike="noStrike">
                <a:solidFill>
                  <a:srgbClr val="3452F0"/>
                </a:solidFill>
                <a:latin typeface="IBM Plex Sans"/>
                <a:ea typeface="IBM Plex Sans"/>
                <a:cs typeface="IBM Plex Sans"/>
                <a:sym typeface="IBM Plex Sans"/>
              </a:rPr>
              <a:t>C</a:t>
            </a:r>
            <a:r>
              <a:rPr b="0" i="0" lang="ko" sz="1000" u="none" cap="none" strike="noStrike">
                <a:solidFill>
                  <a:srgbClr val="787878"/>
                </a:solidFill>
                <a:latin typeface="IBM Plex Sans"/>
                <a:ea typeface="IBM Plex Sans"/>
                <a:cs typeface="IBM Plex Sans"/>
                <a:sym typeface="IBM Plex Sans"/>
              </a:rPr>
              <a:t>entered Computing </a:t>
            </a:r>
            <a:r>
              <a:rPr b="0" i="0" lang="ko" sz="1000" u="none" cap="none" strike="noStrike">
                <a:solidFill>
                  <a:srgbClr val="3452F0"/>
                </a:solidFill>
                <a:latin typeface="IBM Plex Sans"/>
                <a:ea typeface="IBM Plex Sans"/>
                <a:cs typeface="IBM Plex Sans"/>
                <a:sym typeface="IBM Plex Sans"/>
              </a:rPr>
              <a:t>L</a:t>
            </a:r>
            <a:r>
              <a:rPr b="0" i="0" lang="ko" sz="1000" u="none" cap="none" strike="noStrike">
                <a:solidFill>
                  <a:srgbClr val="787878"/>
                </a:solidFill>
                <a:latin typeface="IBM Plex Sans"/>
                <a:ea typeface="IBM Plex Sans"/>
                <a:cs typeface="IBM Plex Sans"/>
                <a:sym typeface="IBM Plex Sans"/>
              </a:rPr>
              <a:t>ab</a:t>
            </a:r>
            <a:endParaRPr b="0" i="0" sz="1400" u="none" cap="none" strike="noStrike">
              <a:solidFill>
                <a:srgbClr val="000000"/>
              </a:solidFill>
              <a:latin typeface="IBM Plex Sans"/>
              <a:ea typeface="IBM Plex Sans"/>
              <a:cs typeface="IBM Plex Sans"/>
              <a:sym typeface="IBM Plex Sans"/>
            </a:endParaRPr>
          </a:p>
        </p:txBody>
      </p:sp>
      <p:sp>
        <p:nvSpPr>
          <p:cNvPr id="229" name="Google Shape;229;p2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ko"/>
              <a:t>‹#›</a:t>
            </a:fld>
            <a:endParaRPr/>
          </a:p>
        </p:txBody>
      </p:sp>
      <p:pic>
        <p:nvPicPr>
          <p:cNvPr descr="logo.png" id="230" name="Google Shape;230;p24"/>
          <p:cNvPicPr preferRelativeResize="0"/>
          <p:nvPr/>
        </p:nvPicPr>
        <p:blipFill rotWithShape="1">
          <a:blip r:embed="rId3">
            <a:alphaModFix/>
          </a:blip>
          <a:srcRect b="0" l="0" r="0" t="0"/>
          <a:stretch/>
        </p:blipFill>
        <p:spPr>
          <a:xfrm>
            <a:off x="7734300" y="4067056"/>
            <a:ext cx="774700" cy="38989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cxnSp>
        <p:nvCxnSpPr>
          <p:cNvPr id="236" name="Google Shape;236;p25"/>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237" name="Google Shape;237;p25"/>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238" name="Google Shape;238;p25"/>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239" name="Google Shape;239;p2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ko"/>
              <a:t>‹#›</a:t>
            </a:fld>
            <a:endParaRPr/>
          </a:p>
        </p:txBody>
      </p:sp>
      <p:sp>
        <p:nvSpPr>
          <p:cNvPr id="240" name="Google Shape;240;p25"/>
          <p:cNvSpPr txBox="1"/>
          <p:nvPr/>
        </p:nvSpPr>
        <p:spPr>
          <a:xfrm>
            <a:off x="547425" y="574764"/>
            <a:ext cx="1558200" cy="45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실험 환경 구성</a:t>
            </a:r>
            <a:endParaRPr b="0" i="0" sz="1800" u="none" cap="none" strike="noStrike">
              <a:solidFill>
                <a:schemeClr val="dk1"/>
              </a:solidFill>
              <a:latin typeface="IBM Plex Sans KR"/>
              <a:ea typeface="IBM Plex Sans KR"/>
              <a:cs typeface="IBM Plex Sans KR"/>
              <a:sym typeface="IBM Plex Sans KR"/>
            </a:endParaRPr>
          </a:p>
        </p:txBody>
      </p:sp>
      <p:pic>
        <p:nvPicPr>
          <p:cNvPr descr="logo.png" id="241" name="Google Shape;241;p25"/>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sp>
        <p:nvSpPr>
          <p:cNvPr id="242" name="Google Shape;242;p25"/>
          <p:cNvSpPr txBox="1"/>
          <p:nvPr/>
        </p:nvSpPr>
        <p:spPr>
          <a:xfrm>
            <a:off x="508000" y="1183802"/>
            <a:ext cx="7947900" cy="29610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IBM Plex Sans KR"/>
              <a:buChar char="●"/>
            </a:pPr>
            <a:r>
              <a:rPr lang="ko" sz="1200">
                <a:solidFill>
                  <a:schemeClr val="dk1"/>
                </a:solidFill>
                <a:latin typeface="IBM Plex Sans KR"/>
                <a:ea typeface="IBM Plex Sans KR"/>
                <a:cs typeface="IBM Plex Sans KR"/>
                <a:sym typeface="IBM Plex Sans KR"/>
              </a:rPr>
              <a:t>Data Set: </a:t>
            </a:r>
            <a:endParaRPr sz="1200">
              <a:solidFill>
                <a:schemeClr val="dk1"/>
              </a:solidFill>
              <a:latin typeface="IBM Plex Sans KR"/>
              <a:ea typeface="IBM Plex Sans KR"/>
              <a:cs typeface="IBM Plex Sans KR"/>
              <a:sym typeface="IBM Plex Sans KR"/>
            </a:endParaRPr>
          </a:p>
          <a:p>
            <a:pPr indent="0" lvl="0" marL="457200" rtl="0" algn="l">
              <a:spcBef>
                <a:spcPts val="0"/>
              </a:spcBef>
              <a:spcAft>
                <a:spcPts val="0"/>
              </a:spcAft>
              <a:buNone/>
            </a:pPr>
            <a:r>
              <a:rPr lang="ko" sz="1000">
                <a:solidFill>
                  <a:schemeClr val="dk1"/>
                </a:solidFill>
                <a:latin typeface="IBM Plex Sans KR"/>
                <a:ea typeface="IBM Plex Sans KR"/>
                <a:cs typeface="IBM Plex Sans KR"/>
                <a:sym typeface="IBM Plex Sans KR"/>
              </a:rPr>
              <a:t>Amazon Reviews 2023 Electronics에서 태블릿 본체를 선별하고, 중복 제거 후 </a:t>
            </a:r>
            <a:endParaRPr sz="1000">
              <a:solidFill>
                <a:schemeClr val="dk1"/>
              </a:solidFill>
              <a:latin typeface="IBM Plex Sans KR"/>
              <a:ea typeface="IBM Plex Sans KR"/>
              <a:cs typeface="IBM Plex Sans KR"/>
              <a:sym typeface="IBM Plex Sans KR"/>
            </a:endParaRPr>
          </a:p>
          <a:p>
            <a:pPr indent="0" lvl="0" marL="457200" rtl="0" algn="l">
              <a:spcBef>
                <a:spcPts val="0"/>
              </a:spcBef>
              <a:spcAft>
                <a:spcPts val="0"/>
              </a:spcAft>
              <a:buNone/>
            </a:pPr>
            <a:r>
              <a:rPr lang="ko" sz="1000">
                <a:solidFill>
                  <a:schemeClr val="dk1"/>
                </a:solidFill>
                <a:latin typeface="IBM Plex Sans KR"/>
                <a:ea typeface="IBM Plex Sans KR"/>
                <a:cs typeface="IBM Plex Sans KR"/>
                <a:sym typeface="IBM Plex Sans KR"/>
              </a:rPr>
              <a:t>상품당 최소 20개의 실제 리뷰가 확보된 117개 상품·7,552개 리뷰의 태블릿 카탈로그를 구축</a:t>
            </a:r>
            <a:endParaRPr sz="10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200">
              <a:solidFill>
                <a:schemeClr val="dk1"/>
              </a:solidFill>
              <a:latin typeface="IBM Plex Sans KR"/>
              <a:ea typeface="IBM Plex Sans KR"/>
              <a:cs typeface="IBM Plex Sans KR"/>
              <a:sym typeface="IBM Plex Sans KR"/>
            </a:endParaRPr>
          </a:p>
          <a:p>
            <a:pPr indent="-304800" lvl="0" marL="457200" rtl="0" algn="l">
              <a:spcBef>
                <a:spcPts val="0"/>
              </a:spcBef>
              <a:spcAft>
                <a:spcPts val="0"/>
              </a:spcAft>
              <a:buClr>
                <a:schemeClr val="dk1"/>
              </a:buClr>
              <a:buSzPts val="1200"/>
              <a:buFont typeface="IBM Plex Sans KR"/>
              <a:buChar char="●"/>
            </a:pPr>
            <a:r>
              <a:rPr lang="ko" sz="1200">
                <a:solidFill>
                  <a:schemeClr val="dk1"/>
                </a:solidFill>
                <a:latin typeface="IBM Plex Sans KR"/>
                <a:ea typeface="IBM Plex Sans KR"/>
                <a:cs typeface="IBM Plex Sans KR"/>
                <a:sym typeface="IBM Plex Sans KR"/>
              </a:rPr>
              <a:t>Episode:</a:t>
            </a:r>
            <a:endParaRPr sz="1200">
              <a:solidFill>
                <a:schemeClr val="dk1"/>
              </a:solidFill>
              <a:latin typeface="IBM Plex Sans KR"/>
              <a:ea typeface="IBM Plex Sans KR"/>
              <a:cs typeface="IBM Plex Sans KR"/>
              <a:sym typeface="IBM Plex Sans KR"/>
            </a:endParaRPr>
          </a:p>
          <a:p>
            <a:pPr indent="0" lvl="0" marL="457200" rtl="0" algn="l">
              <a:spcBef>
                <a:spcPts val="0"/>
              </a:spcBef>
              <a:spcAft>
                <a:spcPts val="0"/>
              </a:spcAft>
              <a:buNone/>
            </a:pPr>
            <a:r>
              <a:rPr lang="ko" sz="1000">
                <a:solidFill>
                  <a:schemeClr val="dk1"/>
                </a:solidFill>
                <a:latin typeface="IBM Plex Sans KR"/>
                <a:ea typeface="IBM Plex Sans KR"/>
                <a:cs typeface="IBM Plex Sans KR"/>
                <a:sym typeface="IBM Plex Sans KR"/>
              </a:rPr>
              <a:t>태블릿을 구매하려는 소비자를 가정한 영어 시나리오 20개, 총 81턴. </a:t>
            </a:r>
            <a:endParaRPr sz="1000">
              <a:solidFill>
                <a:schemeClr val="dk1"/>
              </a:solidFill>
              <a:latin typeface="IBM Plex Sans KR"/>
              <a:ea typeface="IBM Plex Sans KR"/>
              <a:cs typeface="IBM Plex Sans KR"/>
              <a:sym typeface="IBM Plex Sans KR"/>
            </a:endParaRPr>
          </a:p>
          <a:p>
            <a:pPr indent="0" lvl="0" marL="457200" rtl="0" algn="l">
              <a:spcBef>
                <a:spcPts val="0"/>
              </a:spcBef>
              <a:spcAft>
                <a:spcPts val="0"/>
              </a:spcAft>
              <a:buNone/>
            </a:pPr>
            <a:r>
              <a:rPr lang="ko" sz="1000">
                <a:solidFill>
                  <a:schemeClr val="dk1"/>
                </a:solidFill>
                <a:latin typeface="IBM Plex Sans KR"/>
                <a:ea typeface="IBM Plex Sans KR"/>
                <a:cs typeface="IBM Plex Sans KR"/>
                <a:sym typeface="IBM Plex Sans KR"/>
              </a:rPr>
              <a:t>사용자와 에이전트의 대화 속에서 예산·용량·용도 등의 조건이 하나씩 쌓이고, 중간에 조건을 바꾸거나 추천받은 상품을 거절.</a:t>
            </a:r>
            <a:endParaRPr sz="800">
              <a:solidFill>
                <a:schemeClr val="dk1"/>
              </a:solidFill>
              <a:latin typeface="IBM Plex Sans KR"/>
              <a:ea typeface="IBM Plex Sans KR"/>
              <a:cs typeface="IBM Plex Sans KR"/>
              <a:sym typeface="IBM Plex Sans KR"/>
            </a:endParaRPr>
          </a:p>
          <a:p>
            <a:pPr indent="0" lvl="0" marL="457200" rtl="0" algn="l">
              <a:spcBef>
                <a:spcPts val="0"/>
              </a:spcBef>
              <a:spcAft>
                <a:spcPts val="0"/>
              </a:spcAft>
              <a:buNone/>
            </a:pPr>
            <a:r>
              <a:t/>
            </a:r>
            <a:endParaRPr sz="1000">
              <a:solidFill>
                <a:schemeClr val="dk1"/>
              </a:solidFill>
              <a:latin typeface="IBM Plex Sans KR"/>
              <a:ea typeface="IBM Plex Sans KR"/>
              <a:cs typeface="IBM Plex Sans KR"/>
              <a:sym typeface="IBM Plex Sans KR"/>
            </a:endParaRPr>
          </a:p>
          <a:p>
            <a:pPr indent="-304800" lvl="0" marL="457200" rtl="0" algn="l">
              <a:spcBef>
                <a:spcPts val="0"/>
              </a:spcBef>
              <a:spcAft>
                <a:spcPts val="0"/>
              </a:spcAft>
              <a:buClr>
                <a:schemeClr val="dk1"/>
              </a:buClr>
              <a:buSzPts val="1200"/>
              <a:buFont typeface="IBM Plex Sans KR"/>
              <a:buChar char="●"/>
            </a:pPr>
            <a:r>
              <a:rPr lang="ko" sz="1200">
                <a:solidFill>
                  <a:schemeClr val="dk1"/>
                </a:solidFill>
                <a:latin typeface="IBM Plex Sans KR"/>
                <a:ea typeface="IBM Plex Sans KR"/>
                <a:cs typeface="IBM Plex Sans KR"/>
                <a:sym typeface="IBM Plex Sans KR"/>
              </a:rPr>
              <a:t>WorkFlow:</a:t>
            </a:r>
            <a:endParaRPr sz="1200">
              <a:solidFill>
                <a:schemeClr val="dk1"/>
              </a:solidFill>
              <a:latin typeface="IBM Plex Sans KR"/>
              <a:ea typeface="IBM Plex Sans KR"/>
              <a:cs typeface="IBM Plex Sans KR"/>
              <a:sym typeface="IBM Plex Sans KR"/>
            </a:endParaRPr>
          </a:p>
          <a:p>
            <a:pPr indent="0" lvl="0" marL="457200" rtl="0" algn="l">
              <a:spcBef>
                <a:spcPts val="0"/>
              </a:spcBef>
              <a:spcAft>
                <a:spcPts val="0"/>
              </a:spcAft>
              <a:buNone/>
            </a:pPr>
            <a:r>
              <a:rPr lang="ko" sz="1000">
                <a:solidFill>
                  <a:schemeClr val="dk1"/>
                </a:solidFill>
                <a:latin typeface="IBM Plex Sans KR"/>
                <a:ea typeface="IBM Plex Sans KR"/>
                <a:cs typeface="IBM Plex Sans KR"/>
                <a:sym typeface="IBM Plex Sans KR"/>
              </a:rPr>
              <a:t>LangGraph를 활용하여 SPN의 Understanding·Policy·Response와 RA-Rec의 State Update·Query·Ranking을 명시적인 노드로 구성하고, Policy가 정보 충분도에 따라 재질문 또는 추천 경로를 선택하도록 구현.</a:t>
            </a:r>
            <a:endParaRPr sz="1000">
              <a:solidFill>
                <a:schemeClr val="dk1"/>
              </a:solidFill>
              <a:latin typeface="IBM Plex Sans KR"/>
              <a:ea typeface="IBM Plex Sans KR"/>
              <a:cs typeface="IBM Plex Sans KR"/>
              <a:sym typeface="IBM Plex Sans KR"/>
            </a:endParaRPr>
          </a:p>
          <a:p>
            <a:pPr indent="0" lvl="0" marL="457200" rtl="0" algn="l">
              <a:spcBef>
                <a:spcPts val="0"/>
              </a:spcBef>
              <a:spcAft>
                <a:spcPts val="0"/>
              </a:spcAft>
              <a:buNone/>
            </a:pPr>
            <a:r>
              <a:t/>
            </a:r>
            <a:endParaRPr sz="1000">
              <a:solidFill>
                <a:schemeClr val="dk1"/>
              </a:solidFill>
              <a:latin typeface="IBM Plex Sans KR"/>
              <a:ea typeface="IBM Plex Sans KR"/>
              <a:cs typeface="IBM Plex Sans KR"/>
              <a:sym typeface="IBM Plex Sans KR"/>
            </a:endParaRPr>
          </a:p>
          <a:p>
            <a:pPr indent="-304800" lvl="0" marL="457200" rtl="0" algn="l">
              <a:spcBef>
                <a:spcPts val="0"/>
              </a:spcBef>
              <a:spcAft>
                <a:spcPts val="0"/>
              </a:spcAft>
              <a:buClr>
                <a:schemeClr val="dk1"/>
              </a:buClr>
              <a:buSzPts val="1200"/>
              <a:buFont typeface="IBM Plex Sans KR"/>
              <a:buChar char="●"/>
            </a:pPr>
            <a:r>
              <a:rPr lang="ko" sz="1200">
                <a:solidFill>
                  <a:schemeClr val="dk1"/>
                </a:solidFill>
                <a:latin typeface="IBM Plex Sans KR"/>
                <a:ea typeface="IBM Plex Sans KR"/>
                <a:cs typeface="IBM Plex Sans KR"/>
                <a:sym typeface="IBM Plex Sans KR"/>
              </a:rPr>
              <a:t>Model:</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rPr lang="ko" sz="1200">
                <a:solidFill>
                  <a:schemeClr val="dk1"/>
                </a:solidFill>
                <a:latin typeface="IBM Plex Sans KR"/>
                <a:ea typeface="IBM Plex Sans KR"/>
                <a:cs typeface="IBM Plex Sans KR"/>
                <a:sym typeface="IBM Plex Sans KR"/>
              </a:rPr>
              <a:t>	</a:t>
            </a:r>
            <a:r>
              <a:rPr lang="ko" sz="1000">
                <a:solidFill>
                  <a:schemeClr val="dk1"/>
                </a:solidFill>
                <a:latin typeface="IBM Plex Sans KR"/>
                <a:ea typeface="IBM Plex Sans KR"/>
                <a:cs typeface="IBM Plex Sans KR"/>
                <a:sym typeface="IBM Plex Sans KR"/>
              </a:rPr>
              <a:t>GPT-4o-mini : 사용자 발화 이해(Understanding)와 추가 질문(Clarify), 그리고 계산된 추천 결과를 바탕으로 사용자용 응답 생성</a:t>
            </a:r>
            <a:endParaRPr sz="10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rPr lang="ko" sz="1000">
                <a:solidFill>
                  <a:schemeClr val="dk1"/>
                </a:solidFill>
                <a:latin typeface="IBM Plex Sans KR"/>
                <a:ea typeface="IBM Plex Sans KR"/>
                <a:cs typeface="IBM Plex Sans KR"/>
                <a:sym typeface="IBM Plex Sans KR"/>
              </a:rPr>
              <a:t>	all-MiniLM-L6-v2 Bi-encoder : Recommend Lane에서 Dialogue State로 생성된 질의와 의미적으로 유사한 리뷰 후보를 빠르게 검색</a:t>
            </a:r>
            <a:endParaRPr sz="10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rPr lang="ko" sz="1000">
                <a:solidFill>
                  <a:schemeClr val="dk1"/>
                </a:solidFill>
                <a:latin typeface="IBM Plex Sans KR"/>
                <a:ea typeface="IBM Plex Sans KR"/>
                <a:cs typeface="IBM Plex Sans KR"/>
                <a:sym typeface="IBM Plex Sans KR"/>
              </a:rPr>
              <a:t>	ms-marco-MiniLM-L6-v2 Cross-Encoder : Bi-encoder가 선별한 질의–리뷰 쌍의 관련도를 정밀하게 재평가하여 리뷰 순위를 조정</a:t>
            </a:r>
            <a:endParaRPr sz="10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000">
              <a:solidFill>
                <a:schemeClr val="dk1"/>
              </a:solidFill>
              <a:latin typeface="IBM Plex Sans KR"/>
              <a:ea typeface="IBM Plex Sans KR"/>
              <a:cs typeface="IBM Plex Sans KR"/>
              <a:sym typeface="IBM Plex Sans K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cxnSp>
        <p:nvCxnSpPr>
          <p:cNvPr id="248" name="Google Shape;248;p26"/>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249" name="Google Shape;249;p26"/>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250" name="Google Shape;250;p26"/>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251" name="Google Shape;251;p2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ko"/>
              <a:t>‹#›</a:t>
            </a:fld>
            <a:endParaRPr/>
          </a:p>
        </p:txBody>
      </p:sp>
      <p:sp>
        <p:nvSpPr>
          <p:cNvPr id="252" name="Google Shape;252;p26"/>
          <p:cNvSpPr txBox="1"/>
          <p:nvPr/>
        </p:nvSpPr>
        <p:spPr>
          <a:xfrm>
            <a:off x="547425" y="535575"/>
            <a:ext cx="3715200" cy="36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Gold Annotation</a:t>
            </a:r>
            <a:endParaRPr b="0" i="0" sz="1800" u="none" cap="none" strike="noStrike">
              <a:solidFill>
                <a:schemeClr val="dk1"/>
              </a:solidFill>
              <a:latin typeface="IBM Plex Sans KR"/>
              <a:ea typeface="IBM Plex Sans KR"/>
              <a:cs typeface="IBM Plex Sans KR"/>
              <a:sym typeface="IBM Plex Sans KR"/>
            </a:endParaRPr>
          </a:p>
        </p:txBody>
      </p:sp>
      <p:pic>
        <p:nvPicPr>
          <p:cNvPr descr="logo.png" id="253" name="Google Shape;253;p26"/>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sp>
        <p:nvSpPr>
          <p:cNvPr id="254" name="Google Shape;254;p26"/>
          <p:cNvSpPr txBox="1"/>
          <p:nvPr/>
        </p:nvSpPr>
        <p:spPr>
          <a:xfrm>
            <a:off x="591700" y="933507"/>
            <a:ext cx="7947900" cy="9030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dk1"/>
              </a:buClr>
              <a:buSzPts val="1000"/>
              <a:buFont typeface="IBM Plex Sans KR"/>
              <a:buChar char="●"/>
            </a:pPr>
            <a:r>
              <a:rPr lang="ko" sz="1200">
                <a:solidFill>
                  <a:schemeClr val="dk1"/>
                </a:solidFill>
                <a:latin typeface="IBM Plex Sans KR"/>
                <a:ea typeface="IBM Plex Sans KR"/>
                <a:cs typeface="IBM Plex Sans KR"/>
                <a:sym typeface="IBM Plex Sans KR"/>
              </a:rPr>
              <a:t>SPN Shopping Agent와 RA-Rec은 대화형 쇼핑·추천을 위한 구체적인 에이전트 구조와 데모를 제시하지만,              다중 턴 상황에서 각 모듈의 수행을 정량적으로 평가할 수 있는 공통 벤치마크와 성능 지표는 제공하지 않는다. </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rPr lang="ko" sz="1200">
                <a:solidFill>
                  <a:schemeClr val="dk1"/>
                </a:solidFill>
                <a:latin typeface="IBM Plex Sans KR"/>
                <a:ea typeface="IBM Plex Sans KR"/>
                <a:cs typeface="IBM Plex Sans KR"/>
                <a:sym typeface="IBM Plex Sans KR"/>
              </a:rPr>
              <a:t>→ 각 에피소드별로 </a:t>
            </a:r>
            <a:r>
              <a:rPr b="1" lang="ko" sz="1200">
                <a:solidFill>
                  <a:schemeClr val="dk1"/>
                </a:solidFill>
                <a:latin typeface="IBM Plex Sans KR"/>
                <a:ea typeface="IBM Plex Sans KR"/>
                <a:cs typeface="IBM Plex Sans KR"/>
                <a:sym typeface="IBM Plex Sans KR"/>
              </a:rPr>
              <a:t>실험 전</a:t>
            </a:r>
            <a:r>
              <a:rPr lang="ko" sz="1200">
                <a:solidFill>
                  <a:schemeClr val="dk1"/>
                </a:solidFill>
                <a:latin typeface="IBM Plex Sans KR"/>
                <a:ea typeface="IBM Plex Sans KR"/>
                <a:cs typeface="IBM Plex Sans KR"/>
                <a:sym typeface="IBM Plex Sans KR"/>
              </a:rPr>
              <a:t>에 정해 둔 </a:t>
            </a:r>
            <a:r>
              <a:rPr b="1" lang="ko" sz="1200">
                <a:solidFill>
                  <a:schemeClr val="dk1"/>
                </a:solidFill>
                <a:latin typeface="IBM Plex Sans KR"/>
                <a:ea typeface="IBM Plex Sans KR"/>
                <a:cs typeface="IBM Plex Sans KR"/>
                <a:sym typeface="IBM Plex Sans KR"/>
              </a:rPr>
              <a:t>Gold Annotation</a:t>
            </a:r>
            <a:r>
              <a:rPr lang="ko" sz="1200">
                <a:solidFill>
                  <a:schemeClr val="dk1"/>
                </a:solidFill>
                <a:latin typeface="IBM Plex Sans KR"/>
                <a:ea typeface="IBM Plex Sans KR"/>
                <a:cs typeface="IBM Plex Sans KR"/>
                <a:sym typeface="IBM Plex Sans KR"/>
              </a:rPr>
              <a:t>과 실제 API 호출 후 </a:t>
            </a:r>
            <a:r>
              <a:rPr b="1" lang="ko" sz="1200">
                <a:solidFill>
                  <a:schemeClr val="dk1"/>
                </a:solidFill>
                <a:latin typeface="IBM Plex Sans KR"/>
                <a:ea typeface="IBM Plex Sans KR"/>
                <a:cs typeface="IBM Plex Sans KR"/>
                <a:sym typeface="IBM Plex Sans KR"/>
              </a:rPr>
              <a:t>시스템 출력</a:t>
            </a:r>
            <a:r>
              <a:rPr lang="ko" sz="1200">
                <a:solidFill>
                  <a:schemeClr val="dk1"/>
                </a:solidFill>
                <a:latin typeface="IBM Plex Sans KR"/>
                <a:ea typeface="IBM Plex Sans KR"/>
                <a:cs typeface="IBM Plex Sans KR"/>
                <a:sym typeface="IBM Plex Sans KR"/>
              </a:rPr>
              <a:t>을 </a:t>
            </a:r>
            <a:r>
              <a:rPr b="1" lang="ko" sz="1200">
                <a:solidFill>
                  <a:schemeClr val="dk1"/>
                </a:solidFill>
                <a:latin typeface="IBM Plex Sans KR"/>
                <a:ea typeface="IBM Plex Sans KR"/>
                <a:cs typeface="IBM Plex Sans KR"/>
                <a:sym typeface="IBM Plex Sans KR"/>
              </a:rPr>
              <a:t>비교</a:t>
            </a:r>
            <a:r>
              <a:rPr lang="ko" sz="1200">
                <a:solidFill>
                  <a:schemeClr val="dk1"/>
                </a:solidFill>
                <a:latin typeface="IBM Plex Sans KR"/>
                <a:ea typeface="IBM Plex Sans KR"/>
                <a:cs typeface="IBM Plex Sans KR"/>
                <a:sym typeface="IBM Plex Sans KR"/>
              </a:rPr>
              <a:t>하는 방식으로 평가를 진행</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000">
              <a:solidFill>
                <a:schemeClr val="dk1"/>
              </a:solidFill>
              <a:latin typeface="IBM Plex Sans KR"/>
              <a:ea typeface="IBM Plex Sans KR"/>
              <a:cs typeface="IBM Plex Sans KR"/>
              <a:sym typeface="IBM Plex Sans KR"/>
            </a:endParaRPr>
          </a:p>
        </p:txBody>
      </p:sp>
      <p:sp>
        <p:nvSpPr>
          <p:cNvPr id="255" name="Google Shape;255;p26"/>
          <p:cNvSpPr txBox="1"/>
          <p:nvPr/>
        </p:nvSpPr>
        <p:spPr>
          <a:xfrm>
            <a:off x="662482" y="1974035"/>
            <a:ext cx="7872600" cy="237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1200">
                <a:solidFill>
                  <a:schemeClr val="dk1"/>
                </a:solidFill>
                <a:latin typeface="IBM Plex Sans KR"/>
                <a:ea typeface="IBM Plex Sans KR"/>
                <a:cs typeface="IBM Plex Sans KR"/>
                <a:sym typeface="IBM Plex Sans KR"/>
              </a:rPr>
              <a:t>Gold Annotation : </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rPr lang="ko" sz="1200">
                <a:solidFill>
                  <a:schemeClr val="dk1"/>
                </a:solidFill>
                <a:latin typeface="IBM Plex Sans KR"/>
                <a:ea typeface="IBM Plex Sans KR"/>
                <a:cs typeface="IBM Plex Sans KR"/>
                <a:sym typeface="IBM Plex Sans KR"/>
              </a:rPr>
              <a:t>각 턴에서 사용자 발화를 시스템이 어떻게 이해하고 상태에 반영해야 하는지 적어놓은 답안으로 7개의 상위 유형으로 구분됨.</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200">
              <a:solidFill>
                <a:schemeClr val="dk1"/>
              </a:solidFill>
              <a:latin typeface="IBM Plex Sans KR"/>
              <a:ea typeface="IBM Plex Sans KR"/>
              <a:cs typeface="IBM Plex Sans KR"/>
              <a:sym typeface="IBM Plex Sans KR"/>
            </a:endParaRPr>
          </a:p>
          <a:p>
            <a:pPr indent="-298450" lvl="0" marL="457200" rtl="0" algn="l">
              <a:spcBef>
                <a:spcPts val="0"/>
              </a:spcBef>
              <a:spcAft>
                <a:spcPts val="0"/>
              </a:spcAft>
              <a:buClr>
                <a:schemeClr val="dk1"/>
              </a:buClr>
              <a:buSzPts val="1100"/>
              <a:buFont typeface="IBM Plex Sans KR"/>
              <a:buChar char="-"/>
            </a:pPr>
            <a:r>
              <a:rPr lang="ko" sz="1100">
                <a:solidFill>
                  <a:schemeClr val="dk1"/>
                </a:solidFill>
                <a:latin typeface="IBM Plex Sans KR"/>
                <a:ea typeface="IBM Plex Sans KR"/>
                <a:cs typeface="IBM Plex Sans KR"/>
                <a:sym typeface="IBM Plex Sans KR"/>
              </a:rPr>
              <a:t>Domain Route : 알맞은 상품을 탐색하였는가? </a:t>
            </a:r>
            <a:endParaRPr sz="1100">
              <a:solidFill>
                <a:schemeClr val="dk1"/>
              </a:solidFill>
              <a:latin typeface="IBM Plex Sans KR"/>
              <a:ea typeface="IBM Plex Sans KR"/>
              <a:cs typeface="IBM Plex Sans KR"/>
              <a:sym typeface="IBM Plex Sans KR"/>
            </a:endParaRPr>
          </a:p>
          <a:p>
            <a:pPr indent="-298450" lvl="0" marL="457200" rtl="0" algn="l">
              <a:spcBef>
                <a:spcPts val="0"/>
              </a:spcBef>
              <a:spcAft>
                <a:spcPts val="0"/>
              </a:spcAft>
              <a:buClr>
                <a:schemeClr val="dk1"/>
              </a:buClr>
              <a:buSzPts val="1100"/>
              <a:buFont typeface="IBM Plex Sans KR"/>
              <a:buChar char="-"/>
            </a:pPr>
            <a:r>
              <a:rPr lang="ko" sz="1100">
                <a:solidFill>
                  <a:schemeClr val="dk1"/>
                </a:solidFill>
                <a:latin typeface="IBM Plex Sans KR"/>
                <a:ea typeface="IBM Plex Sans KR"/>
                <a:cs typeface="IBM Plex Sans KR"/>
                <a:sym typeface="IBM Plex Sans KR"/>
              </a:rPr>
              <a:t>Intent : 사용자 발화의 목적을 정확하게 이해하였는가?</a:t>
            </a:r>
            <a:endParaRPr sz="1100">
              <a:solidFill>
                <a:schemeClr val="dk1"/>
              </a:solidFill>
              <a:latin typeface="IBM Plex Sans KR"/>
              <a:ea typeface="IBM Plex Sans KR"/>
              <a:cs typeface="IBM Plex Sans KR"/>
              <a:sym typeface="IBM Plex Sans KR"/>
            </a:endParaRPr>
          </a:p>
          <a:p>
            <a:pPr indent="-298450" lvl="0" marL="457200" rtl="0" algn="l">
              <a:spcBef>
                <a:spcPts val="0"/>
              </a:spcBef>
              <a:spcAft>
                <a:spcPts val="0"/>
              </a:spcAft>
              <a:buClr>
                <a:schemeClr val="dk1"/>
              </a:buClr>
              <a:buSzPts val="1100"/>
              <a:buFont typeface="IBM Plex Sans KR"/>
              <a:buChar char="-"/>
            </a:pPr>
            <a:r>
              <a:rPr lang="ko" sz="1100">
                <a:solidFill>
                  <a:schemeClr val="dk1"/>
                </a:solidFill>
                <a:latin typeface="IBM Plex Sans KR"/>
                <a:ea typeface="IBM Plex Sans KR"/>
                <a:cs typeface="IBM Plex Sans KR"/>
                <a:sym typeface="IBM Plex Sans KR"/>
              </a:rPr>
              <a:t>Dialogue State : 사용자의 피드백을 상태에 정확히 추가·변경하고, 이전 턴의 정보와 함께 누적했는가?</a:t>
            </a:r>
            <a:endParaRPr sz="1100">
              <a:solidFill>
                <a:schemeClr val="dk1"/>
              </a:solidFill>
              <a:latin typeface="IBM Plex Sans KR"/>
              <a:ea typeface="IBM Plex Sans KR"/>
              <a:cs typeface="IBM Plex Sans KR"/>
              <a:sym typeface="IBM Plex Sans KR"/>
            </a:endParaRPr>
          </a:p>
          <a:p>
            <a:pPr indent="-298450" lvl="0" marL="457200" rtl="0" algn="l">
              <a:spcBef>
                <a:spcPts val="0"/>
              </a:spcBef>
              <a:spcAft>
                <a:spcPts val="0"/>
              </a:spcAft>
              <a:buClr>
                <a:schemeClr val="dk1"/>
              </a:buClr>
              <a:buSzPts val="1100"/>
              <a:buFont typeface="IBM Plex Sans KR"/>
              <a:buChar char="-"/>
            </a:pPr>
            <a:r>
              <a:rPr lang="ko" sz="1100">
                <a:solidFill>
                  <a:schemeClr val="dk1"/>
                </a:solidFill>
                <a:latin typeface="IBM Plex Sans KR"/>
                <a:ea typeface="IBM Plex Sans KR"/>
                <a:cs typeface="IBM Plex Sans KR"/>
                <a:sym typeface="IBM Plex Sans KR"/>
              </a:rPr>
              <a:t>Policy : 현재 Dialogue State를 바탕으로 올바른 행동(Clarify / Recommend)을 수행하였는가?</a:t>
            </a:r>
            <a:endParaRPr sz="1100">
              <a:solidFill>
                <a:schemeClr val="dk1"/>
              </a:solidFill>
              <a:latin typeface="IBM Plex Sans KR"/>
              <a:ea typeface="IBM Plex Sans KR"/>
              <a:cs typeface="IBM Plex Sans KR"/>
              <a:sym typeface="IBM Plex Sans KR"/>
            </a:endParaRPr>
          </a:p>
          <a:p>
            <a:pPr indent="-298450" lvl="0" marL="457200" rtl="0" algn="l">
              <a:spcBef>
                <a:spcPts val="0"/>
              </a:spcBef>
              <a:spcAft>
                <a:spcPts val="0"/>
              </a:spcAft>
              <a:buClr>
                <a:schemeClr val="dk1"/>
              </a:buClr>
              <a:buSzPts val="1100"/>
              <a:buFont typeface="IBM Plex Sans KR"/>
              <a:buChar char="-"/>
            </a:pPr>
            <a:r>
              <a:rPr lang="ko" sz="1100">
                <a:solidFill>
                  <a:schemeClr val="dk1"/>
                </a:solidFill>
                <a:latin typeface="IBM Plex Sans KR"/>
                <a:ea typeface="IBM Plex Sans KR"/>
                <a:cs typeface="IBM Plex Sans KR"/>
                <a:sym typeface="IBM Plex Sans KR"/>
              </a:rPr>
              <a:t>Item Action : 사용자가 현재 추천 상품에 취한 행동을 올바르게 파악했는가?</a:t>
            </a:r>
            <a:endParaRPr sz="1100">
              <a:solidFill>
                <a:schemeClr val="dk1"/>
              </a:solidFill>
              <a:latin typeface="IBM Plex Sans KR"/>
              <a:ea typeface="IBM Plex Sans KR"/>
              <a:cs typeface="IBM Plex Sans KR"/>
              <a:sym typeface="IBM Plex Sans KR"/>
            </a:endParaRPr>
          </a:p>
          <a:p>
            <a:pPr indent="-298450" lvl="0" marL="457200" rtl="0" algn="l">
              <a:spcBef>
                <a:spcPts val="0"/>
              </a:spcBef>
              <a:spcAft>
                <a:spcPts val="0"/>
              </a:spcAft>
              <a:buClr>
                <a:schemeClr val="dk1"/>
              </a:buClr>
              <a:buSzPts val="1100"/>
              <a:buFont typeface="IBM Plex Sans KR"/>
              <a:buChar char="-"/>
            </a:pPr>
            <a:r>
              <a:rPr lang="ko" sz="1100">
                <a:solidFill>
                  <a:schemeClr val="dk1"/>
                </a:solidFill>
                <a:latin typeface="IBM Plex Sans KR"/>
                <a:ea typeface="IBM Plex Sans KR"/>
                <a:cs typeface="IBM Plex Sans KR"/>
                <a:sym typeface="IBM Plex Sans KR"/>
              </a:rPr>
              <a:t>Trade-off : 사용자가 어떤 조건을 우선시하고 어떤 조건을 타협했는지 이해했는가?</a:t>
            </a:r>
            <a:endParaRPr sz="1100">
              <a:solidFill>
                <a:schemeClr val="dk1"/>
              </a:solidFill>
              <a:latin typeface="IBM Plex Sans KR"/>
              <a:ea typeface="IBM Plex Sans KR"/>
              <a:cs typeface="IBM Plex Sans KR"/>
              <a:sym typeface="IBM Plex Sans KR"/>
            </a:endParaRPr>
          </a:p>
          <a:p>
            <a:pPr indent="-298450" lvl="0" marL="457200" rtl="0" algn="l">
              <a:spcBef>
                <a:spcPts val="0"/>
              </a:spcBef>
              <a:spcAft>
                <a:spcPts val="0"/>
              </a:spcAft>
              <a:buClr>
                <a:schemeClr val="dk1"/>
              </a:buClr>
              <a:buSzPts val="1100"/>
              <a:buFont typeface="IBM Plex Sans KR"/>
              <a:buChar char="-"/>
            </a:pPr>
            <a:r>
              <a:rPr lang="ko" sz="1100">
                <a:solidFill>
                  <a:schemeClr val="dk1"/>
                </a:solidFill>
                <a:latin typeface="IBM Plex Sans KR"/>
                <a:ea typeface="IBM Plex Sans KR"/>
                <a:cs typeface="IBM Plex Sans KR"/>
                <a:sym typeface="IBM Plex Sans KR"/>
              </a:rPr>
              <a:t>Hard Filter : 반드시 만족해야 하는 조건을 실제 상품 검색 필터로 정확하게 변환했는가?</a:t>
            </a:r>
            <a:endParaRPr sz="11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200">
              <a:solidFill>
                <a:schemeClr val="dk1"/>
              </a:solidFill>
              <a:latin typeface="IBM Plex Sans KR"/>
              <a:ea typeface="IBM Plex Sans KR"/>
              <a:cs typeface="IBM Plex Sans KR"/>
              <a:sym typeface="IBM Plex Sans KR"/>
            </a:endParaRPr>
          </a:p>
        </p:txBody>
      </p:sp>
      <p:sp>
        <p:nvSpPr>
          <p:cNvPr id="256" name="Google Shape;256;p26"/>
          <p:cNvSpPr txBox="1"/>
          <p:nvPr/>
        </p:nvSpPr>
        <p:spPr>
          <a:xfrm>
            <a:off x="4262700" y="1897325"/>
            <a:ext cx="2037000" cy="81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cxnSp>
        <p:nvCxnSpPr>
          <p:cNvPr id="262" name="Google Shape;262;p27"/>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263" name="Google Shape;263;p27"/>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264" name="Google Shape;264;p27"/>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265" name="Google Shape;265;p2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ko"/>
              <a:t>‹#›</a:t>
            </a:fld>
            <a:endParaRPr/>
          </a:p>
        </p:txBody>
      </p:sp>
      <p:sp>
        <p:nvSpPr>
          <p:cNvPr id="266" name="Google Shape;266;p27"/>
          <p:cNvSpPr txBox="1"/>
          <p:nvPr/>
        </p:nvSpPr>
        <p:spPr>
          <a:xfrm>
            <a:off x="547425" y="535575"/>
            <a:ext cx="8076000" cy="36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Main Experiment</a:t>
            </a:r>
            <a:endParaRPr sz="1800">
              <a:solidFill>
                <a:schemeClr val="dk1"/>
              </a:solidFill>
              <a:latin typeface="IBM Plex Sans KR"/>
              <a:ea typeface="IBM Plex Sans KR"/>
              <a:cs typeface="IBM Plex Sans KR"/>
              <a:sym typeface="IBM Plex Sans KR"/>
            </a:endParaRPr>
          </a:p>
          <a:p>
            <a:pPr indent="0" lvl="0" marL="0" rtl="0" algn="l">
              <a:lnSpc>
                <a:spcPct val="115000"/>
              </a:lnSpc>
              <a:spcBef>
                <a:spcPts val="1200"/>
              </a:spcBef>
              <a:spcAft>
                <a:spcPts val="0"/>
              </a:spcAft>
              <a:buClr>
                <a:schemeClr val="dk1"/>
              </a:buClr>
              <a:buSzPts val="1100"/>
              <a:buFont typeface="Arial"/>
              <a:buNone/>
            </a:pPr>
            <a:r>
              <a:rPr lang="ko" sz="1200">
                <a:solidFill>
                  <a:schemeClr val="dk1"/>
                </a:solidFill>
                <a:latin typeface="IBM Plex Sans KR"/>
                <a:ea typeface="IBM Plex Sans KR"/>
                <a:cs typeface="IBM Plex Sans KR"/>
                <a:sym typeface="IBM Plex Sans KR"/>
              </a:rPr>
              <a:t>Dialogue State를 통해 사용자 요구를 여러 턴에 걸쳐 누적·유지하는 것이 실제로 유효한지 검증하기 위해, 이전 사용자 조건과 추천 내역을 다음 턴으로 전달하는 Full 조건과 이를 전달하지 않는 No-memory 조건을 비교.</a:t>
            </a:r>
            <a:endParaRPr sz="1200">
              <a:solidFill>
                <a:schemeClr val="dk1"/>
              </a:solidFill>
              <a:latin typeface="IBM Plex Sans KR"/>
              <a:ea typeface="IBM Plex Sans KR"/>
              <a:cs typeface="IBM Plex Sans KR"/>
              <a:sym typeface="IBM Plex Sans KR"/>
            </a:endParaRPr>
          </a:p>
          <a:p>
            <a:pPr indent="0" lvl="0" marL="0" rtl="0" algn="l">
              <a:spcBef>
                <a:spcPts val="1200"/>
              </a:spcBef>
              <a:spcAft>
                <a:spcPts val="0"/>
              </a:spcAft>
              <a:buClr>
                <a:schemeClr val="dk1"/>
              </a:buClr>
              <a:buSzPts val="1100"/>
              <a:buFont typeface="Arial"/>
              <a:buNone/>
            </a:pPr>
            <a:r>
              <a:t/>
            </a:r>
            <a:endParaRPr sz="1200">
              <a:solidFill>
                <a:schemeClr val="dk1"/>
              </a:solidFill>
              <a:latin typeface="IBM Plex Sans KR"/>
              <a:ea typeface="IBM Plex Sans KR"/>
              <a:cs typeface="IBM Plex Sans KR"/>
              <a:sym typeface="IBM Plex Sans KR"/>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1"/>
              </a:solidFill>
              <a:latin typeface="IBM Plex Sans KR"/>
              <a:ea typeface="IBM Plex Sans KR"/>
              <a:cs typeface="IBM Plex Sans KR"/>
              <a:sym typeface="IBM Plex Sans KR"/>
            </a:endParaRPr>
          </a:p>
          <a:p>
            <a:pPr indent="0" lvl="0" marL="0" marR="0" rtl="0" algn="l">
              <a:lnSpc>
                <a:spcPct val="100000"/>
              </a:lnSpc>
              <a:spcBef>
                <a:spcPts val="0"/>
              </a:spcBef>
              <a:spcAft>
                <a:spcPts val="0"/>
              </a:spcAft>
              <a:buClr>
                <a:srgbClr val="000000"/>
              </a:buClr>
              <a:buSzPts val="1800"/>
              <a:buFont typeface="Arial"/>
              <a:buNone/>
            </a:pPr>
            <a:r>
              <a:t/>
            </a:r>
            <a:endParaRPr sz="1200">
              <a:solidFill>
                <a:schemeClr val="dk1"/>
              </a:solidFill>
              <a:latin typeface="IBM Plex Sans KR"/>
              <a:ea typeface="IBM Plex Sans KR"/>
              <a:cs typeface="IBM Plex Sans KR"/>
              <a:sym typeface="IBM Plex Sans KR"/>
            </a:endParaRPr>
          </a:p>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 </a:t>
            </a:r>
            <a:endParaRPr b="0" i="0" sz="1800" u="none" cap="none" strike="noStrike">
              <a:solidFill>
                <a:schemeClr val="dk1"/>
              </a:solidFill>
              <a:latin typeface="IBM Plex Sans KR"/>
              <a:ea typeface="IBM Plex Sans KR"/>
              <a:cs typeface="IBM Plex Sans KR"/>
              <a:sym typeface="IBM Plex Sans KR"/>
            </a:endParaRPr>
          </a:p>
        </p:txBody>
      </p:sp>
      <p:pic>
        <p:nvPicPr>
          <p:cNvPr descr="logo.png" id="267" name="Google Shape;267;p27"/>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sp>
        <p:nvSpPr>
          <p:cNvPr id="268" name="Google Shape;268;p27"/>
          <p:cNvSpPr txBox="1"/>
          <p:nvPr/>
        </p:nvSpPr>
        <p:spPr>
          <a:xfrm>
            <a:off x="440950" y="1819798"/>
            <a:ext cx="8139300" cy="27522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Font typeface="IBM Plex Sans KR"/>
              <a:buChar char="●"/>
            </a:pPr>
            <a:r>
              <a:rPr lang="ko" sz="1100">
                <a:solidFill>
                  <a:schemeClr val="dk1"/>
                </a:solidFill>
                <a:latin typeface="IBM Plex Sans KR"/>
                <a:ea typeface="IBM Plex Sans KR"/>
                <a:cs typeface="IBM Plex Sans KR"/>
                <a:sym typeface="IBM Plex Sans KR"/>
              </a:rPr>
              <a:t>Final State Micro- F1 : 에피소드가 끝났을 때 남아있는 Dialogue State를 Gold_Final_State와 비교</a:t>
            </a:r>
            <a:endParaRPr sz="1100">
              <a:solidFill>
                <a:schemeClr val="dk1"/>
              </a:solidFill>
              <a:latin typeface="IBM Plex Sans KR"/>
              <a:ea typeface="IBM Plex Sans KR"/>
              <a:cs typeface="IBM Plex Sans KR"/>
              <a:sym typeface="IBM Plex Sans KR"/>
            </a:endParaRPr>
          </a:p>
          <a:p>
            <a:pPr indent="0" lvl="0" marL="457200" rtl="0" algn="l">
              <a:spcBef>
                <a:spcPts val="0"/>
              </a:spcBef>
              <a:spcAft>
                <a:spcPts val="0"/>
              </a:spcAft>
              <a:buNone/>
            </a:pPr>
            <a:r>
              <a:t/>
            </a:r>
            <a:endParaRPr sz="600">
              <a:solidFill>
                <a:schemeClr val="dk1"/>
              </a:solidFill>
              <a:latin typeface="IBM Plex Sans KR"/>
              <a:ea typeface="IBM Plex Sans KR"/>
              <a:cs typeface="IBM Plex Sans KR"/>
              <a:sym typeface="IBM Plex Sans KR"/>
            </a:endParaRPr>
          </a:p>
          <a:p>
            <a:pPr indent="-292100" lvl="0" marL="457200" rtl="0" algn="l">
              <a:spcBef>
                <a:spcPts val="0"/>
              </a:spcBef>
              <a:spcAft>
                <a:spcPts val="0"/>
              </a:spcAft>
              <a:buClr>
                <a:schemeClr val="dk1"/>
              </a:buClr>
              <a:buSzPts val="1000"/>
              <a:buFont typeface="IBM Plex Sans KR"/>
              <a:buChar char="-"/>
            </a:pPr>
            <a:r>
              <a:rPr lang="ko" sz="1000">
                <a:solidFill>
                  <a:schemeClr val="dk1"/>
                </a:solidFill>
                <a:latin typeface="IBM Plex Sans KR"/>
                <a:ea typeface="IBM Plex Sans KR"/>
                <a:cs typeface="IBM Plex Sans KR"/>
                <a:sym typeface="IBM Plex Sans KR"/>
              </a:rPr>
              <a:t>TP : 주어진 조건을 알맞게 인식</a:t>
            </a:r>
            <a:endParaRPr sz="1000">
              <a:solidFill>
                <a:schemeClr val="dk1"/>
              </a:solidFill>
              <a:latin typeface="IBM Plex Sans KR"/>
              <a:ea typeface="IBM Plex Sans KR"/>
              <a:cs typeface="IBM Plex Sans KR"/>
              <a:sym typeface="IBM Plex Sans KR"/>
            </a:endParaRPr>
          </a:p>
          <a:p>
            <a:pPr indent="-292100" lvl="0" marL="457200" rtl="0" algn="l">
              <a:spcBef>
                <a:spcPts val="0"/>
              </a:spcBef>
              <a:spcAft>
                <a:spcPts val="0"/>
              </a:spcAft>
              <a:buClr>
                <a:schemeClr val="dk1"/>
              </a:buClr>
              <a:buSzPts val="1000"/>
              <a:buFont typeface="IBM Plex Sans KR"/>
              <a:buChar char="-"/>
            </a:pPr>
            <a:r>
              <a:rPr lang="ko" sz="1000">
                <a:solidFill>
                  <a:schemeClr val="dk1"/>
                </a:solidFill>
                <a:latin typeface="IBM Plex Sans KR"/>
                <a:ea typeface="IBM Plex Sans KR"/>
                <a:cs typeface="IBM Plex Sans KR"/>
                <a:sym typeface="IBM Plex Sans KR"/>
              </a:rPr>
              <a:t>FP : 주어진 조건을 누락함</a:t>
            </a:r>
            <a:endParaRPr sz="1000">
              <a:solidFill>
                <a:schemeClr val="dk1"/>
              </a:solidFill>
              <a:latin typeface="IBM Plex Sans KR"/>
              <a:ea typeface="IBM Plex Sans KR"/>
              <a:cs typeface="IBM Plex Sans KR"/>
              <a:sym typeface="IBM Plex Sans KR"/>
            </a:endParaRPr>
          </a:p>
          <a:p>
            <a:pPr indent="-292100" lvl="0" marL="457200" rtl="0" algn="l">
              <a:spcBef>
                <a:spcPts val="0"/>
              </a:spcBef>
              <a:spcAft>
                <a:spcPts val="0"/>
              </a:spcAft>
              <a:buClr>
                <a:schemeClr val="dk1"/>
              </a:buClr>
              <a:buSzPts val="1000"/>
              <a:buFont typeface="IBM Plex Sans KR"/>
              <a:buChar char="-"/>
            </a:pPr>
            <a:r>
              <a:rPr lang="ko" sz="1000">
                <a:solidFill>
                  <a:schemeClr val="dk1"/>
                </a:solidFill>
                <a:latin typeface="IBM Plex Sans KR"/>
                <a:ea typeface="IBM Plex Sans KR"/>
                <a:cs typeface="IBM Plex Sans KR"/>
                <a:sym typeface="IBM Plex Sans KR"/>
              </a:rPr>
              <a:t>FN : Gold_Final_State에서는 인식하지 않은 조건을 인식 </a:t>
            </a:r>
            <a:endParaRPr sz="10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6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rPr lang="ko" sz="1200">
                <a:solidFill>
                  <a:schemeClr val="dk1"/>
                </a:solidFill>
                <a:latin typeface="IBM Plex Sans KR"/>
                <a:ea typeface="IBM Plex Sans KR"/>
                <a:cs typeface="IBM Plex Sans KR"/>
                <a:sym typeface="IBM Plex Sans KR"/>
              </a:rPr>
              <a:t>	</a:t>
            </a:r>
            <a:r>
              <a:rPr lang="ko" sz="1000">
                <a:solidFill>
                  <a:schemeClr val="dk1"/>
                </a:solidFill>
                <a:latin typeface="IBM Plex Sans KR"/>
                <a:ea typeface="IBM Plex Sans KR"/>
                <a:cs typeface="IBM Plex Sans KR"/>
                <a:sym typeface="IBM Plex Sans KR"/>
              </a:rPr>
              <a:t>20개 에피소드의 TP, FP, FN을 모두 합친 다음 한번에 F1-Score를 계산</a:t>
            </a:r>
            <a:endParaRPr sz="1000">
              <a:solidFill>
                <a:schemeClr val="dk1"/>
              </a:solidFill>
              <a:latin typeface="IBM Plex Sans KR"/>
              <a:ea typeface="IBM Plex Sans KR"/>
              <a:cs typeface="IBM Plex Sans KR"/>
              <a:sym typeface="IBM Plex Sans KR"/>
            </a:endParaRPr>
          </a:p>
          <a:p>
            <a:pPr indent="0" lvl="0" marL="0" rtl="0" algn="l">
              <a:spcBef>
                <a:spcPts val="0"/>
              </a:spcBef>
              <a:spcAft>
                <a:spcPts val="0"/>
              </a:spcAft>
              <a:buClr>
                <a:schemeClr val="dk1"/>
              </a:buClr>
              <a:buSzPts val="1100"/>
              <a:buFont typeface="Arial"/>
              <a:buNone/>
            </a:pPr>
            <a:r>
              <a:t/>
            </a:r>
            <a:endParaRPr sz="600">
              <a:solidFill>
                <a:schemeClr val="dk1"/>
              </a:solidFill>
              <a:latin typeface="IBM Plex Sans KR"/>
              <a:ea typeface="IBM Plex Sans KR"/>
              <a:cs typeface="IBM Plex Sans KR"/>
              <a:sym typeface="IBM Plex Sans KR"/>
            </a:endParaRPr>
          </a:p>
          <a:p>
            <a:pPr indent="-298450" lvl="0" marL="457200" rtl="0" algn="l">
              <a:spcBef>
                <a:spcPts val="0"/>
              </a:spcBef>
              <a:spcAft>
                <a:spcPts val="0"/>
              </a:spcAft>
              <a:buClr>
                <a:schemeClr val="dk1"/>
              </a:buClr>
              <a:buSzPts val="1100"/>
              <a:buFont typeface="IBM Plex Sans KR"/>
              <a:buChar char="●"/>
            </a:pPr>
            <a:r>
              <a:rPr lang="ko" sz="1100">
                <a:solidFill>
                  <a:schemeClr val="dk1"/>
                </a:solidFill>
                <a:latin typeface="IBM Plex Sans KR"/>
                <a:ea typeface="IBM Plex Sans KR"/>
                <a:cs typeface="IBM Plex Sans KR"/>
                <a:sym typeface="IBM Plex Sans KR"/>
              </a:rPr>
              <a:t>State Diff Micro- F1 : 각 발화 턴에서의 상태 변화(State_Diff)를 Gold_State_Diff와 비교</a:t>
            </a:r>
            <a:endParaRPr sz="1100">
              <a:solidFill>
                <a:schemeClr val="dk1"/>
              </a:solidFill>
              <a:latin typeface="IBM Plex Sans KR"/>
              <a:ea typeface="IBM Plex Sans KR"/>
              <a:cs typeface="IBM Plex Sans KR"/>
              <a:sym typeface="IBM Plex Sans KR"/>
            </a:endParaRPr>
          </a:p>
          <a:p>
            <a:pPr indent="0" lvl="0" marL="457200" rtl="0" algn="l">
              <a:spcBef>
                <a:spcPts val="0"/>
              </a:spcBef>
              <a:spcAft>
                <a:spcPts val="0"/>
              </a:spcAft>
              <a:buNone/>
            </a:pPr>
            <a:r>
              <a:t/>
            </a:r>
            <a:endParaRPr sz="600">
              <a:solidFill>
                <a:schemeClr val="dk1"/>
              </a:solidFill>
              <a:latin typeface="IBM Plex Sans KR"/>
              <a:ea typeface="IBM Plex Sans KR"/>
              <a:cs typeface="IBM Plex Sans KR"/>
              <a:sym typeface="IBM Plex Sans KR"/>
            </a:endParaRPr>
          </a:p>
          <a:p>
            <a:pPr indent="457200" lvl="0" marL="0" rtl="0" algn="l">
              <a:spcBef>
                <a:spcPts val="0"/>
              </a:spcBef>
              <a:spcAft>
                <a:spcPts val="0"/>
              </a:spcAft>
              <a:buNone/>
            </a:pPr>
            <a:r>
              <a:rPr lang="ko" sz="1000">
                <a:solidFill>
                  <a:schemeClr val="dk1"/>
                </a:solidFill>
                <a:latin typeface="IBM Plex Sans KR"/>
                <a:ea typeface="IBM Plex Sans KR"/>
                <a:cs typeface="IBM Plex Sans KR"/>
                <a:sym typeface="IBM Plex Sans KR"/>
              </a:rPr>
              <a:t>81</a:t>
            </a:r>
            <a:r>
              <a:rPr lang="ko" sz="1000">
                <a:solidFill>
                  <a:schemeClr val="dk1"/>
                </a:solidFill>
                <a:latin typeface="IBM Plex Sans KR"/>
                <a:ea typeface="IBM Plex Sans KR"/>
                <a:cs typeface="IBM Plex Sans KR"/>
                <a:sym typeface="IBM Plex Sans KR"/>
              </a:rPr>
              <a:t>개 발화 턴의 TP, FP, FN을 모두 합친 다음 한번에 F1-Score를 계산</a:t>
            </a:r>
            <a:endParaRPr sz="10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600">
              <a:solidFill>
                <a:schemeClr val="dk1"/>
              </a:solidFill>
              <a:latin typeface="IBM Plex Sans KR"/>
              <a:ea typeface="IBM Plex Sans KR"/>
              <a:cs typeface="IBM Plex Sans KR"/>
              <a:sym typeface="IBM Plex Sans KR"/>
            </a:endParaRPr>
          </a:p>
          <a:p>
            <a:pPr indent="-298450" lvl="0" marL="457200" rtl="0" algn="l">
              <a:spcBef>
                <a:spcPts val="0"/>
              </a:spcBef>
              <a:spcAft>
                <a:spcPts val="0"/>
              </a:spcAft>
              <a:buClr>
                <a:schemeClr val="dk1"/>
              </a:buClr>
              <a:buSzPts val="1100"/>
              <a:buFont typeface="IBM Plex Sans KR"/>
              <a:buChar char="●"/>
            </a:pPr>
            <a:r>
              <a:rPr lang="ko" sz="1100">
                <a:solidFill>
                  <a:schemeClr val="dk1"/>
                </a:solidFill>
                <a:latin typeface="IBM Plex Sans KR"/>
                <a:ea typeface="IBM Plex Sans KR"/>
                <a:cs typeface="IBM Plex Sans KR"/>
                <a:sym typeface="IBM Plex Sans KR"/>
              </a:rPr>
              <a:t>Policy Accuracy : 각 턴에서 시스템이 선택한 Policy Lane과 Gold-Policy를 비교하여, 정확도를 계산</a:t>
            </a:r>
            <a:endParaRPr sz="1100">
              <a:solidFill>
                <a:schemeClr val="dk1"/>
              </a:solidFill>
              <a:latin typeface="IBM Plex Sans KR"/>
              <a:ea typeface="IBM Plex Sans KR"/>
              <a:cs typeface="IBM Plex Sans KR"/>
              <a:sym typeface="IBM Plex Sans KR"/>
            </a:endParaRPr>
          </a:p>
          <a:p>
            <a:pPr indent="0" lvl="0" marL="457200" rtl="0" algn="l">
              <a:spcBef>
                <a:spcPts val="0"/>
              </a:spcBef>
              <a:spcAft>
                <a:spcPts val="0"/>
              </a:spcAft>
              <a:buNone/>
            </a:pPr>
            <a:r>
              <a:t/>
            </a:r>
            <a:endParaRPr sz="600">
              <a:solidFill>
                <a:schemeClr val="dk1"/>
              </a:solidFill>
              <a:latin typeface="IBM Plex Sans KR"/>
              <a:ea typeface="IBM Plex Sans KR"/>
              <a:cs typeface="IBM Plex Sans KR"/>
              <a:sym typeface="IBM Plex Sans KR"/>
            </a:endParaRPr>
          </a:p>
          <a:p>
            <a:pPr indent="-298450" lvl="0" marL="457200" rtl="0" algn="l">
              <a:spcBef>
                <a:spcPts val="0"/>
              </a:spcBef>
              <a:spcAft>
                <a:spcPts val="0"/>
              </a:spcAft>
              <a:buClr>
                <a:schemeClr val="dk1"/>
              </a:buClr>
              <a:buSzPts val="1100"/>
              <a:buFont typeface="IBM Plex Sans KR"/>
              <a:buChar char="●"/>
            </a:pPr>
            <a:r>
              <a:rPr lang="ko" sz="1100">
                <a:solidFill>
                  <a:schemeClr val="dk1"/>
                </a:solidFill>
                <a:latin typeface="IBM Plex Sans KR"/>
                <a:ea typeface="IBM Plex Sans KR"/>
                <a:cs typeface="IBM Plex Sans KR"/>
                <a:sym typeface="IBM Plex Sans KR"/>
              </a:rPr>
              <a:t>Recommendation Reach : 각 턴의 Gold-Policy가 Recommend Lane일때, 시스템에서도 Recommend Lane에 도달하였는지 계산</a:t>
            </a:r>
            <a:endParaRPr sz="11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600">
              <a:solidFill>
                <a:schemeClr val="dk1"/>
              </a:solidFill>
              <a:latin typeface="IBM Plex Sans KR"/>
              <a:ea typeface="IBM Plex Sans KR"/>
              <a:cs typeface="IBM Plex Sans KR"/>
              <a:sym typeface="IBM Plex Sans KR"/>
            </a:endParaRPr>
          </a:p>
          <a:p>
            <a:pPr indent="-298450" lvl="0" marL="457200" rtl="0" algn="l">
              <a:spcBef>
                <a:spcPts val="0"/>
              </a:spcBef>
              <a:spcAft>
                <a:spcPts val="0"/>
              </a:spcAft>
              <a:buClr>
                <a:schemeClr val="dk1"/>
              </a:buClr>
              <a:buSzPts val="1100"/>
              <a:buFont typeface="IBM Plex Sans KR"/>
              <a:buChar char="●"/>
            </a:pPr>
            <a:r>
              <a:rPr lang="ko" sz="1100">
                <a:solidFill>
                  <a:schemeClr val="dk1"/>
                </a:solidFill>
                <a:latin typeface="IBM Plex Sans KR"/>
                <a:ea typeface="IBM Plex Sans KR"/>
                <a:cs typeface="IBM Plex Sans KR"/>
                <a:sym typeface="IBM Plex Sans KR"/>
              </a:rPr>
              <a:t>Hard-Filter Completion : 각 턴에서 생성된  Hard-Filter가 Gold-Hard-Filter와 동일한가?</a:t>
            </a:r>
            <a:endParaRPr sz="1100">
              <a:solidFill>
                <a:schemeClr val="dk1"/>
              </a:solidFill>
              <a:latin typeface="IBM Plex Sans KR"/>
              <a:ea typeface="IBM Plex Sans KR"/>
              <a:cs typeface="IBM Plex Sans KR"/>
              <a:sym typeface="IBM Plex Sans KR"/>
            </a:endParaRPr>
          </a:p>
          <a:p>
            <a:pPr indent="0" lvl="0" marL="457200" rtl="0" algn="l">
              <a:spcBef>
                <a:spcPts val="0"/>
              </a:spcBef>
              <a:spcAft>
                <a:spcPts val="0"/>
              </a:spcAft>
              <a:buNone/>
            </a:pPr>
            <a:r>
              <a:t/>
            </a:r>
            <a:endParaRPr sz="500">
              <a:solidFill>
                <a:schemeClr val="dk1"/>
              </a:solidFill>
              <a:latin typeface="IBM Plex Sans KR"/>
              <a:ea typeface="IBM Plex Sans KR"/>
              <a:cs typeface="IBM Plex Sans KR"/>
              <a:sym typeface="IBM Plex Sans KR"/>
            </a:endParaRPr>
          </a:p>
          <a:p>
            <a:pPr indent="0" lvl="0" marL="5029200" rtl="0" algn="l">
              <a:spcBef>
                <a:spcPts val="0"/>
              </a:spcBef>
              <a:spcAft>
                <a:spcPts val="0"/>
              </a:spcAft>
              <a:buNone/>
            </a:pPr>
            <a:r>
              <a:rPr i="1" lang="ko" sz="900">
                <a:solidFill>
                  <a:schemeClr val="dk1"/>
                </a:solidFill>
                <a:latin typeface="IBM Plex Sans KR"/>
                <a:ea typeface="IBM Plex Sans KR"/>
                <a:cs typeface="IBM Plex Sans KR"/>
                <a:sym typeface="IBM Plex Sans KR"/>
              </a:rPr>
              <a:t>      하나라도 누락·추가·값 오류가 있으면 해당 턴을실패로 간주</a:t>
            </a:r>
            <a:endParaRPr i="1" sz="900">
              <a:solidFill>
                <a:schemeClr val="dk1"/>
              </a:solidFill>
              <a:latin typeface="IBM Plex Sans KR"/>
              <a:ea typeface="IBM Plex Sans KR"/>
              <a:cs typeface="IBM Plex Sans KR"/>
              <a:sym typeface="IBM Plex Sans K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cxnSp>
        <p:nvCxnSpPr>
          <p:cNvPr id="274" name="Google Shape;274;p28"/>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275" name="Google Shape;275;p28"/>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276" name="Google Shape;276;p28"/>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277" name="Google Shape;277;p2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ko"/>
              <a:t>‹#›</a:t>
            </a:fld>
            <a:endParaRPr/>
          </a:p>
        </p:txBody>
      </p:sp>
      <p:sp>
        <p:nvSpPr>
          <p:cNvPr id="278" name="Google Shape;278;p28"/>
          <p:cNvSpPr txBox="1"/>
          <p:nvPr/>
        </p:nvSpPr>
        <p:spPr>
          <a:xfrm>
            <a:off x="547425" y="535575"/>
            <a:ext cx="8076000" cy="36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Main Experiment - </a:t>
            </a:r>
            <a:r>
              <a:rPr lang="ko" sz="1800">
                <a:solidFill>
                  <a:schemeClr val="dk1"/>
                </a:solidFill>
                <a:latin typeface="IBM Plex Sans KR"/>
                <a:ea typeface="IBM Plex Sans KR"/>
                <a:cs typeface="IBM Plex Sans KR"/>
                <a:sym typeface="IBM Plex Sans KR"/>
              </a:rPr>
              <a:t>실험 결과 </a:t>
            </a:r>
            <a:r>
              <a:rPr lang="ko" sz="1800">
                <a:solidFill>
                  <a:schemeClr val="dk1"/>
                </a:solidFill>
                <a:latin typeface="IBM Plex Sans KR"/>
                <a:ea typeface="IBM Plex Sans KR"/>
                <a:cs typeface="IBM Plex Sans KR"/>
                <a:sym typeface="IBM Plex Sans KR"/>
              </a:rPr>
              <a:t> </a:t>
            </a:r>
            <a:endParaRPr sz="1800">
              <a:solidFill>
                <a:schemeClr val="dk1"/>
              </a:solidFill>
              <a:latin typeface="IBM Plex Sans KR"/>
              <a:ea typeface="IBM Plex Sans KR"/>
              <a:cs typeface="IBM Plex Sans KR"/>
              <a:sym typeface="IBM Plex Sans KR"/>
            </a:endParaRPr>
          </a:p>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 </a:t>
            </a:r>
            <a:endParaRPr b="0" i="0" sz="1800" u="none" cap="none" strike="noStrike">
              <a:solidFill>
                <a:schemeClr val="dk1"/>
              </a:solidFill>
              <a:latin typeface="IBM Plex Sans KR"/>
              <a:ea typeface="IBM Plex Sans KR"/>
              <a:cs typeface="IBM Plex Sans KR"/>
              <a:sym typeface="IBM Plex Sans KR"/>
            </a:endParaRPr>
          </a:p>
        </p:txBody>
      </p:sp>
      <p:pic>
        <p:nvPicPr>
          <p:cNvPr descr="logo.png" id="279" name="Google Shape;279;p28"/>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sp>
        <p:nvSpPr>
          <p:cNvPr id="280" name="Google Shape;280;p28"/>
          <p:cNvSpPr txBox="1"/>
          <p:nvPr/>
        </p:nvSpPr>
        <p:spPr>
          <a:xfrm>
            <a:off x="861550" y="894000"/>
            <a:ext cx="7526400" cy="3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 sz="1200">
                <a:solidFill>
                  <a:schemeClr val="dk1"/>
                </a:solidFill>
                <a:latin typeface="IBM Plex Sans KR"/>
                <a:ea typeface="IBM Plex Sans KR"/>
                <a:cs typeface="IBM Plex Sans KR"/>
                <a:sym typeface="IBM Plex Sans KR"/>
              </a:rPr>
              <a:t>Final State Micro</a:t>
            </a:r>
            <a:r>
              <a:rPr lang="ko" sz="1200">
                <a:solidFill>
                  <a:schemeClr val="dk1"/>
                </a:solidFill>
                <a:latin typeface="IBM Plex Sans KR"/>
                <a:ea typeface="IBM Plex Sans KR"/>
                <a:cs typeface="IBM Plex Sans KR"/>
                <a:sym typeface="IBM Plex Sans KR"/>
              </a:rPr>
              <a:t> :  </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0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rPr lang="ko" sz="1000">
                <a:solidFill>
                  <a:schemeClr val="dk1"/>
                </a:solidFill>
                <a:latin typeface="IBM Plex Sans KR"/>
                <a:ea typeface="IBM Plex Sans KR"/>
                <a:cs typeface="IBM Plex Sans KR"/>
                <a:sym typeface="IBM Plex Sans KR"/>
              </a:rPr>
              <a:t>No-memory는 이전 턴 조건을 보존하지 않는 특성이 반영돼어, FP 수치가 Full 보다 낮았지만, 매 턴 마다 상태를 갱신한 Full이 TP와 FN에서 더 나은 수치를 기록하여 Final State Micro F1에서 더 나은 결과를 보였음.</a:t>
            </a:r>
            <a:endParaRPr sz="10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0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rPr b="1" lang="ko" sz="1000">
                <a:solidFill>
                  <a:schemeClr val="dk1"/>
                </a:solidFill>
                <a:latin typeface="IBM Plex Sans KR"/>
                <a:ea typeface="IBM Plex Sans KR"/>
                <a:cs typeface="IBM Plex Sans KR"/>
                <a:sym typeface="IBM Plex Sans KR"/>
              </a:rPr>
              <a:t>State Diff micro</a:t>
            </a:r>
            <a:r>
              <a:rPr lang="ko" sz="1000">
                <a:solidFill>
                  <a:schemeClr val="dk1"/>
                </a:solidFill>
                <a:latin typeface="IBM Plex Sans KR"/>
                <a:ea typeface="IBM Plex Sans KR"/>
                <a:cs typeface="IBM Plex Sans KR"/>
                <a:sym typeface="IBM Plex Sans KR"/>
              </a:rPr>
              <a:t> :</a:t>
            </a:r>
            <a:endParaRPr sz="10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0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0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0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0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000">
              <a:solidFill>
                <a:schemeClr val="dk1"/>
              </a:solidFill>
              <a:latin typeface="IBM Plex Sans KR"/>
              <a:ea typeface="IBM Plex Sans KR"/>
              <a:cs typeface="IBM Plex Sans KR"/>
              <a:sym typeface="IBM Plex Sans KR"/>
            </a:endParaRPr>
          </a:p>
          <a:p>
            <a:pPr indent="0" lvl="0" marL="0" rtl="0" algn="l">
              <a:lnSpc>
                <a:spcPct val="115000"/>
              </a:lnSpc>
              <a:spcBef>
                <a:spcPts val="1200"/>
              </a:spcBef>
              <a:spcAft>
                <a:spcPts val="0"/>
              </a:spcAft>
              <a:buNone/>
            </a:pPr>
            <a:r>
              <a:t/>
            </a:r>
            <a:endParaRPr sz="1000">
              <a:solidFill>
                <a:schemeClr val="dk1"/>
              </a:solidFill>
              <a:latin typeface="IBM Plex Sans KR"/>
              <a:ea typeface="IBM Plex Sans KR"/>
              <a:cs typeface="IBM Plex Sans KR"/>
              <a:sym typeface="IBM Plex Sans KR"/>
            </a:endParaRPr>
          </a:p>
          <a:p>
            <a:pPr indent="0" lvl="0" marL="0" rtl="0" algn="l">
              <a:lnSpc>
                <a:spcPct val="115000"/>
              </a:lnSpc>
              <a:spcBef>
                <a:spcPts val="1200"/>
              </a:spcBef>
              <a:spcAft>
                <a:spcPts val="0"/>
              </a:spcAft>
              <a:buClr>
                <a:schemeClr val="dk1"/>
              </a:buClr>
              <a:buSzPts val="1100"/>
              <a:buFont typeface="Arial"/>
              <a:buNone/>
            </a:pPr>
            <a:r>
              <a:rPr lang="ko" sz="1000">
                <a:solidFill>
                  <a:schemeClr val="dk1"/>
                </a:solidFill>
                <a:latin typeface="IBM Plex Sans KR"/>
                <a:ea typeface="IBM Plex Sans KR"/>
                <a:cs typeface="IBM Plex Sans KR"/>
                <a:sym typeface="IBM Plex Sans KR"/>
              </a:rPr>
              <a:t>Full에서는 이전 상태에 있던 정보를 현재 턴의 새로운 정보처럼 다시 반영하는 중복 추출로 인하여, No-Memory 보다 낮은 Micro-F1을 기록하였다.</a:t>
            </a:r>
            <a:endParaRPr sz="1000">
              <a:solidFill>
                <a:schemeClr val="dk1"/>
              </a:solidFill>
              <a:latin typeface="IBM Plex Sans KR"/>
              <a:ea typeface="IBM Plex Sans KR"/>
              <a:cs typeface="IBM Plex Sans KR"/>
              <a:sym typeface="IBM Plex Sans KR"/>
            </a:endParaRPr>
          </a:p>
          <a:p>
            <a:pPr indent="0" lvl="0" marL="0" rtl="0" algn="l">
              <a:spcBef>
                <a:spcPts val="1200"/>
              </a:spcBef>
              <a:spcAft>
                <a:spcPts val="0"/>
              </a:spcAft>
              <a:buNone/>
            </a:pPr>
            <a:r>
              <a:t/>
            </a:r>
            <a:endParaRPr sz="1000">
              <a:solidFill>
                <a:schemeClr val="dk1"/>
              </a:solidFill>
              <a:latin typeface="IBM Plex Sans KR"/>
              <a:ea typeface="IBM Plex Sans KR"/>
              <a:cs typeface="IBM Plex Sans KR"/>
              <a:sym typeface="IBM Plex Sans KR"/>
            </a:endParaRPr>
          </a:p>
        </p:txBody>
      </p:sp>
      <p:graphicFrame>
        <p:nvGraphicFramePr>
          <p:cNvPr id="281" name="Google Shape;281;p28"/>
          <p:cNvGraphicFramePr/>
          <p:nvPr/>
        </p:nvGraphicFramePr>
        <p:xfrm>
          <a:off x="1324475" y="1381671"/>
          <a:ext cx="3000000" cy="3000000"/>
        </p:xfrm>
        <a:graphic>
          <a:graphicData uri="http://schemas.openxmlformats.org/drawingml/2006/table">
            <a:tbl>
              <a:tblPr>
                <a:noFill/>
                <a:tableStyleId>{49C477C8-D558-4458-9357-916986D1DDB7}</a:tableStyleId>
              </a:tblPr>
              <a:tblGrid>
                <a:gridCol w="929425"/>
                <a:gridCol w="683875"/>
                <a:gridCol w="806650"/>
                <a:gridCol w="806650"/>
                <a:gridCol w="806650"/>
                <a:gridCol w="806650"/>
                <a:gridCol w="806650"/>
              </a:tblGrid>
              <a:tr h="303800">
                <a:tc>
                  <a:txBody>
                    <a:bodyPr/>
                    <a:lstStyle/>
                    <a:p>
                      <a:pPr indent="0" lvl="0" marL="0" rtl="0" algn="l">
                        <a:spcBef>
                          <a:spcPts val="0"/>
                        </a:spcBef>
                        <a:spcAft>
                          <a:spcPts val="0"/>
                        </a:spcAft>
                        <a:buNone/>
                      </a:pPr>
                      <a:r>
                        <a:rPr lang="ko" sz="600">
                          <a:latin typeface="IBM Plex Sans KR"/>
                          <a:ea typeface="IBM Plex Sans KR"/>
                          <a:cs typeface="IBM Plex Sans KR"/>
                          <a:sym typeface="IBM Plex Sans KR"/>
                        </a:rPr>
                        <a:t>조건</a:t>
                      </a:r>
                      <a:endParaRPr sz="600">
                        <a:latin typeface="IBM Plex Sans KR"/>
                        <a:ea typeface="IBM Plex Sans KR"/>
                        <a:cs typeface="IBM Plex Sans KR"/>
                        <a:sym typeface="IBM Plex Sans KR"/>
                      </a:endParaRPr>
                    </a:p>
                  </a:txBody>
                  <a:tcPr marT="91425" marB="91425" marR="91425" marL="91425">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latin typeface="IBM Plex Sans KR"/>
                          <a:ea typeface="IBM Plex Sans KR"/>
                          <a:cs typeface="IBM Plex Sans KR"/>
                          <a:sym typeface="IBM Plex Sans KR"/>
                        </a:rPr>
                        <a:t>TP</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latin typeface="IBM Plex Sans KR"/>
                          <a:ea typeface="IBM Plex Sans KR"/>
                          <a:cs typeface="IBM Plex Sans KR"/>
                          <a:sym typeface="IBM Plex Sans KR"/>
                        </a:rPr>
                        <a:t>FP</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latin typeface="IBM Plex Sans KR"/>
                          <a:ea typeface="IBM Plex Sans KR"/>
                          <a:cs typeface="IBM Plex Sans KR"/>
                          <a:sym typeface="IBM Plex Sans KR"/>
                        </a:rPr>
                        <a:t>FN</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latin typeface="IBM Plex Sans KR"/>
                          <a:ea typeface="IBM Plex Sans KR"/>
                          <a:cs typeface="IBM Plex Sans KR"/>
                          <a:sym typeface="IBM Plex Sans KR"/>
                        </a:rPr>
                        <a:t>Precision</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latin typeface="IBM Plex Sans KR"/>
                          <a:ea typeface="IBM Plex Sans KR"/>
                          <a:cs typeface="IBM Plex Sans KR"/>
                          <a:sym typeface="IBM Plex Sans KR"/>
                        </a:rPr>
                        <a:t>Recall</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latin typeface="IBM Plex Sans KR"/>
                          <a:ea typeface="IBM Plex Sans KR"/>
                          <a:cs typeface="IBM Plex Sans KR"/>
                          <a:sym typeface="IBM Plex Sans KR"/>
                        </a:rPr>
                        <a:t>F1</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tcPr>
                </a:tc>
              </a:tr>
              <a:tr h="303800">
                <a:tc>
                  <a:txBody>
                    <a:bodyPr/>
                    <a:lstStyle/>
                    <a:p>
                      <a:pPr indent="0" lvl="0" marL="0" rtl="0" algn="l">
                        <a:spcBef>
                          <a:spcPts val="0"/>
                        </a:spcBef>
                        <a:spcAft>
                          <a:spcPts val="0"/>
                        </a:spcAft>
                        <a:buNone/>
                      </a:pPr>
                      <a:r>
                        <a:rPr lang="ko" sz="600">
                          <a:latin typeface="IBM Plex Sans KR"/>
                          <a:ea typeface="IBM Plex Sans KR"/>
                          <a:cs typeface="IBM Plex Sans KR"/>
                          <a:sym typeface="IBM Plex Sans KR"/>
                        </a:rPr>
                        <a:t>Full</a:t>
                      </a:r>
                      <a:endParaRPr sz="600">
                        <a:latin typeface="IBM Plex Sans KR"/>
                        <a:ea typeface="IBM Plex Sans KR"/>
                        <a:cs typeface="IBM Plex Sans KR"/>
                        <a:sym typeface="IBM Plex Sans KR"/>
                      </a:endParaRPr>
                    </a:p>
                  </a:txBody>
                  <a:tcPr marT="91425" marB="91425" marR="91425" marL="91425">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latin typeface="IBM Plex Sans KR"/>
                          <a:ea typeface="IBM Plex Sans KR"/>
                          <a:cs typeface="IBM Plex Sans KR"/>
                          <a:sym typeface="IBM Plex Sans KR"/>
                        </a:rPr>
                        <a:t>72</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latin typeface="IBM Plex Sans KR"/>
                          <a:ea typeface="IBM Plex Sans KR"/>
                          <a:cs typeface="IBM Plex Sans KR"/>
                          <a:sym typeface="IBM Plex Sans KR"/>
                        </a:rPr>
                        <a:t>15</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latin typeface="IBM Plex Sans KR"/>
                          <a:ea typeface="IBM Plex Sans KR"/>
                          <a:cs typeface="IBM Plex Sans KR"/>
                          <a:sym typeface="IBM Plex Sans KR"/>
                        </a:rPr>
                        <a:t>31</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latin typeface="IBM Plex Sans KR"/>
                          <a:ea typeface="IBM Plex Sans KR"/>
                          <a:cs typeface="IBM Plex Sans KR"/>
                          <a:sym typeface="IBM Plex Sans KR"/>
                        </a:rPr>
                        <a:t>0.828</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latin typeface="IBM Plex Sans KR"/>
                          <a:ea typeface="IBM Plex Sans KR"/>
                          <a:cs typeface="IBM Plex Sans KR"/>
                          <a:sym typeface="IBM Plex Sans KR"/>
                        </a:rPr>
                        <a:t>0.699</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latin typeface="IBM Plex Sans KR"/>
                          <a:ea typeface="IBM Plex Sans KR"/>
                          <a:cs typeface="IBM Plex Sans KR"/>
                          <a:sym typeface="IBM Plex Sans KR"/>
                        </a:rPr>
                        <a:t>0.758</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tcPr>
                </a:tc>
              </a:tr>
              <a:tr h="303800">
                <a:tc>
                  <a:txBody>
                    <a:bodyPr/>
                    <a:lstStyle/>
                    <a:p>
                      <a:pPr indent="0" lvl="0" marL="0" rtl="0" algn="l">
                        <a:spcBef>
                          <a:spcPts val="0"/>
                        </a:spcBef>
                        <a:spcAft>
                          <a:spcPts val="0"/>
                        </a:spcAft>
                        <a:buNone/>
                      </a:pPr>
                      <a:r>
                        <a:rPr lang="ko" sz="600">
                          <a:latin typeface="IBM Plex Sans KR"/>
                          <a:ea typeface="IBM Plex Sans KR"/>
                          <a:cs typeface="IBM Plex Sans KR"/>
                          <a:sym typeface="IBM Plex Sans KR"/>
                        </a:rPr>
                        <a:t>No-memory</a:t>
                      </a:r>
                      <a:endParaRPr sz="600">
                        <a:latin typeface="IBM Plex Sans KR"/>
                        <a:ea typeface="IBM Plex Sans KR"/>
                        <a:cs typeface="IBM Plex Sans KR"/>
                        <a:sym typeface="IBM Plex Sans KR"/>
                      </a:endParaRPr>
                    </a:p>
                  </a:txBody>
                  <a:tcPr marT="91425" marB="91425" marR="91425" marL="91425">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latin typeface="IBM Plex Sans KR"/>
                          <a:ea typeface="IBM Plex Sans KR"/>
                          <a:cs typeface="IBM Plex Sans KR"/>
                          <a:sym typeface="IBM Plex Sans KR"/>
                        </a:rPr>
                        <a:t>35</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latin typeface="IBM Plex Sans KR"/>
                          <a:ea typeface="IBM Plex Sans KR"/>
                          <a:cs typeface="IBM Plex Sans KR"/>
                          <a:sym typeface="IBM Plex Sans KR"/>
                        </a:rPr>
                        <a:t>2</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latin typeface="IBM Plex Sans KR"/>
                          <a:ea typeface="IBM Plex Sans KR"/>
                          <a:cs typeface="IBM Plex Sans KR"/>
                          <a:sym typeface="IBM Plex Sans KR"/>
                        </a:rPr>
                        <a:t>68</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latin typeface="IBM Plex Sans KR"/>
                          <a:ea typeface="IBM Plex Sans KR"/>
                          <a:cs typeface="IBM Plex Sans KR"/>
                          <a:sym typeface="IBM Plex Sans KR"/>
                        </a:rPr>
                        <a:t>0.946</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latin typeface="IBM Plex Sans KR"/>
                          <a:ea typeface="IBM Plex Sans KR"/>
                          <a:cs typeface="IBM Plex Sans KR"/>
                          <a:sym typeface="IBM Plex Sans KR"/>
                        </a:rPr>
                        <a:t>0.340</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l">
                        <a:spcBef>
                          <a:spcPts val="0"/>
                        </a:spcBef>
                        <a:spcAft>
                          <a:spcPts val="0"/>
                        </a:spcAft>
                        <a:buNone/>
                      </a:pPr>
                      <a:r>
                        <a:rPr lang="ko" sz="600">
                          <a:latin typeface="IBM Plex Sans KR"/>
                          <a:ea typeface="IBM Plex Sans KR"/>
                          <a:cs typeface="IBM Plex Sans KR"/>
                          <a:sym typeface="IBM Plex Sans KR"/>
                        </a:rPr>
                        <a:t>0.500</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tcPr>
                </a:tc>
              </a:tr>
            </a:tbl>
          </a:graphicData>
        </a:graphic>
      </p:graphicFrame>
      <p:graphicFrame>
        <p:nvGraphicFramePr>
          <p:cNvPr id="282" name="Google Shape;282;p28"/>
          <p:cNvGraphicFramePr/>
          <p:nvPr/>
        </p:nvGraphicFramePr>
        <p:xfrm>
          <a:off x="1324475" y="3172800"/>
          <a:ext cx="3000000" cy="3000000"/>
        </p:xfrm>
        <a:graphic>
          <a:graphicData uri="http://schemas.openxmlformats.org/drawingml/2006/table">
            <a:tbl>
              <a:tblPr>
                <a:noFill/>
                <a:tableStyleId>{49C477C8-D558-4458-9357-916986D1DDB7}</a:tableStyleId>
              </a:tblPr>
              <a:tblGrid>
                <a:gridCol w="929425"/>
                <a:gridCol w="683875"/>
                <a:gridCol w="806650"/>
                <a:gridCol w="806650"/>
                <a:gridCol w="806650"/>
                <a:gridCol w="806650"/>
                <a:gridCol w="806650"/>
              </a:tblGrid>
              <a:tr h="303800">
                <a:tc>
                  <a:txBody>
                    <a:bodyPr/>
                    <a:lstStyle/>
                    <a:p>
                      <a:pPr indent="0" lvl="0" marL="0" rtl="0" algn="l">
                        <a:spcBef>
                          <a:spcPts val="0"/>
                        </a:spcBef>
                        <a:spcAft>
                          <a:spcPts val="0"/>
                        </a:spcAft>
                        <a:buNone/>
                      </a:pPr>
                      <a:r>
                        <a:rPr lang="ko" sz="600">
                          <a:latin typeface="IBM Plex Sans KR"/>
                          <a:ea typeface="IBM Plex Sans KR"/>
                          <a:cs typeface="IBM Plex Sans KR"/>
                          <a:sym typeface="IBM Plex Sans KR"/>
                        </a:rPr>
                        <a:t>조건</a:t>
                      </a:r>
                      <a:endParaRPr sz="600">
                        <a:latin typeface="IBM Plex Sans KR"/>
                        <a:ea typeface="IBM Plex Sans KR"/>
                        <a:cs typeface="IBM Plex Sans KR"/>
                        <a:sym typeface="IBM Plex Sans KR"/>
                      </a:endParaRPr>
                    </a:p>
                  </a:txBody>
                  <a:tcPr marT="91425" marB="91425" marR="91425" marL="91425">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latin typeface="IBM Plex Sans KR"/>
                          <a:ea typeface="IBM Plex Sans KR"/>
                          <a:cs typeface="IBM Plex Sans KR"/>
                          <a:sym typeface="IBM Plex Sans KR"/>
                        </a:rPr>
                        <a:t>TP</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latin typeface="IBM Plex Sans KR"/>
                          <a:ea typeface="IBM Plex Sans KR"/>
                          <a:cs typeface="IBM Plex Sans KR"/>
                          <a:sym typeface="IBM Plex Sans KR"/>
                        </a:rPr>
                        <a:t>FP</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latin typeface="IBM Plex Sans KR"/>
                          <a:ea typeface="IBM Plex Sans KR"/>
                          <a:cs typeface="IBM Plex Sans KR"/>
                          <a:sym typeface="IBM Plex Sans KR"/>
                        </a:rPr>
                        <a:t>FN</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latin typeface="IBM Plex Sans KR"/>
                          <a:ea typeface="IBM Plex Sans KR"/>
                          <a:cs typeface="IBM Plex Sans KR"/>
                          <a:sym typeface="IBM Plex Sans KR"/>
                        </a:rPr>
                        <a:t>Precision</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latin typeface="IBM Plex Sans KR"/>
                          <a:ea typeface="IBM Plex Sans KR"/>
                          <a:cs typeface="IBM Plex Sans KR"/>
                          <a:sym typeface="IBM Plex Sans KR"/>
                        </a:rPr>
                        <a:t>Recall</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latin typeface="IBM Plex Sans KR"/>
                          <a:ea typeface="IBM Plex Sans KR"/>
                          <a:cs typeface="IBM Plex Sans KR"/>
                          <a:sym typeface="IBM Plex Sans KR"/>
                        </a:rPr>
                        <a:t>F1</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tcPr>
                </a:tc>
              </a:tr>
              <a:tr h="303800">
                <a:tc>
                  <a:txBody>
                    <a:bodyPr/>
                    <a:lstStyle/>
                    <a:p>
                      <a:pPr indent="0" lvl="0" marL="0" rtl="0" algn="l">
                        <a:spcBef>
                          <a:spcPts val="0"/>
                        </a:spcBef>
                        <a:spcAft>
                          <a:spcPts val="0"/>
                        </a:spcAft>
                        <a:buNone/>
                      </a:pPr>
                      <a:r>
                        <a:rPr lang="ko" sz="600">
                          <a:latin typeface="IBM Plex Sans KR"/>
                          <a:ea typeface="IBM Plex Sans KR"/>
                          <a:cs typeface="IBM Plex Sans KR"/>
                          <a:sym typeface="IBM Plex Sans KR"/>
                        </a:rPr>
                        <a:t>Full</a:t>
                      </a:r>
                      <a:endParaRPr sz="600">
                        <a:latin typeface="IBM Plex Sans KR"/>
                        <a:ea typeface="IBM Plex Sans KR"/>
                        <a:cs typeface="IBM Plex Sans KR"/>
                        <a:sym typeface="IBM Plex Sans KR"/>
                      </a:endParaRPr>
                    </a:p>
                  </a:txBody>
                  <a:tcPr marT="91425" marB="91425" marR="91425" marL="91425">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latin typeface="IBM Plex Sans KR"/>
                          <a:ea typeface="IBM Plex Sans KR"/>
                          <a:cs typeface="IBM Plex Sans KR"/>
                          <a:sym typeface="IBM Plex Sans KR"/>
                        </a:rPr>
                        <a:t>61</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latin typeface="IBM Plex Sans KR"/>
                          <a:ea typeface="IBM Plex Sans KR"/>
                          <a:cs typeface="IBM Plex Sans KR"/>
                          <a:sym typeface="IBM Plex Sans KR"/>
                        </a:rPr>
                        <a:t>57</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latin typeface="IBM Plex Sans KR"/>
                          <a:ea typeface="IBM Plex Sans KR"/>
                          <a:cs typeface="IBM Plex Sans KR"/>
                          <a:sym typeface="IBM Plex Sans KR"/>
                        </a:rPr>
                        <a:t>38</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latin typeface="IBM Plex Sans KR"/>
                          <a:ea typeface="IBM Plex Sans KR"/>
                          <a:cs typeface="IBM Plex Sans KR"/>
                          <a:sym typeface="IBM Plex Sans KR"/>
                        </a:rPr>
                        <a:t>0.517</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latin typeface="IBM Plex Sans KR"/>
                          <a:ea typeface="IBM Plex Sans KR"/>
                          <a:cs typeface="IBM Plex Sans KR"/>
                          <a:sym typeface="IBM Plex Sans KR"/>
                        </a:rPr>
                        <a:t>0.616</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latin typeface="IBM Plex Sans KR"/>
                          <a:ea typeface="IBM Plex Sans KR"/>
                          <a:cs typeface="IBM Plex Sans KR"/>
                          <a:sym typeface="IBM Plex Sans KR"/>
                        </a:rPr>
                        <a:t>0.562</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tcPr>
                </a:tc>
              </a:tr>
              <a:tr h="303800">
                <a:tc>
                  <a:txBody>
                    <a:bodyPr/>
                    <a:lstStyle/>
                    <a:p>
                      <a:pPr indent="0" lvl="0" marL="0" rtl="0" algn="l">
                        <a:spcBef>
                          <a:spcPts val="0"/>
                        </a:spcBef>
                        <a:spcAft>
                          <a:spcPts val="0"/>
                        </a:spcAft>
                        <a:buNone/>
                      </a:pPr>
                      <a:r>
                        <a:rPr lang="ko" sz="600">
                          <a:latin typeface="IBM Plex Sans KR"/>
                          <a:ea typeface="IBM Plex Sans KR"/>
                          <a:cs typeface="IBM Plex Sans KR"/>
                          <a:sym typeface="IBM Plex Sans KR"/>
                        </a:rPr>
                        <a:t>No-memory</a:t>
                      </a:r>
                      <a:endParaRPr sz="600">
                        <a:latin typeface="IBM Plex Sans KR"/>
                        <a:ea typeface="IBM Plex Sans KR"/>
                        <a:cs typeface="IBM Plex Sans KR"/>
                        <a:sym typeface="IBM Plex Sans KR"/>
                      </a:endParaRPr>
                    </a:p>
                  </a:txBody>
                  <a:tcPr marT="91425" marB="91425" marR="91425" marL="91425">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latin typeface="IBM Plex Sans KR"/>
                          <a:ea typeface="IBM Plex Sans KR"/>
                          <a:cs typeface="IBM Plex Sans KR"/>
                          <a:sym typeface="IBM Plex Sans KR"/>
                        </a:rPr>
                        <a:t>63</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latin typeface="IBM Plex Sans KR"/>
                          <a:ea typeface="IBM Plex Sans KR"/>
                          <a:cs typeface="IBM Plex Sans KR"/>
                          <a:sym typeface="IBM Plex Sans KR"/>
                        </a:rPr>
                        <a:t>18</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latin typeface="IBM Plex Sans KR"/>
                          <a:ea typeface="IBM Plex Sans KR"/>
                          <a:cs typeface="IBM Plex Sans KR"/>
                          <a:sym typeface="IBM Plex Sans KR"/>
                        </a:rPr>
                        <a:t>36</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latin typeface="IBM Plex Sans KR"/>
                          <a:ea typeface="IBM Plex Sans KR"/>
                          <a:cs typeface="IBM Plex Sans KR"/>
                          <a:sym typeface="IBM Plex Sans KR"/>
                        </a:rPr>
                        <a:t>0.778</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latin typeface="IBM Plex Sans KR"/>
                          <a:ea typeface="IBM Plex Sans KR"/>
                          <a:cs typeface="IBM Plex Sans KR"/>
                          <a:sym typeface="IBM Plex Sans KR"/>
                        </a:rPr>
                        <a:t>0.636</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latin typeface="IBM Plex Sans KR"/>
                          <a:ea typeface="IBM Plex Sans KR"/>
                          <a:cs typeface="IBM Plex Sans KR"/>
                          <a:sym typeface="IBM Plex Sans KR"/>
                        </a:rPr>
                        <a:t>0.700</a:t>
                      </a:r>
                      <a:endParaRPr sz="600">
                        <a:latin typeface="IBM Plex Sans KR"/>
                        <a:ea typeface="IBM Plex Sans KR"/>
                        <a:cs typeface="IBM Plex Sans KR"/>
                        <a:sym typeface="IBM Plex Sans KR"/>
                      </a:endParaRPr>
                    </a:p>
                  </a:txBody>
                  <a:tcPr marT="91425" marB="91425" marR="91425" marL="91425">
                    <a:lnL cap="flat" cmpd="sng" w="9525">
                      <a:solidFill>
                        <a:schemeClr val="lt1"/>
                      </a:solidFill>
                      <a:prstDash val="solid"/>
                      <a:round/>
                      <a:headEnd len="sm" w="sm" type="none"/>
                      <a:tailEnd len="sm" w="sm" type="none"/>
                    </a:ln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cxnSp>
        <p:nvCxnSpPr>
          <p:cNvPr id="288" name="Google Shape;288;p29"/>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289" name="Google Shape;289;p29"/>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290" name="Google Shape;290;p29"/>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291" name="Google Shape;291;p2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ko"/>
              <a:t>‹#›</a:t>
            </a:fld>
            <a:endParaRPr/>
          </a:p>
        </p:txBody>
      </p:sp>
      <p:sp>
        <p:nvSpPr>
          <p:cNvPr id="292" name="Google Shape;292;p29"/>
          <p:cNvSpPr txBox="1"/>
          <p:nvPr/>
        </p:nvSpPr>
        <p:spPr>
          <a:xfrm>
            <a:off x="547425" y="535575"/>
            <a:ext cx="8076000" cy="36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Main Experiment - 실험 결과  </a:t>
            </a:r>
            <a:endParaRPr sz="1800">
              <a:solidFill>
                <a:schemeClr val="dk1"/>
              </a:solidFill>
              <a:latin typeface="IBM Plex Sans KR"/>
              <a:ea typeface="IBM Plex Sans KR"/>
              <a:cs typeface="IBM Plex Sans KR"/>
              <a:sym typeface="IBM Plex Sans KR"/>
            </a:endParaRPr>
          </a:p>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 </a:t>
            </a:r>
            <a:endParaRPr b="0" i="0" sz="1800" u="none" cap="none" strike="noStrike">
              <a:solidFill>
                <a:schemeClr val="dk1"/>
              </a:solidFill>
              <a:latin typeface="IBM Plex Sans KR"/>
              <a:ea typeface="IBM Plex Sans KR"/>
              <a:cs typeface="IBM Plex Sans KR"/>
              <a:sym typeface="IBM Plex Sans KR"/>
            </a:endParaRPr>
          </a:p>
        </p:txBody>
      </p:sp>
      <p:pic>
        <p:nvPicPr>
          <p:cNvPr descr="logo.png" id="293" name="Google Shape;293;p29"/>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sp>
        <p:nvSpPr>
          <p:cNvPr id="294" name="Google Shape;294;p29"/>
          <p:cNvSpPr txBox="1"/>
          <p:nvPr/>
        </p:nvSpPr>
        <p:spPr>
          <a:xfrm>
            <a:off x="835546" y="963850"/>
            <a:ext cx="7526400" cy="3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1200">
                <a:solidFill>
                  <a:schemeClr val="dk1"/>
                </a:solidFill>
                <a:latin typeface="IBM Plex Sans KR"/>
                <a:ea typeface="IBM Plex Sans KR"/>
                <a:cs typeface="IBM Plex Sans KR"/>
                <a:sym typeface="IBM Plex Sans KR"/>
              </a:rPr>
              <a:t>Policy Accuracy</a:t>
            </a:r>
            <a:r>
              <a:rPr lang="ko" sz="1200">
                <a:solidFill>
                  <a:schemeClr val="dk1"/>
                </a:solidFill>
                <a:latin typeface="IBM Plex Sans KR"/>
                <a:ea typeface="IBM Plex Sans KR"/>
                <a:cs typeface="IBM Plex Sans KR"/>
                <a:sym typeface="IBM Plex Sans KR"/>
              </a:rPr>
              <a:t> :  </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2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0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rPr lang="ko" sz="1000">
                <a:solidFill>
                  <a:schemeClr val="dk1"/>
                </a:solidFill>
                <a:latin typeface="IBM Plex Sans KR"/>
                <a:ea typeface="IBM Plex Sans KR"/>
                <a:cs typeface="IBM Plex Sans KR"/>
                <a:sym typeface="IBM Plex Sans KR"/>
              </a:rPr>
              <a:t>Recommendation Reach:</a:t>
            </a:r>
            <a:endParaRPr sz="10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0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000">
              <a:solidFill>
                <a:schemeClr val="dk1"/>
              </a:solidFill>
              <a:latin typeface="IBM Plex Sans KR"/>
              <a:ea typeface="IBM Plex Sans KR"/>
              <a:cs typeface="IBM Plex Sans KR"/>
              <a:sym typeface="IBM Plex Sans KR"/>
            </a:endParaRPr>
          </a:p>
          <a:p>
            <a:pPr indent="0" lvl="0" marL="0" rtl="0" algn="l">
              <a:spcBef>
                <a:spcPts val="0"/>
              </a:spcBef>
              <a:spcAft>
                <a:spcPts val="0"/>
              </a:spcAft>
              <a:buNone/>
            </a:pPr>
            <a:r>
              <a:t/>
            </a:r>
            <a:endParaRPr sz="1000">
              <a:solidFill>
                <a:schemeClr val="dk1"/>
              </a:solidFill>
              <a:latin typeface="IBM Plex Sans KR"/>
              <a:ea typeface="IBM Plex Sans KR"/>
              <a:cs typeface="IBM Plex Sans KR"/>
              <a:sym typeface="IBM Plex Sans KR"/>
            </a:endParaRPr>
          </a:p>
          <a:p>
            <a:pPr indent="0" lvl="0" marL="0" rtl="0" algn="l">
              <a:lnSpc>
                <a:spcPct val="115000"/>
              </a:lnSpc>
              <a:spcBef>
                <a:spcPts val="1200"/>
              </a:spcBef>
              <a:spcAft>
                <a:spcPts val="0"/>
              </a:spcAft>
              <a:buNone/>
            </a:pPr>
            <a:r>
              <a:t/>
            </a:r>
            <a:endParaRPr sz="1000">
              <a:solidFill>
                <a:schemeClr val="dk1"/>
              </a:solidFill>
              <a:latin typeface="IBM Plex Sans KR"/>
              <a:ea typeface="IBM Plex Sans KR"/>
              <a:cs typeface="IBM Plex Sans KR"/>
              <a:sym typeface="IBM Plex Sans KR"/>
            </a:endParaRPr>
          </a:p>
          <a:p>
            <a:pPr indent="0" lvl="0" marL="0" rtl="0" algn="l">
              <a:lnSpc>
                <a:spcPct val="115000"/>
              </a:lnSpc>
              <a:spcBef>
                <a:spcPts val="1200"/>
              </a:spcBef>
              <a:spcAft>
                <a:spcPts val="0"/>
              </a:spcAft>
              <a:buNone/>
            </a:pPr>
            <a:r>
              <a:rPr lang="ko" sz="1000">
                <a:solidFill>
                  <a:schemeClr val="dk1"/>
                </a:solidFill>
                <a:latin typeface="IBM Plex Sans KR"/>
                <a:ea typeface="IBM Plex Sans KR"/>
                <a:cs typeface="IBM Plex Sans KR"/>
                <a:sym typeface="IBM Plex Sans KR"/>
              </a:rPr>
              <a:t>Hard- Filter Completion :</a:t>
            </a:r>
            <a:endParaRPr sz="1000">
              <a:solidFill>
                <a:schemeClr val="dk1"/>
              </a:solidFill>
              <a:latin typeface="IBM Plex Sans KR"/>
              <a:ea typeface="IBM Plex Sans KR"/>
              <a:cs typeface="IBM Plex Sans KR"/>
              <a:sym typeface="IBM Plex Sans KR"/>
            </a:endParaRPr>
          </a:p>
          <a:p>
            <a:pPr indent="0" lvl="0" marL="0" rtl="0" algn="l">
              <a:lnSpc>
                <a:spcPct val="115000"/>
              </a:lnSpc>
              <a:spcBef>
                <a:spcPts val="1200"/>
              </a:spcBef>
              <a:spcAft>
                <a:spcPts val="0"/>
              </a:spcAft>
              <a:buNone/>
            </a:pPr>
            <a:r>
              <a:t/>
            </a:r>
            <a:endParaRPr sz="1000">
              <a:solidFill>
                <a:schemeClr val="dk1"/>
              </a:solidFill>
              <a:latin typeface="IBM Plex Sans KR"/>
              <a:ea typeface="IBM Plex Sans KR"/>
              <a:cs typeface="IBM Plex Sans KR"/>
              <a:sym typeface="IBM Plex Sans KR"/>
            </a:endParaRPr>
          </a:p>
          <a:p>
            <a:pPr indent="0" lvl="0" marL="0" rtl="0" algn="l">
              <a:spcBef>
                <a:spcPts val="1200"/>
              </a:spcBef>
              <a:spcAft>
                <a:spcPts val="0"/>
              </a:spcAft>
              <a:buNone/>
            </a:pPr>
            <a:r>
              <a:t/>
            </a:r>
            <a:endParaRPr sz="1000">
              <a:solidFill>
                <a:schemeClr val="dk1"/>
              </a:solidFill>
              <a:latin typeface="IBM Plex Sans KR"/>
              <a:ea typeface="IBM Plex Sans KR"/>
              <a:cs typeface="IBM Plex Sans KR"/>
              <a:sym typeface="IBM Plex Sans KR"/>
            </a:endParaRPr>
          </a:p>
        </p:txBody>
      </p:sp>
      <p:graphicFrame>
        <p:nvGraphicFramePr>
          <p:cNvPr id="295" name="Google Shape;295;p29"/>
          <p:cNvGraphicFramePr/>
          <p:nvPr/>
        </p:nvGraphicFramePr>
        <p:xfrm>
          <a:off x="2193100" y="1216804"/>
          <a:ext cx="3000000" cy="3000000"/>
        </p:xfrm>
        <a:graphic>
          <a:graphicData uri="http://schemas.openxmlformats.org/drawingml/2006/table">
            <a:tbl>
              <a:tblPr>
                <a:noFill/>
                <a:tableStyleId>{49C477C8-D558-4458-9357-916986D1DDB7}</a:tableStyleId>
              </a:tblPr>
              <a:tblGrid>
                <a:gridCol w="1155500"/>
                <a:gridCol w="1155500"/>
                <a:gridCol w="1155500"/>
                <a:gridCol w="1155500"/>
              </a:tblGrid>
              <a:tr h="321900">
                <a:tc>
                  <a:txBody>
                    <a:bodyPr/>
                    <a:lstStyle/>
                    <a:p>
                      <a:pPr indent="0" lvl="0" marL="0" rtl="0" algn="l">
                        <a:spcBef>
                          <a:spcPts val="0"/>
                        </a:spcBef>
                        <a:spcAft>
                          <a:spcPts val="0"/>
                        </a:spcAft>
                        <a:buNone/>
                      </a:pPr>
                      <a:r>
                        <a:rPr lang="ko" sz="600"/>
                        <a:t>조건</a:t>
                      </a:r>
                      <a:endParaRPr sz="600"/>
                    </a:p>
                  </a:txBody>
                  <a:tcPr marT="91425" marB="91425" marR="91425" marL="91425">
                    <a:lnR cap="flat" cmpd="sng" w="9525">
                      <a:solidFill>
                        <a:schemeClr val="lt1"/>
                      </a:solidFill>
                      <a:prstDash val="solid"/>
                      <a:round/>
                      <a:headEnd len="sm" w="sm" type="none"/>
                      <a:tailEnd len="sm" w="sm" type="none"/>
                    </a:lnR>
                  </a:tcPr>
                </a:tc>
                <a:tc>
                  <a:txBody>
                    <a:bodyPr/>
                    <a:lstStyle/>
                    <a:p>
                      <a:pPr indent="0" lvl="0" marL="0" rtl="0" algn="l">
                        <a:spcBef>
                          <a:spcPts val="0"/>
                        </a:spcBef>
                        <a:spcAft>
                          <a:spcPts val="0"/>
                        </a:spcAft>
                        <a:buNone/>
                      </a:pPr>
                      <a:r>
                        <a:rPr lang="ko" sz="600"/>
                        <a:t>정답 턴</a:t>
                      </a:r>
                      <a:endParaRPr sz="6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l">
                        <a:spcBef>
                          <a:spcPts val="0"/>
                        </a:spcBef>
                        <a:spcAft>
                          <a:spcPts val="0"/>
                        </a:spcAft>
                        <a:buNone/>
                      </a:pPr>
                      <a:r>
                        <a:rPr lang="ko" sz="600"/>
                        <a:t>전체</a:t>
                      </a:r>
                      <a:endParaRPr sz="6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l">
                        <a:spcBef>
                          <a:spcPts val="0"/>
                        </a:spcBef>
                        <a:spcAft>
                          <a:spcPts val="0"/>
                        </a:spcAft>
                        <a:buNone/>
                      </a:pPr>
                      <a:r>
                        <a:rPr lang="ko" sz="600"/>
                        <a:t>Accuracy</a:t>
                      </a:r>
                      <a:endParaRPr sz="600"/>
                    </a:p>
                  </a:txBody>
                  <a:tcPr marT="91425" marB="91425" marR="91425" marL="91425">
                    <a:lnL cap="flat" cmpd="sng" w="9525">
                      <a:solidFill>
                        <a:schemeClr val="lt1"/>
                      </a:solidFill>
                      <a:prstDash val="solid"/>
                      <a:round/>
                      <a:headEnd len="sm" w="sm" type="none"/>
                      <a:tailEnd len="sm" w="sm" type="none"/>
                    </a:lnL>
                  </a:tcPr>
                </a:tc>
              </a:tr>
              <a:tr h="252350">
                <a:tc>
                  <a:txBody>
                    <a:bodyPr/>
                    <a:lstStyle/>
                    <a:p>
                      <a:pPr indent="0" lvl="0" marL="0" rtl="0" algn="l">
                        <a:spcBef>
                          <a:spcPts val="0"/>
                        </a:spcBef>
                        <a:spcAft>
                          <a:spcPts val="0"/>
                        </a:spcAft>
                        <a:buNone/>
                      </a:pPr>
                      <a:r>
                        <a:rPr lang="ko" sz="600"/>
                        <a:t>Ful</a:t>
                      </a:r>
                      <a:endParaRPr sz="600"/>
                    </a:p>
                  </a:txBody>
                  <a:tcPr marT="91425" marB="91425" marR="91425" marL="91425">
                    <a:lnR cap="flat" cmpd="sng" w="9525">
                      <a:solidFill>
                        <a:schemeClr val="lt1"/>
                      </a:solidFill>
                      <a:prstDash val="solid"/>
                      <a:round/>
                      <a:headEnd len="sm" w="sm" type="none"/>
                      <a:tailEnd len="sm" w="sm" type="none"/>
                    </a:lnR>
                  </a:tcPr>
                </a:tc>
                <a:tc>
                  <a:txBody>
                    <a:bodyPr/>
                    <a:lstStyle/>
                    <a:p>
                      <a:pPr indent="0" lvl="0" marL="0" rtl="0" algn="l">
                        <a:spcBef>
                          <a:spcPts val="0"/>
                        </a:spcBef>
                        <a:spcAft>
                          <a:spcPts val="0"/>
                        </a:spcAft>
                        <a:buNone/>
                      </a:pPr>
                      <a:r>
                        <a:rPr lang="ko" sz="600"/>
                        <a:t>65</a:t>
                      </a:r>
                      <a:endParaRPr sz="6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l">
                        <a:spcBef>
                          <a:spcPts val="0"/>
                        </a:spcBef>
                        <a:spcAft>
                          <a:spcPts val="0"/>
                        </a:spcAft>
                        <a:buNone/>
                      </a:pPr>
                      <a:r>
                        <a:rPr lang="ko" sz="600"/>
                        <a:t>81</a:t>
                      </a:r>
                      <a:endParaRPr sz="6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l">
                        <a:spcBef>
                          <a:spcPts val="0"/>
                        </a:spcBef>
                        <a:spcAft>
                          <a:spcPts val="0"/>
                        </a:spcAft>
                        <a:buNone/>
                      </a:pPr>
                      <a:r>
                        <a:rPr lang="ko" sz="600"/>
                        <a:t>0.802</a:t>
                      </a:r>
                      <a:endParaRPr sz="600"/>
                    </a:p>
                  </a:txBody>
                  <a:tcPr marT="91425" marB="91425" marR="91425" marL="91425">
                    <a:lnL cap="flat" cmpd="sng" w="9525">
                      <a:solidFill>
                        <a:schemeClr val="lt1"/>
                      </a:solidFill>
                      <a:prstDash val="solid"/>
                      <a:round/>
                      <a:headEnd len="sm" w="sm" type="none"/>
                      <a:tailEnd len="sm" w="sm" type="none"/>
                    </a:lnL>
                  </a:tcPr>
                </a:tc>
              </a:tr>
              <a:tr h="252350">
                <a:tc>
                  <a:txBody>
                    <a:bodyPr/>
                    <a:lstStyle/>
                    <a:p>
                      <a:pPr indent="0" lvl="0" marL="0" rtl="0" algn="l">
                        <a:spcBef>
                          <a:spcPts val="0"/>
                        </a:spcBef>
                        <a:spcAft>
                          <a:spcPts val="0"/>
                        </a:spcAft>
                        <a:buNone/>
                      </a:pPr>
                      <a:r>
                        <a:rPr lang="ko" sz="600"/>
                        <a:t>No-Memory</a:t>
                      </a:r>
                      <a:endParaRPr sz="600"/>
                    </a:p>
                  </a:txBody>
                  <a:tcPr marT="91425" marB="91425" marR="91425" marL="91425">
                    <a:lnR cap="flat" cmpd="sng" w="9525">
                      <a:solidFill>
                        <a:schemeClr val="lt1"/>
                      </a:solidFill>
                      <a:prstDash val="solid"/>
                      <a:round/>
                      <a:headEnd len="sm" w="sm" type="none"/>
                      <a:tailEnd len="sm" w="sm" type="none"/>
                    </a:lnR>
                  </a:tcPr>
                </a:tc>
                <a:tc>
                  <a:txBody>
                    <a:bodyPr/>
                    <a:lstStyle/>
                    <a:p>
                      <a:pPr indent="0" lvl="0" marL="0" rtl="0" algn="l">
                        <a:spcBef>
                          <a:spcPts val="0"/>
                        </a:spcBef>
                        <a:spcAft>
                          <a:spcPts val="0"/>
                        </a:spcAft>
                        <a:buNone/>
                      </a:pPr>
                      <a:r>
                        <a:rPr lang="ko" sz="600"/>
                        <a:t>60</a:t>
                      </a:r>
                      <a:endParaRPr sz="6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l">
                        <a:spcBef>
                          <a:spcPts val="0"/>
                        </a:spcBef>
                        <a:spcAft>
                          <a:spcPts val="0"/>
                        </a:spcAft>
                        <a:buNone/>
                      </a:pPr>
                      <a:r>
                        <a:rPr lang="ko" sz="600"/>
                        <a:t>81</a:t>
                      </a:r>
                      <a:endParaRPr sz="6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l">
                        <a:spcBef>
                          <a:spcPts val="0"/>
                        </a:spcBef>
                        <a:spcAft>
                          <a:spcPts val="0"/>
                        </a:spcAft>
                        <a:buNone/>
                      </a:pPr>
                      <a:r>
                        <a:rPr lang="ko" sz="600"/>
                        <a:t>0.741</a:t>
                      </a:r>
                      <a:endParaRPr sz="600"/>
                    </a:p>
                  </a:txBody>
                  <a:tcPr marT="91425" marB="91425" marR="91425" marL="91425">
                    <a:lnL cap="flat" cmpd="sng" w="9525">
                      <a:solidFill>
                        <a:schemeClr val="lt1"/>
                      </a:solidFill>
                      <a:prstDash val="solid"/>
                      <a:round/>
                      <a:headEnd len="sm" w="sm" type="none"/>
                      <a:tailEnd len="sm" w="sm" type="none"/>
                    </a:lnL>
                  </a:tcPr>
                </a:tc>
              </a:tr>
            </a:tbl>
          </a:graphicData>
        </a:graphic>
      </p:graphicFrame>
      <p:graphicFrame>
        <p:nvGraphicFramePr>
          <p:cNvPr id="296" name="Google Shape;296;p29"/>
          <p:cNvGraphicFramePr/>
          <p:nvPr/>
        </p:nvGraphicFramePr>
        <p:xfrm>
          <a:off x="2090718" y="2318200"/>
          <a:ext cx="3000000" cy="3000000"/>
        </p:xfrm>
        <a:graphic>
          <a:graphicData uri="http://schemas.openxmlformats.org/drawingml/2006/table">
            <a:tbl>
              <a:tblPr>
                <a:noFill/>
                <a:tableStyleId>{49C477C8-D558-4458-9357-916986D1DDB7}</a:tableStyleId>
              </a:tblPr>
              <a:tblGrid>
                <a:gridCol w="1240550"/>
                <a:gridCol w="1240550"/>
                <a:gridCol w="1240550"/>
                <a:gridCol w="1240550"/>
              </a:tblGrid>
              <a:tr h="288625">
                <a:tc>
                  <a:txBody>
                    <a:bodyPr/>
                    <a:lstStyle/>
                    <a:p>
                      <a:pPr indent="0" lvl="0" marL="0" rtl="0" algn="l">
                        <a:spcBef>
                          <a:spcPts val="0"/>
                        </a:spcBef>
                        <a:spcAft>
                          <a:spcPts val="0"/>
                        </a:spcAft>
                        <a:buNone/>
                      </a:pPr>
                      <a:r>
                        <a:rPr lang="ko" sz="600"/>
                        <a:t>조건</a:t>
                      </a:r>
                      <a:endParaRPr sz="600"/>
                    </a:p>
                  </a:txBody>
                  <a:tcPr marT="91425" marB="91425" marR="91425" marL="91425">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t>Recommend 도달</a:t>
                      </a:r>
                      <a:endParaRPr sz="6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t>Gold Recommend 턴</a:t>
                      </a:r>
                      <a:endParaRPr sz="6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t>Reach</a:t>
                      </a:r>
                      <a:endParaRPr sz="600"/>
                    </a:p>
                  </a:txBody>
                  <a:tcPr marT="91425" marB="91425" marR="91425" marL="91425">
                    <a:lnL cap="flat" cmpd="sng" w="9525">
                      <a:solidFill>
                        <a:schemeClr val="lt1"/>
                      </a:solidFill>
                      <a:prstDash val="solid"/>
                      <a:round/>
                      <a:headEnd len="sm" w="sm" type="none"/>
                      <a:tailEnd len="sm" w="sm" type="none"/>
                    </a:lnL>
                  </a:tcPr>
                </a:tc>
              </a:tr>
              <a:tr h="288625">
                <a:tc>
                  <a:txBody>
                    <a:bodyPr/>
                    <a:lstStyle/>
                    <a:p>
                      <a:pPr indent="0" lvl="0" marL="0" rtl="0" algn="l">
                        <a:spcBef>
                          <a:spcPts val="0"/>
                        </a:spcBef>
                        <a:spcAft>
                          <a:spcPts val="0"/>
                        </a:spcAft>
                        <a:buNone/>
                      </a:pPr>
                      <a:r>
                        <a:rPr lang="ko" sz="600"/>
                        <a:t>Ful</a:t>
                      </a:r>
                      <a:endParaRPr sz="600"/>
                    </a:p>
                  </a:txBody>
                  <a:tcPr marT="91425" marB="91425" marR="91425" marL="91425">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t>63</a:t>
                      </a:r>
                      <a:endParaRPr sz="6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t>78</a:t>
                      </a:r>
                      <a:endParaRPr sz="6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t>0.808</a:t>
                      </a:r>
                      <a:endParaRPr sz="600"/>
                    </a:p>
                  </a:txBody>
                  <a:tcPr marT="91425" marB="91425" marR="91425" marL="91425">
                    <a:lnL cap="flat" cmpd="sng" w="9525">
                      <a:solidFill>
                        <a:schemeClr val="lt1"/>
                      </a:solidFill>
                      <a:prstDash val="solid"/>
                      <a:round/>
                      <a:headEnd len="sm" w="sm" type="none"/>
                      <a:tailEnd len="sm" w="sm" type="none"/>
                    </a:lnL>
                  </a:tcPr>
                </a:tc>
              </a:tr>
              <a:tr h="288625">
                <a:tc>
                  <a:txBody>
                    <a:bodyPr/>
                    <a:lstStyle/>
                    <a:p>
                      <a:pPr indent="0" lvl="0" marL="0" rtl="0" algn="l">
                        <a:spcBef>
                          <a:spcPts val="0"/>
                        </a:spcBef>
                        <a:spcAft>
                          <a:spcPts val="0"/>
                        </a:spcAft>
                        <a:buNone/>
                      </a:pPr>
                      <a:r>
                        <a:rPr lang="ko" sz="600"/>
                        <a:t>No-Memory</a:t>
                      </a:r>
                      <a:endParaRPr sz="600"/>
                    </a:p>
                  </a:txBody>
                  <a:tcPr marT="91425" marB="91425" marR="91425" marL="91425">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t>58</a:t>
                      </a:r>
                      <a:endParaRPr sz="6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t>78</a:t>
                      </a:r>
                      <a:endParaRPr sz="6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t>0.744</a:t>
                      </a:r>
                      <a:endParaRPr sz="600"/>
                    </a:p>
                  </a:txBody>
                  <a:tcPr marT="91425" marB="91425" marR="91425" marL="91425">
                    <a:lnL cap="flat" cmpd="sng" w="9525">
                      <a:solidFill>
                        <a:schemeClr val="lt1"/>
                      </a:solidFill>
                      <a:prstDash val="solid"/>
                      <a:round/>
                      <a:headEnd len="sm" w="sm" type="none"/>
                      <a:tailEnd len="sm" w="sm" type="none"/>
                    </a:lnL>
                  </a:tcPr>
                </a:tc>
              </a:tr>
            </a:tbl>
          </a:graphicData>
        </a:graphic>
      </p:graphicFrame>
      <p:graphicFrame>
        <p:nvGraphicFramePr>
          <p:cNvPr id="297" name="Google Shape;297;p29"/>
          <p:cNvGraphicFramePr/>
          <p:nvPr/>
        </p:nvGraphicFramePr>
        <p:xfrm>
          <a:off x="2108586" y="3508600"/>
          <a:ext cx="3000000" cy="3000000"/>
        </p:xfrm>
        <a:graphic>
          <a:graphicData uri="http://schemas.openxmlformats.org/drawingml/2006/table">
            <a:tbl>
              <a:tblPr>
                <a:noFill/>
                <a:tableStyleId>{49C477C8-D558-4458-9357-916986D1DDB7}</a:tableStyleId>
              </a:tblPr>
              <a:tblGrid>
                <a:gridCol w="1240550"/>
                <a:gridCol w="1240550"/>
                <a:gridCol w="1240550"/>
                <a:gridCol w="1240550"/>
              </a:tblGrid>
              <a:tr h="288625">
                <a:tc>
                  <a:txBody>
                    <a:bodyPr/>
                    <a:lstStyle/>
                    <a:p>
                      <a:pPr indent="0" lvl="0" marL="0" rtl="0" algn="l">
                        <a:spcBef>
                          <a:spcPts val="0"/>
                        </a:spcBef>
                        <a:spcAft>
                          <a:spcPts val="0"/>
                        </a:spcAft>
                        <a:buNone/>
                      </a:pPr>
                      <a:r>
                        <a:rPr lang="ko" sz="600"/>
                        <a:t>조건</a:t>
                      </a:r>
                      <a:endParaRPr sz="600"/>
                    </a:p>
                  </a:txBody>
                  <a:tcPr marT="91425" marB="91425" marR="91425" marL="91425">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t>완전 일치 턴</a:t>
                      </a:r>
                      <a:endParaRPr sz="6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t>전체</a:t>
                      </a:r>
                      <a:endParaRPr sz="6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t>Completion</a:t>
                      </a:r>
                      <a:endParaRPr sz="600"/>
                    </a:p>
                  </a:txBody>
                  <a:tcPr marT="91425" marB="91425" marR="91425" marL="91425">
                    <a:lnL cap="flat" cmpd="sng" w="9525">
                      <a:solidFill>
                        <a:schemeClr val="lt1"/>
                      </a:solidFill>
                      <a:prstDash val="solid"/>
                      <a:round/>
                      <a:headEnd len="sm" w="sm" type="none"/>
                      <a:tailEnd len="sm" w="sm" type="none"/>
                    </a:lnL>
                  </a:tcPr>
                </a:tc>
              </a:tr>
              <a:tr h="288625">
                <a:tc>
                  <a:txBody>
                    <a:bodyPr/>
                    <a:lstStyle/>
                    <a:p>
                      <a:pPr indent="0" lvl="0" marL="0" rtl="0" algn="l">
                        <a:spcBef>
                          <a:spcPts val="0"/>
                        </a:spcBef>
                        <a:spcAft>
                          <a:spcPts val="0"/>
                        </a:spcAft>
                        <a:buNone/>
                      </a:pPr>
                      <a:r>
                        <a:rPr lang="ko" sz="600"/>
                        <a:t>Ful</a:t>
                      </a:r>
                      <a:endParaRPr sz="600"/>
                    </a:p>
                  </a:txBody>
                  <a:tcPr marT="91425" marB="91425" marR="91425" marL="91425">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t>51</a:t>
                      </a:r>
                      <a:endParaRPr sz="6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t>81</a:t>
                      </a:r>
                      <a:endParaRPr sz="6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t>0.630</a:t>
                      </a:r>
                      <a:endParaRPr sz="600"/>
                    </a:p>
                  </a:txBody>
                  <a:tcPr marT="91425" marB="91425" marR="91425" marL="91425">
                    <a:lnL cap="flat" cmpd="sng" w="9525">
                      <a:solidFill>
                        <a:schemeClr val="lt1"/>
                      </a:solidFill>
                      <a:prstDash val="solid"/>
                      <a:round/>
                      <a:headEnd len="sm" w="sm" type="none"/>
                      <a:tailEnd len="sm" w="sm" type="none"/>
                    </a:lnL>
                  </a:tcPr>
                </a:tc>
              </a:tr>
              <a:tr h="288625">
                <a:tc>
                  <a:txBody>
                    <a:bodyPr/>
                    <a:lstStyle/>
                    <a:p>
                      <a:pPr indent="0" lvl="0" marL="0" rtl="0" algn="l">
                        <a:spcBef>
                          <a:spcPts val="0"/>
                        </a:spcBef>
                        <a:spcAft>
                          <a:spcPts val="0"/>
                        </a:spcAft>
                        <a:buNone/>
                      </a:pPr>
                      <a:r>
                        <a:rPr lang="ko" sz="600"/>
                        <a:t>No-Memory</a:t>
                      </a:r>
                      <a:endParaRPr sz="600"/>
                    </a:p>
                  </a:txBody>
                  <a:tcPr marT="91425" marB="91425" marR="91425" marL="91425">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t>36</a:t>
                      </a:r>
                      <a:endParaRPr sz="6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t>81</a:t>
                      </a:r>
                      <a:endParaRPr sz="600"/>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tcPr>
                </a:tc>
                <a:tc>
                  <a:txBody>
                    <a:bodyPr/>
                    <a:lstStyle/>
                    <a:p>
                      <a:pPr indent="0" lvl="0" marL="0" rtl="0" algn="ctr">
                        <a:spcBef>
                          <a:spcPts val="0"/>
                        </a:spcBef>
                        <a:spcAft>
                          <a:spcPts val="0"/>
                        </a:spcAft>
                        <a:buNone/>
                      </a:pPr>
                      <a:r>
                        <a:rPr lang="ko" sz="600"/>
                        <a:t>0.444</a:t>
                      </a:r>
                      <a:endParaRPr sz="600"/>
                    </a:p>
                  </a:txBody>
                  <a:tcPr marT="91425" marB="91425" marR="91425" marL="91425">
                    <a:lnL cap="flat" cmpd="sng" w="9525">
                      <a:solidFill>
                        <a:schemeClr val="lt1"/>
                      </a:solidFill>
                      <a:prstDash val="solid"/>
                      <a:round/>
                      <a:headEnd len="sm" w="sm" type="none"/>
                      <a:tailEnd len="sm" w="sm" type="none"/>
                    </a:ln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cxnSp>
        <p:nvCxnSpPr>
          <p:cNvPr id="303" name="Google Shape;303;p30"/>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304" name="Google Shape;304;p30"/>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305" name="Google Shape;305;p30"/>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306" name="Google Shape;306;p3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ko"/>
              <a:t>‹#›</a:t>
            </a:fld>
            <a:endParaRPr/>
          </a:p>
        </p:txBody>
      </p:sp>
      <p:sp>
        <p:nvSpPr>
          <p:cNvPr id="307" name="Google Shape;307;p30"/>
          <p:cNvSpPr txBox="1"/>
          <p:nvPr/>
        </p:nvSpPr>
        <p:spPr>
          <a:xfrm>
            <a:off x="547425" y="535575"/>
            <a:ext cx="8076000" cy="36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Diagnostic Analysis</a:t>
            </a:r>
            <a:r>
              <a:rPr lang="ko" sz="1800">
                <a:solidFill>
                  <a:schemeClr val="dk1"/>
                </a:solidFill>
                <a:latin typeface="IBM Plex Sans KR"/>
                <a:ea typeface="IBM Plex Sans KR"/>
                <a:cs typeface="IBM Plex Sans KR"/>
                <a:sym typeface="IBM Plex Sans KR"/>
              </a:rPr>
              <a:t> </a:t>
            </a:r>
            <a:endParaRPr sz="1800">
              <a:solidFill>
                <a:schemeClr val="dk1"/>
              </a:solidFill>
              <a:latin typeface="IBM Plex Sans KR"/>
              <a:ea typeface="IBM Plex Sans KR"/>
              <a:cs typeface="IBM Plex Sans KR"/>
              <a:sym typeface="IBM Plex Sans KR"/>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latin typeface="IBM Plex Sans KR"/>
              <a:ea typeface="IBM Plex Sans KR"/>
              <a:cs typeface="IBM Plex Sans KR"/>
              <a:sym typeface="IBM Plex Sans KR"/>
            </a:endParaRPr>
          </a:p>
          <a:p>
            <a:pPr indent="0" lvl="0" marL="0" rtl="0" algn="l">
              <a:spcBef>
                <a:spcPts val="1200"/>
              </a:spcBef>
              <a:spcAft>
                <a:spcPts val="0"/>
              </a:spcAft>
              <a:buClr>
                <a:schemeClr val="dk1"/>
              </a:buClr>
              <a:buSzPts val="1100"/>
              <a:buFont typeface="Arial"/>
              <a:buNone/>
            </a:pPr>
            <a:r>
              <a:t/>
            </a:r>
            <a:endParaRPr sz="1200">
              <a:solidFill>
                <a:schemeClr val="dk1"/>
              </a:solidFill>
              <a:latin typeface="IBM Plex Sans KR"/>
              <a:ea typeface="IBM Plex Sans KR"/>
              <a:cs typeface="IBM Plex Sans KR"/>
              <a:sym typeface="IBM Plex Sans KR"/>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1"/>
              </a:solidFill>
              <a:latin typeface="IBM Plex Sans KR"/>
              <a:ea typeface="IBM Plex Sans KR"/>
              <a:cs typeface="IBM Plex Sans KR"/>
              <a:sym typeface="IBM Plex Sans KR"/>
            </a:endParaRPr>
          </a:p>
          <a:p>
            <a:pPr indent="0" lvl="0" marL="0" marR="0" rtl="0" algn="l">
              <a:lnSpc>
                <a:spcPct val="100000"/>
              </a:lnSpc>
              <a:spcBef>
                <a:spcPts val="0"/>
              </a:spcBef>
              <a:spcAft>
                <a:spcPts val="0"/>
              </a:spcAft>
              <a:buClr>
                <a:srgbClr val="000000"/>
              </a:buClr>
              <a:buSzPts val="1800"/>
              <a:buFont typeface="Arial"/>
              <a:buNone/>
            </a:pPr>
            <a:r>
              <a:t/>
            </a:r>
            <a:endParaRPr sz="1200">
              <a:solidFill>
                <a:schemeClr val="dk1"/>
              </a:solidFill>
              <a:latin typeface="IBM Plex Sans KR"/>
              <a:ea typeface="IBM Plex Sans KR"/>
              <a:cs typeface="IBM Plex Sans KR"/>
              <a:sym typeface="IBM Plex Sans KR"/>
            </a:endParaRPr>
          </a:p>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 </a:t>
            </a:r>
            <a:endParaRPr b="0" i="0" sz="1800" u="none" cap="none" strike="noStrike">
              <a:solidFill>
                <a:schemeClr val="dk1"/>
              </a:solidFill>
              <a:latin typeface="IBM Plex Sans KR"/>
              <a:ea typeface="IBM Plex Sans KR"/>
              <a:cs typeface="IBM Plex Sans KR"/>
              <a:sym typeface="IBM Plex Sans KR"/>
            </a:endParaRPr>
          </a:p>
        </p:txBody>
      </p:sp>
      <p:pic>
        <p:nvPicPr>
          <p:cNvPr descr="logo.png" id="308" name="Google Shape;308;p30"/>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sp>
        <p:nvSpPr>
          <p:cNvPr id="309" name="Google Shape;309;p30"/>
          <p:cNvSpPr txBox="1"/>
          <p:nvPr/>
        </p:nvSpPr>
        <p:spPr>
          <a:xfrm>
            <a:off x="703725" y="973475"/>
            <a:ext cx="7919700" cy="62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ko" sz="1100">
                <a:solidFill>
                  <a:schemeClr val="dk1"/>
                </a:solidFill>
                <a:latin typeface="IBM Plex Sans KR"/>
                <a:ea typeface="IBM Plex Sans KR"/>
                <a:cs typeface="IBM Plex Sans KR"/>
                <a:sym typeface="IBM Plex Sans KR"/>
              </a:rPr>
              <a:t>실제 시스템이 추론한 Dialogue State와 Gold State으로 구성한 정답 상태를 동일한 Policy 결정 및 검색 조건 생성 과정에 각각 입력하여, Dialogue State의 정확성이 재질문·추천 분기, 추천 단계 진입, Hard Filter 생성에 미치는 영향을 분석.</a:t>
            </a:r>
            <a:endParaRPr sz="1100">
              <a:solidFill>
                <a:schemeClr val="dk1"/>
              </a:solidFill>
              <a:latin typeface="IBM Plex Sans KR"/>
              <a:ea typeface="IBM Plex Sans KR"/>
              <a:cs typeface="IBM Plex Sans KR"/>
              <a:sym typeface="IBM Plex Sans KR"/>
            </a:endParaRPr>
          </a:p>
          <a:p>
            <a:pPr indent="0" lvl="0" marL="0" rtl="0" algn="l">
              <a:spcBef>
                <a:spcPts val="1200"/>
              </a:spcBef>
              <a:spcAft>
                <a:spcPts val="0"/>
              </a:spcAft>
              <a:buNone/>
            </a:pPr>
            <a:r>
              <a:t/>
            </a:r>
            <a:endParaRPr sz="1100">
              <a:solidFill>
                <a:schemeClr val="dk1"/>
              </a:solidFill>
              <a:latin typeface="IBM Plex Sans KR"/>
              <a:ea typeface="IBM Plex Sans KR"/>
              <a:cs typeface="IBM Plex Sans KR"/>
              <a:sym typeface="IBM Plex Sans KR"/>
            </a:endParaRPr>
          </a:p>
        </p:txBody>
      </p:sp>
      <p:pic>
        <p:nvPicPr>
          <p:cNvPr id="310" name="Google Shape;310;p30"/>
          <p:cNvPicPr preferRelativeResize="0"/>
          <p:nvPr/>
        </p:nvPicPr>
        <p:blipFill>
          <a:blip r:embed="rId4">
            <a:alphaModFix/>
          </a:blip>
          <a:stretch>
            <a:fillRect/>
          </a:stretch>
        </p:blipFill>
        <p:spPr>
          <a:xfrm>
            <a:off x="2758150" y="1667573"/>
            <a:ext cx="3024875" cy="1326550"/>
          </a:xfrm>
          <a:prstGeom prst="rect">
            <a:avLst/>
          </a:prstGeom>
          <a:noFill/>
          <a:ln>
            <a:noFill/>
          </a:ln>
        </p:spPr>
      </p:pic>
      <p:sp>
        <p:nvSpPr>
          <p:cNvPr id="311" name="Google Shape;311;p30"/>
          <p:cNvSpPr txBox="1"/>
          <p:nvPr/>
        </p:nvSpPr>
        <p:spPr>
          <a:xfrm>
            <a:off x="719471" y="3330236"/>
            <a:ext cx="7919700" cy="62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ko" sz="1100">
                <a:solidFill>
                  <a:schemeClr val="dk1"/>
                </a:solidFill>
                <a:latin typeface="IBM Plex Sans KR"/>
                <a:ea typeface="IBM Plex Sans KR"/>
                <a:cs typeface="IBM Plex Sans KR"/>
                <a:sym typeface="IBM Plex Sans KR"/>
              </a:rPr>
              <a:t>Gold-State를 입력했을 때 동일한 Policy 결정 및 검색 조건 생성 과정에서 Policy Accuracy, Recommendation Reach, Hard-filter Completion이 모두 1.0으로 회복되었다. 이를 통해 현재 평가 기준에서는 Policy 및 검색 조건 생성 로직이 정답 상태를 올바르게 처리하며, Actual Full의 성능 저하는 주로 Dialogue State의 추론·누적 오류가 이후 추천 과정에 전파된 결과임을 확인함.</a:t>
            </a:r>
            <a:endParaRPr sz="1100">
              <a:solidFill>
                <a:schemeClr val="dk1"/>
              </a:solidFill>
              <a:latin typeface="IBM Plex Sans KR"/>
              <a:ea typeface="IBM Plex Sans KR"/>
              <a:cs typeface="IBM Plex Sans KR"/>
              <a:sym typeface="IBM Plex Sans K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cxnSp>
        <p:nvCxnSpPr>
          <p:cNvPr id="317" name="Google Shape;317;p31"/>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318" name="Google Shape;318;p31"/>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319" name="Google Shape;319;p31"/>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320" name="Google Shape;320;p3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ko"/>
              <a:t>‹#›</a:t>
            </a:fld>
            <a:endParaRPr/>
          </a:p>
        </p:txBody>
      </p:sp>
      <p:sp>
        <p:nvSpPr>
          <p:cNvPr id="321" name="Google Shape;321;p31"/>
          <p:cNvSpPr txBox="1"/>
          <p:nvPr/>
        </p:nvSpPr>
        <p:spPr>
          <a:xfrm>
            <a:off x="547425" y="535575"/>
            <a:ext cx="8076000" cy="36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Diagnostic Analysis </a:t>
            </a:r>
            <a:endParaRPr sz="1800">
              <a:solidFill>
                <a:schemeClr val="dk1"/>
              </a:solidFill>
              <a:latin typeface="IBM Plex Sans KR"/>
              <a:ea typeface="IBM Plex Sans KR"/>
              <a:cs typeface="IBM Plex Sans KR"/>
              <a:sym typeface="IBM Plex Sans KR"/>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latin typeface="IBM Plex Sans KR"/>
              <a:ea typeface="IBM Plex Sans KR"/>
              <a:cs typeface="IBM Plex Sans KR"/>
              <a:sym typeface="IBM Plex Sans KR"/>
            </a:endParaRPr>
          </a:p>
          <a:p>
            <a:pPr indent="0" lvl="0" marL="0" rtl="0" algn="l">
              <a:spcBef>
                <a:spcPts val="1200"/>
              </a:spcBef>
              <a:spcAft>
                <a:spcPts val="0"/>
              </a:spcAft>
              <a:buClr>
                <a:schemeClr val="dk1"/>
              </a:buClr>
              <a:buSzPts val="1100"/>
              <a:buFont typeface="Arial"/>
              <a:buNone/>
            </a:pPr>
            <a:r>
              <a:t/>
            </a:r>
            <a:endParaRPr sz="1200">
              <a:solidFill>
                <a:schemeClr val="dk1"/>
              </a:solidFill>
              <a:latin typeface="IBM Plex Sans KR"/>
              <a:ea typeface="IBM Plex Sans KR"/>
              <a:cs typeface="IBM Plex Sans KR"/>
              <a:sym typeface="IBM Plex Sans KR"/>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1"/>
              </a:solidFill>
              <a:latin typeface="IBM Plex Sans KR"/>
              <a:ea typeface="IBM Plex Sans KR"/>
              <a:cs typeface="IBM Plex Sans KR"/>
              <a:sym typeface="IBM Plex Sans KR"/>
            </a:endParaRPr>
          </a:p>
          <a:p>
            <a:pPr indent="0" lvl="0" marL="0" marR="0" rtl="0" algn="l">
              <a:lnSpc>
                <a:spcPct val="100000"/>
              </a:lnSpc>
              <a:spcBef>
                <a:spcPts val="0"/>
              </a:spcBef>
              <a:spcAft>
                <a:spcPts val="0"/>
              </a:spcAft>
              <a:buClr>
                <a:srgbClr val="000000"/>
              </a:buClr>
              <a:buSzPts val="1800"/>
              <a:buFont typeface="Arial"/>
              <a:buNone/>
            </a:pPr>
            <a:r>
              <a:t/>
            </a:r>
            <a:endParaRPr sz="1200">
              <a:solidFill>
                <a:schemeClr val="dk1"/>
              </a:solidFill>
              <a:latin typeface="IBM Plex Sans KR"/>
              <a:ea typeface="IBM Plex Sans KR"/>
              <a:cs typeface="IBM Plex Sans KR"/>
              <a:sym typeface="IBM Plex Sans KR"/>
            </a:endParaRPr>
          </a:p>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 </a:t>
            </a:r>
            <a:endParaRPr b="0" i="0" sz="1800" u="none" cap="none" strike="noStrike">
              <a:solidFill>
                <a:schemeClr val="dk1"/>
              </a:solidFill>
              <a:latin typeface="IBM Plex Sans KR"/>
              <a:ea typeface="IBM Plex Sans KR"/>
              <a:cs typeface="IBM Plex Sans KR"/>
              <a:sym typeface="IBM Plex Sans KR"/>
            </a:endParaRPr>
          </a:p>
        </p:txBody>
      </p:sp>
      <p:pic>
        <p:nvPicPr>
          <p:cNvPr descr="logo.png" id="322" name="Google Shape;322;p31"/>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sp>
        <p:nvSpPr>
          <p:cNvPr id="323" name="Google Shape;323;p31"/>
          <p:cNvSpPr txBox="1"/>
          <p:nvPr/>
        </p:nvSpPr>
        <p:spPr>
          <a:xfrm>
            <a:off x="547425" y="953650"/>
            <a:ext cx="7952400" cy="62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ko" sz="1100">
                <a:solidFill>
                  <a:schemeClr val="dk1"/>
                </a:solidFill>
                <a:latin typeface="IBM Plex Sans KR"/>
                <a:ea typeface="IBM Plex Sans KR"/>
                <a:cs typeface="IBM Plex Sans KR"/>
                <a:sym typeface="IBM Plex Sans KR"/>
              </a:rPr>
              <a:t>Full 조건에서는 리뷰를 검색·재정렬하여 랭킹에 반영하였으며, Fixed No-review 조건에서는                                                                          동일한 Dialogue State·Query·상품 후보군을 유지하되 리뷰 검색 결과를 입력하지 않고 리뷰 관련 점수를 0으로 설정하여 순위를 재계산</a:t>
            </a:r>
            <a:endParaRPr sz="1100">
              <a:solidFill>
                <a:schemeClr val="dk1"/>
              </a:solidFill>
              <a:latin typeface="IBM Plex Sans KR"/>
              <a:ea typeface="IBM Plex Sans KR"/>
              <a:cs typeface="IBM Plex Sans KR"/>
              <a:sym typeface="IBM Plex Sans KR"/>
            </a:endParaRPr>
          </a:p>
          <a:p>
            <a:pPr indent="0" lvl="0" marL="0" rtl="0" algn="l">
              <a:spcBef>
                <a:spcPts val="1200"/>
              </a:spcBef>
              <a:spcAft>
                <a:spcPts val="0"/>
              </a:spcAft>
              <a:buNone/>
            </a:pPr>
            <a:r>
              <a:t/>
            </a:r>
            <a:endParaRPr sz="1100">
              <a:solidFill>
                <a:schemeClr val="dk1"/>
              </a:solidFill>
              <a:latin typeface="IBM Plex Sans KR"/>
              <a:ea typeface="IBM Plex Sans KR"/>
              <a:cs typeface="IBM Plex Sans KR"/>
              <a:sym typeface="IBM Plex Sans KR"/>
            </a:endParaRPr>
          </a:p>
        </p:txBody>
      </p:sp>
      <p:sp>
        <p:nvSpPr>
          <p:cNvPr id="324" name="Google Shape;324;p31"/>
          <p:cNvSpPr txBox="1"/>
          <p:nvPr/>
        </p:nvSpPr>
        <p:spPr>
          <a:xfrm>
            <a:off x="1513850" y="1468007"/>
            <a:ext cx="5966700" cy="32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ko" sz="1000">
                <a:solidFill>
                  <a:schemeClr val="dk1"/>
                </a:solidFill>
                <a:latin typeface="Nanum Gothic"/>
                <a:ea typeface="Nanum Gothic"/>
                <a:cs typeface="Nanum Gothic"/>
                <a:sym typeface="Nanum Gothic"/>
              </a:rPr>
              <a:t>Total = 0.30H + 0.30M + 0.20S + 0.15R + 0.05E    , </a:t>
            </a:r>
            <a:r>
              <a:rPr i="1" lang="ko" sz="1000">
                <a:solidFill>
                  <a:schemeClr val="dk1"/>
                </a:solidFill>
                <a:latin typeface="Nanum Gothic"/>
                <a:ea typeface="Nanum Gothic"/>
                <a:cs typeface="Nanum Gothic"/>
                <a:sym typeface="Nanum Gothic"/>
              </a:rPr>
              <a:t>Total = 0.30H + 0.30M + 0.20S </a:t>
            </a:r>
            <a:endParaRPr b="1" i="1" sz="1000">
              <a:solidFill>
                <a:schemeClr val="dk1"/>
              </a:solidFill>
              <a:latin typeface="Nanum Gothic"/>
              <a:ea typeface="Nanum Gothic"/>
              <a:cs typeface="Nanum Gothic"/>
              <a:sym typeface="Nanum Gothic"/>
            </a:endParaRPr>
          </a:p>
        </p:txBody>
      </p:sp>
      <p:pic>
        <p:nvPicPr>
          <p:cNvPr id="325" name="Google Shape;325;p31"/>
          <p:cNvPicPr preferRelativeResize="0"/>
          <p:nvPr/>
        </p:nvPicPr>
        <p:blipFill>
          <a:blip r:embed="rId4">
            <a:alphaModFix/>
          </a:blip>
          <a:stretch>
            <a:fillRect/>
          </a:stretch>
        </p:blipFill>
        <p:spPr>
          <a:xfrm>
            <a:off x="3361002" y="2550551"/>
            <a:ext cx="2272390" cy="1172850"/>
          </a:xfrm>
          <a:prstGeom prst="rect">
            <a:avLst/>
          </a:prstGeom>
          <a:noFill/>
          <a:ln>
            <a:noFill/>
          </a:ln>
        </p:spPr>
      </p:pic>
      <p:sp>
        <p:nvSpPr>
          <p:cNvPr id="326" name="Google Shape;326;p31"/>
          <p:cNvSpPr txBox="1"/>
          <p:nvPr/>
        </p:nvSpPr>
        <p:spPr>
          <a:xfrm>
            <a:off x="3646700" y="1782034"/>
            <a:ext cx="1701000" cy="81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ko" sz="800">
                <a:solidFill>
                  <a:schemeClr val="dk1"/>
                </a:solidFill>
                <a:latin typeface="IBM Plex Sans"/>
                <a:ea typeface="IBM Plex Sans"/>
                <a:cs typeface="IBM Plex Sans"/>
                <a:sym typeface="IBM Plex Sans"/>
              </a:rPr>
              <a:t>H: Hard Constraint 충족도</a:t>
            </a:r>
            <a:endParaRPr i="1" sz="800">
              <a:solidFill>
                <a:schemeClr val="dk1"/>
              </a:solidFill>
              <a:latin typeface="IBM Plex Sans"/>
              <a:ea typeface="IBM Plex Sans"/>
              <a:cs typeface="IBM Plex Sans"/>
              <a:sym typeface="IBM Plex Sans"/>
            </a:endParaRPr>
          </a:p>
          <a:p>
            <a:pPr indent="0" lvl="0" marL="0" rtl="0" algn="l">
              <a:spcBef>
                <a:spcPts val="0"/>
              </a:spcBef>
              <a:spcAft>
                <a:spcPts val="0"/>
              </a:spcAft>
              <a:buClr>
                <a:schemeClr val="dk1"/>
              </a:buClr>
              <a:buSzPts val="1100"/>
              <a:buFont typeface="Arial"/>
              <a:buNone/>
            </a:pPr>
            <a:r>
              <a:rPr i="1" lang="ko" sz="800">
                <a:solidFill>
                  <a:schemeClr val="dk1"/>
                </a:solidFill>
                <a:latin typeface="IBM Plex Sans"/>
                <a:ea typeface="IBM Plex Sans"/>
                <a:cs typeface="IBM Plex Sans"/>
                <a:sym typeface="IBM Plex Sans"/>
              </a:rPr>
              <a:t>M: 상품 메타데이터 적합도</a:t>
            </a:r>
            <a:endParaRPr i="1" sz="800">
              <a:solidFill>
                <a:schemeClr val="dk1"/>
              </a:solidFill>
              <a:latin typeface="IBM Plex Sans"/>
              <a:ea typeface="IBM Plex Sans"/>
              <a:cs typeface="IBM Plex Sans"/>
              <a:sym typeface="IBM Plex Sans"/>
            </a:endParaRPr>
          </a:p>
          <a:p>
            <a:pPr indent="0" lvl="0" marL="0" rtl="0" algn="l">
              <a:spcBef>
                <a:spcPts val="0"/>
              </a:spcBef>
              <a:spcAft>
                <a:spcPts val="0"/>
              </a:spcAft>
              <a:buClr>
                <a:schemeClr val="dk1"/>
              </a:buClr>
              <a:buSzPts val="1100"/>
              <a:buFont typeface="Arial"/>
              <a:buNone/>
            </a:pPr>
            <a:r>
              <a:rPr i="1" lang="ko" sz="800">
                <a:solidFill>
                  <a:schemeClr val="dk1"/>
                </a:solidFill>
                <a:latin typeface="IBM Plex Sans"/>
                <a:ea typeface="IBM Plex Sans"/>
                <a:cs typeface="IBM Plex Sans"/>
                <a:sym typeface="IBM Plex Sans"/>
              </a:rPr>
              <a:t>S: 사용 목적·선호 적합도</a:t>
            </a:r>
            <a:endParaRPr i="1" sz="800">
              <a:solidFill>
                <a:schemeClr val="dk1"/>
              </a:solidFill>
              <a:latin typeface="IBM Plex Sans"/>
              <a:ea typeface="IBM Plex Sans"/>
              <a:cs typeface="IBM Plex Sans"/>
              <a:sym typeface="IBM Plex Sans"/>
            </a:endParaRPr>
          </a:p>
          <a:p>
            <a:pPr indent="0" lvl="0" marL="0" rtl="0" algn="l">
              <a:spcBef>
                <a:spcPts val="0"/>
              </a:spcBef>
              <a:spcAft>
                <a:spcPts val="0"/>
              </a:spcAft>
              <a:buClr>
                <a:schemeClr val="dk1"/>
              </a:buClr>
              <a:buSzPts val="1100"/>
              <a:buFont typeface="Arial"/>
              <a:buNone/>
            </a:pPr>
            <a:r>
              <a:rPr i="1" lang="ko" sz="800">
                <a:solidFill>
                  <a:schemeClr val="dk1"/>
                </a:solidFill>
                <a:latin typeface="IBM Plex Sans"/>
                <a:ea typeface="IBM Plex Sans"/>
                <a:cs typeface="IBM Plex Sans"/>
                <a:sym typeface="IBM Plex Sans"/>
              </a:rPr>
              <a:t>R: 검색·재정렬된 리뷰의 근거 점수</a:t>
            </a:r>
            <a:endParaRPr i="1" sz="800">
              <a:solidFill>
                <a:schemeClr val="dk1"/>
              </a:solidFill>
              <a:latin typeface="IBM Plex Sans"/>
              <a:ea typeface="IBM Plex Sans"/>
              <a:cs typeface="IBM Plex Sans"/>
              <a:sym typeface="IBM Plex Sans"/>
            </a:endParaRPr>
          </a:p>
          <a:p>
            <a:pPr indent="0" lvl="0" marL="0" rtl="0" algn="l">
              <a:spcBef>
                <a:spcPts val="0"/>
              </a:spcBef>
              <a:spcAft>
                <a:spcPts val="0"/>
              </a:spcAft>
              <a:buClr>
                <a:schemeClr val="dk1"/>
              </a:buClr>
              <a:buSzPts val="1100"/>
              <a:buFont typeface="Arial"/>
              <a:buNone/>
            </a:pPr>
            <a:r>
              <a:rPr i="1" lang="ko" sz="800">
                <a:solidFill>
                  <a:schemeClr val="dk1"/>
                </a:solidFill>
                <a:latin typeface="IBM Plex Sans"/>
                <a:ea typeface="IBM Plex Sans"/>
                <a:cs typeface="IBM Plex Sans"/>
                <a:sym typeface="IBM Plex Sans"/>
              </a:rPr>
              <a:t>E: 리뷰 근거의 신뢰도</a:t>
            </a:r>
            <a:endParaRPr i="1" sz="800">
              <a:solidFill>
                <a:schemeClr val="dk1"/>
              </a:solidFill>
              <a:latin typeface="IBM Plex Sans"/>
              <a:ea typeface="IBM Plex Sans"/>
              <a:cs typeface="IBM Plex Sans"/>
              <a:sym typeface="IBM Plex Sans"/>
            </a:endParaRPr>
          </a:p>
          <a:p>
            <a:pPr indent="0" lvl="0" marL="0" rtl="0" algn="l">
              <a:spcBef>
                <a:spcPts val="0"/>
              </a:spcBef>
              <a:spcAft>
                <a:spcPts val="0"/>
              </a:spcAft>
              <a:buNone/>
            </a:pPr>
            <a:r>
              <a:t/>
            </a:r>
            <a:endParaRPr i="1" sz="800">
              <a:solidFill>
                <a:schemeClr val="dk1"/>
              </a:solidFill>
              <a:latin typeface="IBM Plex Sans"/>
              <a:ea typeface="IBM Plex Sans"/>
              <a:cs typeface="IBM Plex Sans"/>
              <a:sym typeface="IBM Plex Sans"/>
            </a:endParaRPr>
          </a:p>
        </p:txBody>
      </p:sp>
      <p:sp>
        <p:nvSpPr>
          <p:cNvPr id="327" name="Google Shape;327;p31"/>
          <p:cNvSpPr txBox="1"/>
          <p:nvPr/>
        </p:nvSpPr>
        <p:spPr>
          <a:xfrm>
            <a:off x="952500" y="3728364"/>
            <a:ext cx="7166400" cy="811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ko" sz="1200">
                <a:solidFill>
                  <a:schemeClr val="dk1"/>
                </a:solidFill>
                <a:latin typeface="IBM Plex Sans KR"/>
                <a:ea typeface="IBM Plex Sans KR"/>
                <a:cs typeface="IBM Plex Sans KR"/>
                <a:sym typeface="IBM Plex Sans KR"/>
              </a:rPr>
              <a:t>리뷰 관련 점수를 제거하자 전체 63개 추천 턴 중 35개 턴(55.6%)에서 1위 상품이 변경되었으며, 55개 턴(87.3%)에서 Top-3 목록의 구성 또는 순서가 변경되었다. 또한 두 조건의 Top-3 Jaccard 유사도는 0.522로, 평균적으로 약 1.79개의 상품만 공통으로 포함되었다. 이를 통해 리뷰 정보가 추천 설명에만 사용된 것이 아니라 실제 상품의 점수와 순위를 결정하는 랭킹 신호로 작동했음을 확인하였다.</a:t>
            </a:r>
            <a:endParaRPr sz="1200">
              <a:solidFill>
                <a:schemeClr val="dk1"/>
              </a:solidFill>
              <a:latin typeface="IBM Plex Sans KR"/>
              <a:ea typeface="IBM Plex Sans KR"/>
              <a:cs typeface="IBM Plex Sans KR"/>
              <a:sym typeface="IBM Plex Sans KR"/>
            </a:endParaRPr>
          </a:p>
          <a:p>
            <a:pPr indent="0" lvl="0" marL="0" rtl="0" algn="l">
              <a:spcBef>
                <a:spcPts val="1200"/>
              </a:spcBef>
              <a:spcAft>
                <a:spcPts val="0"/>
              </a:spcAft>
              <a:buNone/>
            </a:pPr>
            <a:r>
              <a:t/>
            </a:r>
            <a:endParaRPr sz="1200">
              <a:solidFill>
                <a:schemeClr val="dk1"/>
              </a:solidFill>
              <a:latin typeface="IBM Plex Sans KR"/>
              <a:ea typeface="IBM Plex Sans KR"/>
              <a:cs typeface="IBM Plex Sans KR"/>
              <a:sym typeface="IBM Plex Sans K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cxnSp>
        <p:nvCxnSpPr>
          <p:cNvPr id="333" name="Google Shape;333;p32"/>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334" name="Google Shape;334;p32"/>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335" name="Google Shape;335;p32"/>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336" name="Google Shape;336;p3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ko"/>
              <a:t>‹#›</a:t>
            </a:fld>
            <a:endParaRPr/>
          </a:p>
        </p:txBody>
      </p:sp>
      <p:sp>
        <p:nvSpPr>
          <p:cNvPr id="337" name="Google Shape;337;p32"/>
          <p:cNvSpPr txBox="1"/>
          <p:nvPr/>
        </p:nvSpPr>
        <p:spPr>
          <a:xfrm>
            <a:off x="547425" y="535575"/>
            <a:ext cx="8076000" cy="36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Conclusion</a:t>
            </a:r>
            <a:r>
              <a:rPr lang="ko" sz="1800">
                <a:solidFill>
                  <a:schemeClr val="dk1"/>
                </a:solidFill>
                <a:latin typeface="IBM Plex Sans KR"/>
                <a:ea typeface="IBM Plex Sans KR"/>
                <a:cs typeface="IBM Plex Sans KR"/>
                <a:sym typeface="IBM Plex Sans KR"/>
              </a:rPr>
              <a:t> </a:t>
            </a:r>
            <a:endParaRPr sz="1800">
              <a:solidFill>
                <a:schemeClr val="dk1"/>
              </a:solidFill>
              <a:latin typeface="IBM Plex Sans KR"/>
              <a:ea typeface="IBM Plex Sans KR"/>
              <a:cs typeface="IBM Plex Sans KR"/>
              <a:sym typeface="IBM Plex Sans KR"/>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latin typeface="IBM Plex Sans KR"/>
              <a:ea typeface="IBM Plex Sans KR"/>
              <a:cs typeface="IBM Plex Sans KR"/>
              <a:sym typeface="IBM Plex Sans KR"/>
            </a:endParaRPr>
          </a:p>
          <a:p>
            <a:pPr indent="0" lvl="0" marL="0" rtl="0" algn="l">
              <a:spcBef>
                <a:spcPts val="1200"/>
              </a:spcBef>
              <a:spcAft>
                <a:spcPts val="0"/>
              </a:spcAft>
              <a:buClr>
                <a:schemeClr val="dk1"/>
              </a:buClr>
              <a:buSzPts val="1100"/>
              <a:buFont typeface="Arial"/>
              <a:buNone/>
            </a:pPr>
            <a:r>
              <a:t/>
            </a:r>
            <a:endParaRPr sz="1200">
              <a:solidFill>
                <a:schemeClr val="dk1"/>
              </a:solidFill>
              <a:latin typeface="IBM Plex Sans KR"/>
              <a:ea typeface="IBM Plex Sans KR"/>
              <a:cs typeface="IBM Plex Sans KR"/>
              <a:sym typeface="IBM Plex Sans KR"/>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1"/>
              </a:solidFill>
              <a:latin typeface="IBM Plex Sans KR"/>
              <a:ea typeface="IBM Plex Sans KR"/>
              <a:cs typeface="IBM Plex Sans KR"/>
              <a:sym typeface="IBM Plex Sans KR"/>
            </a:endParaRPr>
          </a:p>
          <a:p>
            <a:pPr indent="0" lvl="0" marL="0" marR="0" rtl="0" algn="l">
              <a:lnSpc>
                <a:spcPct val="100000"/>
              </a:lnSpc>
              <a:spcBef>
                <a:spcPts val="0"/>
              </a:spcBef>
              <a:spcAft>
                <a:spcPts val="0"/>
              </a:spcAft>
              <a:buClr>
                <a:srgbClr val="000000"/>
              </a:buClr>
              <a:buSzPts val="1800"/>
              <a:buFont typeface="Arial"/>
              <a:buNone/>
            </a:pPr>
            <a:r>
              <a:t/>
            </a:r>
            <a:endParaRPr sz="1200">
              <a:solidFill>
                <a:schemeClr val="dk1"/>
              </a:solidFill>
              <a:latin typeface="IBM Plex Sans KR"/>
              <a:ea typeface="IBM Plex Sans KR"/>
              <a:cs typeface="IBM Plex Sans KR"/>
              <a:sym typeface="IBM Plex Sans KR"/>
            </a:endParaRPr>
          </a:p>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 </a:t>
            </a:r>
            <a:endParaRPr b="0" i="0" sz="1800" u="none" cap="none" strike="noStrike">
              <a:solidFill>
                <a:schemeClr val="dk1"/>
              </a:solidFill>
              <a:latin typeface="IBM Plex Sans KR"/>
              <a:ea typeface="IBM Plex Sans KR"/>
              <a:cs typeface="IBM Plex Sans KR"/>
              <a:sym typeface="IBM Plex Sans KR"/>
            </a:endParaRPr>
          </a:p>
        </p:txBody>
      </p:sp>
      <p:pic>
        <p:nvPicPr>
          <p:cNvPr descr="logo.png" id="338" name="Google Shape;338;p32"/>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sp>
        <p:nvSpPr>
          <p:cNvPr id="339" name="Google Shape;339;p32"/>
          <p:cNvSpPr txBox="1"/>
          <p:nvPr/>
        </p:nvSpPr>
        <p:spPr>
          <a:xfrm>
            <a:off x="547425" y="953650"/>
            <a:ext cx="7952400" cy="35094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Font typeface="IBM Plex Sans KR"/>
              <a:buChar char="●"/>
            </a:pPr>
            <a:r>
              <a:rPr lang="ko" sz="1100">
                <a:solidFill>
                  <a:schemeClr val="dk1"/>
                </a:solidFill>
                <a:latin typeface="IBM Plex Sans KR"/>
                <a:ea typeface="IBM Plex Sans KR"/>
                <a:cs typeface="IBM Plex Sans KR"/>
                <a:sym typeface="IBM Plex Sans KR"/>
              </a:rPr>
              <a:t>Full은 No-memory보다 Final State F1(0.758 vs. 0.500)과 Hard-filter Completion(0.630 vs. 0.444)이 높아, 대화 기억이 여러 턴에 걸친 사용자 요구의 유지와 검색 조건 반영에 기여함을 확인.</a:t>
            </a:r>
            <a:endParaRPr sz="1100">
              <a:solidFill>
                <a:schemeClr val="dk1"/>
              </a:solidFill>
              <a:latin typeface="IBM Plex Sans KR"/>
              <a:ea typeface="IBM Plex Sans KR"/>
              <a:cs typeface="IBM Plex Sans KR"/>
              <a:sym typeface="IBM Plex Sans KR"/>
            </a:endParaRPr>
          </a:p>
          <a:p>
            <a:pPr indent="0" lvl="0" marL="0" rtl="0" algn="l">
              <a:lnSpc>
                <a:spcPct val="115000"/>
              </a:lnSpc>
              <a:spcBef>
                <a:spcPts val="1200"/>
              </a:spcBef>
              <a:spcAft>
                <a:spcPts val="0"/>
              </a:spcAft>
              <a:buNone/>
            </a:pPr>
            <a:r>
              <a:t/>
            </a:r>
            <a:endParaRPr sz="1100">
              <a:solidFill>
                <a:schemeClr val="dk1"/>
              </a:solidFill>
              <a:latin typeface="IBM Plex Sans KR"/>
              <a:ea typeface="IBM Plex Sans KR"/>
              <a:cs typeface="IBM Plex Sans KR"/>
              <a:sym typeface="IBM Plex Sans KR"/>
            </a:endParaRPr>
          </a:p>
          <a:p>
            <a:pPr indent="-298450" lvl="0" marL="457200" rtl="0" algn="l">
              <a:lnSpc>
                <a:spcPct val="115000"/>
              </a:lnSpc>
              <a:spcBef>
                <a:spcPts val="1200"/>
              </a:spcBef>
              <a:spcAft>
                <a:spcPts val="0"/>
              </a:spcAft>
              <a:buClr>
                <a:schemeClr val="dk1"/>
              </a:buClr>
              <a:buSzPts val="1100"/>
              <a:buFont typeface="IBM Plex Sans KR"/>
              <a:buChar char="●"/>
            </a:pPr>
            <a:r>
              <a:rPr lang="ko" sz="1100">
                <a:solidFill>
                  <a:schemeClr val="dk1"/>
                </a:solidFill>
                <a:latin typeface="IBM Plex Sans KR"/>
                <a:ea typeface="IBM Plex Sans KR"/>
                <a:cs typeface="IBM Plex Sans KR"/>
                <a:sym typeface="IBM Plex Sans KR"/>
              </a:rPr>
              <a:t>Gold-State를 동일한 Policy 결정 및 검색 조건 생성 과정에 입력하자 Policy Accuracy, Recommendation Reach, Hard-filter Completion이 모두 1.0으로 회복되었다. 이는 현재 평가 기준에서 Dialogue State 이후의 처리 로직이 정답 상태를 올바르게 반영하며, Actual Full의 지표 저하는 주로 Dialogue State의 추론·누적 오류가 이후 과정에 전파된 결과임을 시사함.</a:t>
            </a:r>
            <a:endParaRPr sz="1100">
              <a:solidFill>
                <a:schemeClr val="dk1"/>
              </a:solidFill>
              <a:latin typeface="IBM Plex Sans KR"/>
              <a:ea typeface="IBM Plex Sans KR"/>
              <a:cs typeface="IBM Plex Sans KR"/>
              <a:sym typeface="IBM Plex Sans KR"/>
            </a:endParaRPr>
          </a:p>
          <a:p>
            <a:pPr indent="0" lvl="0" marL="0" rtl="0" algn="l">
              <a:spcBef>
                <a:spcPts val="1200"/>
              </a:spcBef>
              <a:spcAft>
                <a:spcPts val="0"/>
              </a:spcAft>
              <a:buNone/>
            </a:pPr>
            <a:r>
              <a:t/>
            </a:r>
            <a:endParaRPr sz="1100">
              <a:solidFill>
                <a:schemeClr val="dk1"/>
              </a:solidFill>
              <a:latin typeface="IBM Plex Sans KR"/>
              <a:ea typeface="IBM Plex Sans KR"/>
              <a:cs typeface="IBM Plex Sans KR"/>
              <a:sym typeface="IBM Plex Sans KR"/>
            </a:endParaRPr>
          </a:p>
          <a:p>
            <a:pPr indent="-298450" lvl="0" marL="457200" rtl="0" algn="l">
              <a:spcBef>
                <a:spcPts val="0"/>
              </a:spcBef>
              <a:spcAft>
                <a:spcPts val="0"/>
              </a:spcAft>
              <a:buClr>
                <a:schemeClr val="dk1"/>
              </a:buClr>
              <a:buSzPts val="1100"/>
              <a:buFont typeface="IBM Plex Sans KR"/>
              <a:buChar char="●"/>
            </a:pPr>
            <a:r>
              <a:rPr lang="ko" sz="1100">
                <a:solidFill>
                  <a:schemeClr val="dk1"/>
                </a:solidFill>
                <a:latin typeface="IBM Plex Sans KR"/>
                <a:ea typeface="IBM Plex Sans KR"/>
                <a:cs typeface="IBM Plex Sans KR"/>
                <a:sym typeface="IBM Plex Sans KR"/>
              </a:rPr>
              <a:t>동일한 Dialogue State·검색 조건·상품 후보군에서 리뷰 관련 점수만 제거하자 1위 상품의 55.6%, Top-3 목록의 87.3%가 변경되었다. 이를 통해 리뷰 근거가 응답 설명에만 사용되는 것이 아니라 실제 상품 순위를 결정하는 랭킹 신호로 작동함을 확인 </a:t>
            </a:r>
            <a:endParaRPr sz="1100">
              <a:solidFill>
                <a:schemeClr val="dk1"/>
              </a:solidFill>
              <a:latin typeface="IBM Plex Sans KR"/>
              <a:ea typeface="IBM Plex Sans KR"/>
              <a:cs typeface="IBM Plex Sans KR"/>
              <a:sym typeface="IBM Plex Sans KR"/>
            </a:endParaRPr>
          </a:p>
        </p:txBody>
      </p:sp>
      <p:sp>
        <p:nvSpPr>
          <p:cNvPr id="340" name="Google Shape;340;p32"/>
          <p:cNvSpPr txBox="1"/>
          <p:nvPr/>
        </p:nvSpPr>
        <p:spPr>
          <a:xfrm>
            <a:off x="952500" y="3764650"/>
            <a:ext cx="7166400" cy="81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cxnSp>
        <p:nvCxnSpPr>
          <p:cNvPr id="346" name="Google Shape;346;p33"/>
          <p:cNvCxnSpPr/>
          <p:nvPr/>
        </p:nvCxnSpPr>
        <p:spPr>
          <a:xfrm>
            <a:off x="508000" y="4826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cxnSp>
        <p:nvCxnSpPr>
          <p:cNvPr id="347" name="Google Shape;347;p33"/>
          <p:cNvCxnSpPr/>
          <p:nvPr/>
        </p:nvCxnSpPr>
        <p:spPr>
          <a:xfrm>
            <a:off x="508000" y="4699000"/>
            <a:ext cx="8115300" cy="0"/>
          </a:xfrm>
          <a:prstGeom prst="straightConnector1">
            <a:avLst/>
          </a:prstGeom>
          <a:noFill/>
          <a:ln cap="flat" cmpd="sng" w="9525">
            <a:solidFill>
              <a:srgbClr val="595959"/>
            </a:solidFill>
            <a:prstDash val="solid"/>
            <a:round/>
            <a:headEnd len="sm" w="sm" type="none"/>
            <a:tailEnd len="sm" w="sm" type="none"/>
          </a:ln>
          <a:effectLst>
            <a:outerShdw blurRad="40000" rotWithShape="0" dir="5400000" dist="20000">
              <a:srgbClr val="000000">
                <a:alpha val="38040"/>
              </a:srgbClr>
            </a:outerShdw>
          </a:effectLst>
        </p:spPr>
      </p:cxnSp>
      <p:sp>
        <p:nvSpPr>
          <p:cNvPr id="348" name="Google Shape;348;p33"/>
          <p:cNvSpPr txBox="1"/>
          <p:nvPr/>
        </p:nvSpPr>
        <p:spPr>
          <a:xfrm>
            <a:off x="1064125" y="4838700"/>
            <a:ext cx="28656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anyang </a:t>
            </a:r>
            <a:r>
              <a:rPr b="0" i="0" lang="ko" sz="1000" u="none" cap="none" strike="noStrike">
                <a:solidFill>
                  <a:srgbClr val="3452F0"/>
                </a:solidFill>
                <a:latin typeface="Malgun Gothic"/>
                <a:ea typeface="Malgun Gothic"/>
                <a:cs typeface="Malgun Gothic"/>
                <a:sym typeface="Malgun Gothic"/>
              </a:rPr>
              <a:t>H</a:t>
            </a:r>
            <a:r>
              <a:rPr b="0" i="0" lang="ko" sz="1000" u="none" cap="none" strike="noStrike">
                <a:solidFill>
                  <a:srgbClr val="787878"/>
                </a:solidFill>
                <a:latin typeface="Malgun Gothic"/>
                <a:ea typeface="Malgun Gothic"/>
                <a:cs typeface="Malgun Gothic"/>
                <a:sym typeface="Malgun Gothic"/>
              </a:rPr>
              <a:t>uman </a:t>
            </a:r>
            <a:r>
              <a:rPr b="0" i="0" lang="ko" sz="1000" u="none" cap="none" strike="noStrike">
                <a:solidFill>
                  <a:srgbClr val="3452F0"/>
                </a:solidFill>
                <a:latin typeface="Malgun Gothic"/>
                <a:ea typeface="Malgun Gothic"/>
                <a:cs typeface="Malgun Gothic"/>
                <a:sym typeface="Malgun Gothic"/>
              </a:rPr>
              <a:t>C</a:t>
            </a:r>
            <a:r>
              <a:rPr b="0" i="0" lang="ko" sz="1000" u="none" cap="none" strike="noStrike">
                <a:solidFill>
                  <a:srgbClr val="787878"/>
                </a:solidFill>
                <a:latin typeface="Malgun Gothic"/>
                <a:ea typeface="Malgun Gothic"/>
                <a:cs typeface="Malgun Gothic"/>
                <a:sym typeface="Malgun Gothic"/>
              </a:rPr>
              <a:t>entered Computing </a:t>
            </a:r>
            <a:r>
              <a:rPr b="0" i="0" lang="ko" sz="1000" u="none" cap="none" strike="noStrike">
                <a:solidFill>
                  <a:srgbClr val="3452F0"/>
                </a:solidFill>
                <a:latin typeface="Malgun Gothic"/>
                <a:ea typeface="Malgun Gothic"/>
                <a:cs typeface="Malgun Gothic"/>
                <a:sym typeface="Malgun Gothic"/>
              </a:rPr>
              <a:t>L</a:t>
            </a:r>
            <a:r>
              <a:rPr b="0" i="0" lang="ko" sz="1000" u="none" cap="none" strike="noStrike">
                <a:solidFill>
                  <a:srgbClr val="787878"/>
                </a:solidFill>
                <a:latin typeface="Malgun Gothic"/>
                <a:ea typeface="Malgun Gothic"/>
                <a:cs typeface="Malgun Gothic"/>
                <a:sym typeface="Malgun Gothic"/>
              </a:rPr>
              <a:t>ab</a:t>
            </a:r>
            <a:endParaRPr b="0" i="0" sz="1400" u="none" cap="none" strike="noStrike">
              <a:solidFill>
                <a:srgbClr val="000000"/>
              </a:solidFill>
              <a:latin typeface="Arial"/>
              <a:ea typeface="Arial"/>
              <a:cs typeface="Arial"/>
              <a:sym typeface="Arial"/>
            </a:endParaRPr>
          </a:p>
        </p:txBody>
      </p:sp>
      <p:sp>
        <p:nvSpPr>
          <p:cNvPr id="349" name="Google Shape;349;p3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ko"/>
              <a:t>‹#›</a:t>
            </a:fld>
            <a:endParaRPr/>
          </a:p>
        </p:txBody>
      </p:sp>
      <p:sp>
        <p:nvSpPr>
          <p:cNvPr id="350" name="Google Shape;350;p33"/>
          <p:cNvSpPr txBox="1"/>
          <p:nvPr/>
        </p:nvSpPr>
        <p:spPr>
          <a:xfrm>
            <a:off x="547425" y="535575"/>
            <a:ext cx="2799900" cy="36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Limitation</a:t>
            </a:r>
            <a:r>
              <a:rPr lang="ko" sz="1800">
                <a:solidFill>
                  <a:schemeClr val="dk1"/>
                </a:solidFill>
                <a:latin typeface="IBM Plex Sans KR"/>
                <a:ea typeface="IBM Plex Sans KR"/>
                <a:cs typeface="IBM Plex Sans KR"/>
                <a:sym typeface="IBM Plex Sans KR"/>
              </a:rPr>
              <a:t> &amp; Future Work</a:t>
            </a:r>
            <a:endParaRPr sz="1800">
              <a:solidFill>
                <a:schemeClr val="dk1"/>
              </a:solidFill>
              <a:latin typeface="IBM Plex Sans KR"/>
              <a:ea typeface="IBM Plex Sans KR"/>
              <a:cs typeface="IBM Plex Sans KR"/>
              <a:sym typeface="IBM Plex Sans KR"/>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latin typeface="IBM Plex Sans KR"/>
              <a:ea typeface="IBM Plex Sans KR"/>
              <a:cs typeface="IBM Plex Sans KR"/>
              <a:sym typeface="IBM Plex Sans KR"/>
            </a:endParaRPr>
          </a:p>
          <a:p>
            <a:pPr indent="0" lvl="0" marL="0" rtl="0" algn="l">
              <a:spcBef>
                <a:spcPts val="1200"/>
              </a:spcBef>
              <a:spcAft>
                <a:spcPts val="0"/>
              </a:spcAft>
              <a:buClr>
                <a:schemeClr val="dk1"/>
              </a:buClr>
              <a:buSzPts val="1100"/>
              <a:buFont typeface="Arial"/>
              <a:buNone/>
            </a:pPr>
            <a:r>
              <a:t/>
            </a:r>
            <a:endParaRPr sz="1200">
              <a:solidFill>
                <a:schemeClr val="dk1"/>
              </a:solidFill>
              <a:latin typeface="IBM Plex Sans KR"/>
              <a:ea typeface="IBM Plex Sans KR"/>
              <a:cs typeface="IBM Plex Sans KR"/>
              <a:sym typeface="IBM Plex Sans KR"/>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1"/>
              </a:solidFill>
              <a:latin typeface="IBM Plex Sans KR"/>
              <a:ea typeface="IBM Plex Sans KR"/>
              <a:cs typeface="IBM Plex Sans KR"/>
              <a:sym typeface="IBM Plex Sans KR"/>
            </a:endParaRPr>
          </a:p>
          <a:p>
            <a:pPr indent="0" lvl="0" marL="0" marR="0" rtl="0" algn="l">
              <a:lnSpc>
                <a:spcPct val="100000"/>
              </a:lnSpc>
              <a:spcBef>
                <a:spcPts val="0"/>
              </a:spcBef>
              <a:spcAft>
                <a:spcPts val="0"/>
              </a:spcAft>
              <a:buClr>
                <a:srgbClr val="000000"/>
              </a:buClr>
              <a:buSzPts val="1800"/>
              <a:buFont typeface="Arial"/>
              <a:buNone/>
            </a:pPr>
            <a:r>
              <a:t/>
            </a:r>
            <a:endParaRPr sz="1200">
              <a:solidFill>
                <a:schemeClr val="dk1"/>
              </a:solidFill>
              <a:latin typeface="IBM Plex Sans KR"/>
              <a:ea typeface="IBM Plex Sans KR"/>
              <a:cs typeface="IBM Plex Sans KR"/>
              <a:sym typeface="IBM Plex Sans KR"/>
            </a:endParaRPr>
          </a:p>
          <a:p>
            <a:pPr indent="0" lvl="0" marL="0" marR="0" rtl="0" algn="l">
              <a:lnSpc>
                <a:spcPct val="100000"/>
              </a:lnSpc>
              <a:spcBef>
                <a:spcPts val="0"/>
              </a:spcBef>
              <a:spcAft>
                <a:spcPts val="0"/>
              </a:spcAft>
              <a:buClr>
                <a:srgbClr val="000000"/>
              </a:buClr>
              <a:buSzPts val="1800"/>
              <a:buFont typeface="Arial"/>
              <a:buNone/>
            </a:pPr>
            <a:r>
              <a:rPr lang="ko" sz="1800">
                <a:solidFill>
                  <a:schemeClr val="dk1"/>
                </a:solidFill>
                <a:latin typeface="IBM Plex Sans KR"/>
                <a:ea typeface="IBM Plex Sans KR"/>
                <a:cs typeface="IBM Plex Sans KR"/>
                <a:sym typeface="IBM Plex Sans KR"/>
              </a:rPr>
              <a:t> </a:t>
            </a:r>
            <a:endParaRPr b="0" i="0" sz="1800" u="none" cap="none" strike="noStrike">
              <a:solidFill>
                <a:schemeClr val="dk1"/>
              </a:solidFill>
              <a:latin typeface="IBM Plex Sans KR"/>
              <a:ea typeface="IBM Plex Sans KR"/>
              <a:cs typeface="IBM Plex Sans KR"/>
              <a:sym typeface="IBM Plex Sans KR"/>
            </a:endParaRPr>
          </a:p>
        </p:txBody>
      </p:sp>
      <p:pic>
        <p:nvPicPr>
          <p:cNvPr descr="logo.png" id="351" name="Google Shape;351;p33"/>
          <p:cNvPicPr preferRelativeResize="0"/>
          <p:nvPr/>
        </p:nvPicPr>
        <p:blipFill rotWithShape="1">
          <a:blip r:embed="rId3">
            <a:alphaModFix/>
          </a:blip>
          <a:srcRect b="0" l="0" r="0" t="0"/>
          <a:stretch/>
        </p:blipFill>
        <p:spPr>
          <a:xfrm>
            <a:off x="533400" y="4826000"/>
            <a:ext cx="368300" cy="185420"/>
          </a:xfrm>
          <a:prstGeom prst="rect">
            <a:avLst/>
          </a:prstGeom>
          <a:noFill/>
          <a:ln>
            <a:noFill/>
          </a:ln>
        </p:spPr>
      </p:pic>
      <p:sp>
        <p:nvSpPr>
          <p:cNvPr id="352" name="Google Shape;352;p33"/>
          <p:cNvSpPr txBox="1"/>
          <p:nvPr/>
        </p:nvSpPr>
        <p:spPr>
          <a:xfrm>
            <a:off x="533400" y="1045150"/>
            <a:ext cx="7952400" cy="33909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Font typeface="IBM Plex Sans KR"/>
              <a:buChar char="●"/>
            </a:pPr>
            <a:r>
              <a:rPr lang="ko" sz="1100">
                <a:solidFill>
                  <a:schemeClr val="dk1"/>
                </a:solidFill>
                <a:latin typeface="IBM Plex Sans KR"/>
                <a:ea typeface="IBM Plex Sans KR"/>
                <a:cs typeface="IBM Plex Sans KR"/>
                <a:sym typeface="IBM Plex Sans KR"/>
              </a:rPr>
              <a:t>상품 카탈로그 확장의 필요성: Agent N에서 태블릿 PC 케이스를 태블릿 완제품으로 잘못 추천한 사례가 관찰됨. 이는 실환경에서 상품 카탈로그 선택과 세부 상품 유형 검증이 중요함을 보여준다. 본 연구는 단일 태블릿 카탈로그에 한정되어 이러한 문제를 검증하지 못했으므로, 향후 다중 카탈로그 환경으로 확장하여 사용자의 요구에 적합한 상품군을 선택하는 능력과 주변기기·완제품 구분 정확도를 평가할 필요가 있다.</a:t>
            </a:r>
            <a:endParaRPr sz="1100">
              <a:solidFill>
                <a:schemeClr val="dk1"/>
              </a:solidFill>
              <a:latin typeface="IBM Plex Sans KR"/>
              <a:ea typeface="IBM Plex Sans KR"/>
              <a:cs typeface="IBM Plex Sans KR"/>
              <a:sym typeface="IBM Plex Sans KR"/>
            </a:endParaRPr>
          </a:p>
          <a:p>
            <a:pPr indent="0" lvl="0" marL="457200" rtl="0" algn="l">
              <a:lnSpc>
                <a:spcPct val="115000"/>
              </a:lnSpc>
              <a:spcBef>
                <a:spcPts val="1200"/>
              </a:spcBef>
              <a:spcAft>
                <a:spcPts val="0"/>
              </a:spcAft>
              <a:buNone/>
            </a:pPr>
            <a:r>
              <a:t/>
            </a:r>
            <a:endParaRPr sz="600">
              <a:solidFill>
                <a:schemeClr val="dk1"/>
              </a:solidFill>
              <a:latin typeface="IBM Plex Sans KR"/>
              <a:ea typeface="IBM Plex Sans KR"/>
              <a:cs typeface="IBM Plex Sans KR"/>
              <a:sym typeface="IBM Plex Sans KR"/>
            </a:endParaRPr>
          </a:p>
          <a:p>
            <a:pPr indent="-298450" lvl="0" marL="457200" rtl="0" algn="l">
              <a:lnSpc>
                <a:spcPct val="115000"/>
              </a:lnSpc>
              <a:spcBef>
                <a:spcPts val="1200"/>
              </a:spcBef>
              <a:spcAft>
                <a:spcPts val="0"/>
              </a:spcAft>
              <a:buClr>
                <a:schemeClr val="dk1"/>
              </a:buClr>
              <a:buSzPts val="1100"/>
              <a:buFont typeface="IBM Plex Sans KR"/>
              <a:buChar char="●"/>
            </a:pPr>
            <a:r>
              <a:rPr lang="ko" sz="1100">
                <a:solidFill>
                  <a:schemeClr val="dk1"/>
                </a:solidFill>
                <a:latin typeface="IBM Plex Sans KR"/>
                <a:ea typeface="IBM Plex Sans KR"/>
                <a:cs typeface="IBM Plex Sans KR"/>
                <a:sym typeface="IBM Plex Sans KR"/>
              </a:rPr>
              <a:t>추론 검증 및 사용자 확인 기능의 한계: 현재 시스템은 단일 confidence와 고정된 Policy 규칙을 사용하므로 추론 내용의 타당성과 적용 범위를 별도로 관리하지 못하며, 사용자가 숨은 의도를 직접 확인·수정하는 HCI를 지원하지 않는다. 또한 자동 평가만 수행하여 실제 사용자의 재질문 부담, 통제감과 신뢰를 측정하지 못하였다.</a:t>
            </a:r>
            <a:endParaRPr sz="1100">
              <a:solidFill>
                <a:schemeClr val="dk1"/>
              </a:solidFill>
              <a:latin typeface="IBM Plex Sans KR"/>
              <a:ea typeface="IBM Plex Sans KR"/>
              <a:cs typeface="IBM Plex Sans KR"/>
              <a:sym typeface="IBM Plex Sans KR"/>
            </a:endParaRPr>
          </a:p>
          <a:p>
            <a:pPr indent="0" lvl="0" marL="0" rtl="0" algn="l">
              <a:spcBef>
                <a:spcPts val="1200"/>
              </a:spcBef>
              <a:spcAft>
                <a:spcPts val="0"/>
              </a:spcAft>
              <a:buNone/>
            </a:pPr>
            <a:r>
              <a:t/>
            </a:r>
            <a:endParaRPr sz="600">
              <a:solidFill>
                <a:schemeClr val="dk1"/>
              </a:solidFill>
              <a:latin typeface="IBM Plex Sans KR"/>
              <a:ea typeface="IBM Plex Sans KR"/>
              <a:cs typeface="IBM Plex Sans KR"/>
              <a:sym typeface="IBM Plex Sans KR"/>
            </a:endParaRPr>
          </a:p>
          <a:p>
            <a:pPr indent="-298450" lvl="0" marL="457200" rtl="0" algn="l">
              <a:spcBef>
                <a:spcPts val="0"/>
              </a:spcBef>
              <a:spcAft>
                <a:spcPts val="0"/>
              </a:spcAft>
              <a:buClr>
                <a:schemeClr val="dk1"/>
              </a:buClr>
              <a:buSzPts val="1100"/>
              <a:buFont typeface="IBM Plex Sans KR"/>
              <a:buChar char="●"/>
            </a:pPr>
            <a:r>
              <a:rPr lang="ko" sz="1100">
                <a:solidFill>
                  <a:schemeClr val="dk1"/>
                </a:solidFill>
                <a:latin typeface="IBM Plex Sans KR"/>
                <a:ea typeface="IBM Plex Sans KR"/>
                <a:cs typeface="IBM Plex Sans KR"/>
                <a:sym typeface="IBM Plex Sans KR"/>
              </a:rPr>
              <a:t>Main Experiment Evaluation 방식의 한계성 : Final State F1과 Hard-filter Completion은 누적 Gold를 기준으로 하므로 No-memory가 구조적으로 불리하며, Policy Accuracy에는 불균형한 label과 파이프라인 완주율의 영향이 포함된다. 따라서 결과를 Full의 전반적인 추천 품질 우위가 아니라, 지속적 상태의 요구 보존 효과로 제한할 필요가 있다.</a:t>
            </a:r>
            <a:endParaRPr sz="1100">
              <a:solidFill>
                <a:schemeClr val="dk1"/>
              </a:solidFill>
              <a:latin typeface="IBM Plex Sans KR"/>
              <a:ea typeface="IBM Plex Sans KR"/>
              <a:cs typeface="IBM Plex Sans KR"/>
              <a:sym typeface="IBM Plex Sans KR"/>
            </a:endParaRPr>
          </a:p>
          <a:p>
            <a:pPr indent="0" lvl="0" marL="457200" rtl="0" algn="l">
              <a:spcBef>
                <a:spcPts val="0"/>
              </a:spcBef>
              <a:spcAft>
                <a:spcPts val="0"/>
              </a:spcAft>
              <a:buNone/>
            </a:pPr>
            <a:r>
              <a:t/>
            </a:r>
            <a:endParaRPr sz="600">
              <a:solidFill>
                <a:schemeClr val="dk1"/>
              </a:solidFill>
              <a:latin typeface="IBM Plex Sans KR"/>
              <a:ea typeface="IBM Plex Sans KR"/>
              <a:cs typeface="IBM Plex Sans KR"/>
              <a:sym typeface="IBM Plex Sans KR"/>
            </a:endParaRPr>
          </a:p>
          <a:p>
            <a:pPr indent="-298450" lvl="0" marL="457200" rtl="0" algn="l">
              <a:lnSpc>
                <a:spcPct val="115000"/>
              </a:lnSpc>
              <a:spcBef>
                <a:spcPts val="1200"/>
              </a:spcBef>
              <a:spcAft>
                <a:spcPts val="0"/>
              </a:spcAft>
              <a:buClr>
                <a:schemeClr val="dk1"/>
              </a:buClr>
              <a:buSzPts val="1100"/>
              <a:buFont typeface="IBM Plex Sans KR"/>
              <a:buChar char="●"/>
            </a:pPr>
            <a:r>
              <a:rPr lang="ko" sz="1100">
                <a:solidFill>
                  <a:schemeClr val="dk1"/>
                </a:solidFill>
                <a:latin typeface="IBM Plex Sans KR"/>
                <a:ea typeface="IBM Plex Sans KR"/>
                <a:cs typeface="IBM Plex Sans KR"/>
                <a:sym typeface="IBM Plex Sans KR"/>
              </a:rPr>
              <a:t>실시간 재고와 배송 정보는 원본 Amazon Reviews 2023에 포함되지 않으며 시간에 따라 변동하므로, 동일 조건 간 재현 가능한 비교를 위해 평가에서는 제외되었다.</a:t>
            </a:r>
            <a:endParaRPr sz="1100">
              <a:solidFill>
                <a:schemeClr val="dk1"/>
              </a:solidFill>
              <a:latin typeface="IBM Plex Sans KR"/>
              <a:ea typeface="IBM Plex Sans KR"/>
              <a:cs typeface="IBM Plex Sans KR"/>
              <a:sym typeface="IBM Plex Sans K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