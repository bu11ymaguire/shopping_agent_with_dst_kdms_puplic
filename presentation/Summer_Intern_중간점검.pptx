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Sans KR Medium"/>
      <p:regular r:id="rId25"/>
      <p:bold r:id="rId26"/>
    </p:embeddedFont>
    <p:embeddedFont>
      <p:font typeface="IBM Plex Sans KR Light"/>
      <p:regular r:id="rId27"/>
      <p:bold r:id="rId28"/>
    </p:embeddedFont>
    <p:embeddedFont>
      <p:font typeface="IBM Plex Sans KR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398650-74EF-497B-8D14-4CA0FEBB2E19}">
  <a:tblStyle styleId="{6C398650-74EF-497B-8D14-4CA0FEBB2E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BMPlexSansKRMedium-bold.fntdata"/><Relationship Id="rId25" Type="http://schemas.openxmlformats.org/officeDocument/2006/relationships/font" Target="fonts/IBMPlexSansKRMedium-regular.fntdata"/><Relationship Id="rId28" Type="http://schemas.openxmlformats.org/officeDocument/2006/relationships/font" Target="fonts/IBMPlexSansKRLight-bold.fntdata"/><Relationship Id="rId27" Type="http://schemas.openxmlformats.org/officeDocument/2006/relationships/font" Target="fonts/IBMPlexSansKRLigh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BMPlexSansKR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IBMPlexSansKR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6636a742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96636a742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96636a742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75e6c978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f975e6c978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975e6c978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75e6c978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975e6c978_0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g3f975e6c978_0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977937f0d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f977937f0d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g3f977937f0d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77937f0d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f977937f0d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g3f977937f0d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6be5edb7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f96be5edb7_0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g3f96be5edb7_0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6636a742_2_1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f96636a742_2_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g3f96636a742_2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d0f0d6b5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f5d0f0d6b5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g3f5d0f0d6b5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6636a742_2_2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f96636a742_2_2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96636a742_2_2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96636a742_2_2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96636a742_2_2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g3f96636a742_2_2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d560a0a0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f5d560a0a0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3f5d560a0a0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6636a742_2_2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f96636a742_2_2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96636a742_2_2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5d560a0a0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f5d560a0a0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5d560a0a0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agent-iota-five.vercel.app/" TargetMode="Externa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25"/>
          <p:cNvCxnSpPr/>
          <p:nvPr/>
        </p:nvCxnSpPr>
        <p:spPr>
          <a:xfrm>
            <a:off x="508000" y="4191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1" name="Google Shape;131;p25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2" name="Google Shape;132;p25"/>
          <p:cNvSpPr txBox="1"/>
          <p:nvPr/>
        </p:nvSpPr>
        <p:spPr>
          <a:xfrm>
            <a:off x="527050" y="596900"/>
            <a:ext cx="271093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DATA SCIENCE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HANYANG UNIVERSITY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73025" y="1987850"/>
            <a:ext cx="8564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Value Evaluation Based on Hidden Intent in Agent-Based Conversational Recommender System</a:t>
            </a: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119200" y="2524550"/>
            <a:ext cx="2504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데이터사이언스 전공</a:t>
            </a:r>
            <a:r>
              <a:rPr b="1" i="0" lang="ko" u="none" cap="none" strike="noStrike">
                <a:solidFill>
                  <a:srgbClr val="9E9E9E"/>
                </a:solidFill>
                <a:latin typeface="Malgun Gothic"/>
                <a:ea typeface="Malgun Gothic"/>
                <a:cs typeface="Malgun Gothic"/>
                <a:sym typeface="Malgun Gothic"/>
              </a:rPr>
              <a:t> 김진욱</a:t>
            </a:r>
            <a:endParaRPr/>
          </a:p>
        </p:txBody>
      </p:sp>
      <p:pic>
        <p:nvPicPr>
          <p:cNvPr descr="logo.png"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300" y="4152900"/>
            <a:ext cx="774700" cy="3898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539750" y="4838700"/>
            <a:ext cx="2746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597725" y="2697600"/>
            <a:ext cx="37593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Outlines</a:t>
            </a:r>
            <a:endParaRPr sz="1200">
              <a:solidFill>
                <a:schemeClr val="dk1"/>
              </a:solidFill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KR Medium"/>
              <a:buAutoNum type="arabicPeriod"/>
            </a:pPr>
            <a:r>
              <a:rPr lang="ko" sz="1200">
                <a:solidFill>
                  <a:schemeClr val="dk1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구매 결과만으로는 드러나지 않는 소비자 의도</a:t>
            </a:r>
            <a:endParaRPr sz="1200">
              <a:solidFill>
                <a:schemeClr val="dk1"/>
              </a:solidFill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KR Medium"/>
              <a:buAutoNum type="arabicPeriod"/>
            </a:pPr>
            <a:r>
              <a:rPr lang="ko" sz="1200">
                <a:solidFill>
                  <a:schemeClr val="dk1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대화와 피드백을 반영하는 쇼핑 에이전트 구조</a:t>
            </a:r>
            <a:endParaRPr sz="1200">
              <a:solidFill>
                <a:schemeClr val="dk1"/>
              </a:solidFill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26"/>
          <p:cNvCxnSpPr/>
          <p:nvPr/>
        </p:nvCxnSpPr>
        <p:spPr>
          <a:xfrm>
            <a:off x="508000" y="4191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45" name="Google Shape;145;p26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6" name="Google Shape;146;p26"/>
          <p:cNvSpPr txBox="1"/>
          <p:nvPr/>
        </p:nvSpPr>
        <p:spPr>
          <a:xfrm>
            <a:off x="527050" y="596900"/>
            <a:ext cx="2710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DATA SCIENCE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HANYANG UNIVERSITY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87350" y="2019300"/>
            <a:ext cx="799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1. 	</a:t>
            </a:r>
            <a:r>
              <a:rPr b="1" lang="ko" sz="2000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구매 결과만으로는 드러나지 않는 소비자 의도</a:t>
            </a:r>
            <a:endParaRPr b="1" sz="2000">
              <a:solidFill>
                <a:srgbClr val="595959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59595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ogo.png" id="148" name="Google Shape;1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300" y="4152900"/>
            <a:ext cx="774700" cy="3898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539750" y="4838700"/>
            <a:ext cx="2810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27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7" name="Google Shape;157;p27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58" name="Google Shape;158;p27"/>
          <p:cNvSpPr txBox="1"/>
          <p:nvPr/>
        </p:nvSpPr>
        <p:spPr>
          <a:xfrm>
            <a:off x="508000" y="644038"/>
            <a:ext cx="8007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의도 및 선호도 관련 선행 연구 조사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1064125" y="4838700"/>
            <a:ext cx="2865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anyang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uman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entered Computing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ab</a:t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626575" y="1159450"/>
            <a:ext cx="7482000" cy="101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● </a:t>
            </a: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CORONA(A Coarse-to-Fine Framework for Graph-based Recommendation with Large Language Models)</a:t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   contribution</a:t>
            </a: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: </a:t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    Intent</a:t>
            </a: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를 사용자의 장기적이고 전반적인 관심인 Preference와 구분되는, </a:t>
            </a:r>
            <a:r>
              <a:rPr b="1"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세밀하고 단기적으로 활성화</a:t>
            </a: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된 관심으로 정의.</a:t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    LLM의 추론 능력을 바탕으로 추출한 Preference와 Intent를 기반으로 후보 그래프를 단계적으로 축소하여 여러 데이터셋에서 우수한 추천 성능과 견고함을 입증</a:t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8850" y="2306913"/>
            <a:ext cx="2865600" cy="226341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Google Shape;169;p28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70" name="Google Shape;170;p28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71" name="Google Shape;171;p28"/>
          <p:cNvSpPr txBox="1"/>
          <p:nvPr/>
        </p:nvSpPr>
        <p:spPr>
          <a:xfrm>
            <a:off x="508000" y="644038"/>
            <a:ext cx="8007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의도 및 선호도 관련 선행 연구 조사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172" name="Google Shape;1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1064125" y="4838700"/>
            <a:ext cx="2865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anyang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uman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entered Computing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ab</a:t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1683425" y="1173625"/>
            <a:ext cx="5585400" cy="838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4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●</a:t>
            </a: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Intention Knowledge Graph Construction for User Intention Relation Modeling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  contribution : 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latin typeface="IBM Plex Sans KR"/>
                <a:ea typeface="IBM Plex Sans KR"/>
                <a:cs typeface="IBM Plex Sans KR"/>
                <a:sym typeface="IBM Plex Sans KR"/>
              </a:rPr>
              <a:t>  </a:t>
            </a:r>
            <a:r>
              <a:rPr b="1" lang="ko" sz="800">
                <a:latin typeface="IBM Plex Sans KR"/>
                <a:ea typeface="IBM Plex Sans KR"/>
                <a:cs typeface="IBM Plex Sans KR"/>
                <a:sym typeface="IBM Plex Sans KR"/>
              </a:rPr>
              <a:t>Intent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를 사용자의 </a:t>
            </a:r>
            <a:r>
              <a:rPr b="1" lang="ko" sz="800">
                <a:latin typeface="IBM Plex Sans KR"/>
                <a:ea typeface="IBM Plex Sans KR"/>
                <a:cs typeface="IBM Plex Sans KR"/>
                <a:sym typeface="IBM Plex Sans KR"/>
              </a:rPr>
              <a:t>상품 탐색·구매 행동 이면에 존재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하는 </a:t>
            </a:r>
            <a:r>
              <a:rPr b="1" lang="ko" sz="800">
                <a:latin typeface="IBM Plex Sans KR"/>
                <a:ea typeface="IBM Plex Sans KR"/>
                <a:cs typeface="IBM Plex Sans KR"/>
                <a:sym typeface="IBM Plex Sans KR"/>
              </a:rPr>
              <a:t>목적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이나 </a:t>
            </a:r>
            <a:r>
              <a:rPr b="1" lang="ko" sz="800">
                <a:latin typeface="IBM Plex Sans KR"/>
                <a:ea typeface="IBM Plex Sans KR"/>
                <a:cs typeface="IBM Plex Sans KR"/>
                <a:sym typeface="IBM Plex Sans KR"/>
              </a:rPr>
              <a:t>구매 이유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로 정의.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  개별 Intent 사이의 시간적·인과적·개념적 관계를 지식 그래프로 구축하여 세션 이해, Intent 예측 및 추천 성능의 개선을 입증.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5187" y="2249212"/>
            <a:ext cx="4641864" cy="22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9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83" name="Google Shape;183;p29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84" name="Google Shape;184;p29"/>
          <p:cNvSpPr txBox="1"/>
          <p:nvPr/>
        </p:nvSpPr>
        <p:spPr>
          <a:xfrm>
            <a:off x="508000" y="644050"/>
            <a:ext cx="3322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의도 및 선호도 관련 선행 연구 조사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1064125" y="4838700"/>
            <a:ext cx="2865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anyang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uman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entered Computing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ab</a:t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>
            <a:off x="1545250" y="1162666"/>
            <a:ext cx="5932800" cy="731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● </a:t>
            </a: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WHAT’S IN MY HUMAN FEEDBACK? LEARNING INTERPRETABLE DESCRIPTIONS OF PREFERENCE DATA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contribution : 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latin typeface="IBM Plex Sans KR"/>
                <a:ea typeface="IBM Plex Sans KR"/>
                <a:cs typeface="IBM Plex Sans KR"/>
                <a:sym typeface="IBM Plex Sans KR"/>
              </a:rPr>
              <a:t>인간 피드백 데이터에 어떤 응답 특성과 선호가 포함되어 있는지 해석하고, 데이터셋 간 충돌하거나 안전 목표와 어긋나는 선호 신호를 발견. </a:t>
            </a:r>
            <a:endParaRPr sz="8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750" y="2044462"/>
            <a:ext cx="5187789" cy="25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30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96" name="Google Shape;196;p30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7" name="Google Shape;197;p30"/>
          <p:cNvSpPr txBox="1"/>
          <p:nvPr/>
        </p:nvSpPr>
        <p:spPr>
          <a:xfrm>
            <a:off x="508000" y="721139"/>
            <a:ext cx="3271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구매 결과 기반 선호 추론</a:t>
            </a:r>
            <a:endParaRPr sz="18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/>
        </p:nvSpPr>
        <p:spPr>
          <a:xfrm>
            <a:off x="1064125" y="4838700"/>
            <a:ext cx="2865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anyang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uman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entered Computing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ab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8075" y="2473239"/>
            <a:ext cx="4870501" cy="13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388325" y="1277238"/>
            <a:ext cx="82500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선행 추천 시스템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프로필과 과거 상호작용에서 Preference와 Intent를 추론하여 관련 아이템을 검색하고 순위화하여</a:t>
            </a: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Recall ·  NDCG 추천 벤치마크 향상에 기여. </a:t>
            </a:r>
            <a:endParaRPr sz="10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31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9" name="Google Shape;209;p31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0" name="Google Shape;210;p31"/>
          <p:cNvSpPr txBox="1"/>
          <p:nvPr/>
        </p:nvSpPr>
        <p:spPr>
          <a:xfrm>
            <a:off x="508000" y="723900"/>
            <a:ext cx="8128127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8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구매 결과 기반 선호 추론의 한계 - </a:t>
            </a: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실제 상품 구매 사례</a:t>
            </a:r>
            <a:endParaRPr sz="18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532125" y="999574"/>
            <a:ext cx="80799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endParaRPr sz="11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Sans KR"/>
              <a:buChar char="●"/>
            </a:pP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사용하던 </a:t>
            </a:r>
            <a:r>
              <a:rPr i="0" lang="ko" sz="11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iPhone 12 Pro Max White</a:t>
            </a: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의 고장으로 </a:t>
            </a:r>
            <a:r>
              <a:rPr i="0" lang="ko" sz="11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iPhone 17 Pro Cosmic Orange</a:t>
            </a: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으로 교체.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●"/>
            </a:pPr>
            <a:r>
              <a:rPr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실제 구매 과정에서는 기기 고장으로 빠른 교체가 필요하였기에  제품 선호도 보다 </a:t>
            </a:r>
            <a:r>
              <a:rPr b="1"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실시간</a:t>
            </a:r>
            <a:r>
              <a:rPr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재고 및 수령 시점이 큰 결정 변수가 되었음.</a:t>
            </a:r>
            <a:endParaRPr sz="11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	</a:t>
            </a:r>
            <a:r>
              <a:rPr lang="ko" sz="1100">
                <a:solidFill>
                  <a:schemeClr val="dk1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▶ 고정된 상호작용 데이터와 순위화 벤치마크만으로는, 실시간 상황과 구매 과정의 우선순위 변화를 평가하기 어려움.</a:t>
            </a:r>
            <a:endParaRPr sz="1100">
              <a:solidFill>
                <a:schemeClr val="dk1"/>
              </a:solidFill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  <p:pic>
        <p:nvPicPr>
          <p:cNvPr descr="logo.png" id="212" name="Google Shape;2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1064124" y="4838700"/>
            <a:ext cx="2750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14" name="Google Shape;214;p31"/>
          <p:cNvGraphicFramePr/>
          <p:nvPr/>
        </p:nvGraphicFramePr>
        <p:xfrm>
          <a:off x="4774136" y="218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{6C398650-74EF-497B-8D14-4CA0FEBB2E19}</a:tableStyleId>
              </a:tblPr>
              <a:tblGrid>
                <a:gridCol w="1865800"/>
                <a:gridCol w="2011400"/>
              </a:tblGrid>
              <a:tr h="21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 u="none" cap="none" strike="noStrike">
                          <a:solidFill>
                            <a:srgbClr val="595959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우선한 것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 u="none" cap="none" strike="noStrike">
                          <a:solidFill>
                            <a:srgbClr val="595959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양보한 것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cap="none" strike="noStrike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빠른 수령 가능성 - </a:t>
                      </a:r>
                      <a:r>
                        <a:rPr lang="ko" sz="90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재고가 있는 상품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cap="none" strike="noStrike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가격 — 최고가 모델 수용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cap="none" strike="noStrike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장기 사용 가치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R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cap="none" strike="noStrike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색상 — 선택하지 않고 수용</a:t>
                      </a:r>
                      <a:endParaRPr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15" name="Google Shape;215;p31"/>
          <p:cNvSpPr txBox="1"/>
          <p:nvPr/>
        </p:nvSpPr>
        <p:spPr>
          <a:xfrm>
            <a:off x="884575" y="1848158"/>
            <a:ext cx="3109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시스템을 통해 도출될 수 있는 추론: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및 Promotion 제품 선호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4865033" y="1785239"/>
            <a:ext cx="27921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구매 과정에서 고려한 것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31"/>
          <p:cNvCxnSpPr/>
          <p:nvPr/>
        </p:nvCxnSpPr>
        <p:spPr>
          <a:xfrm flipH="1">
            <a:off x="4506527" y="1659404"/>
            <a:ext cx="7800" cy="12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32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25" name="Google Shape;225;p32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26" name="Google Shape;226;p32"/>
          <p:cNvSpPr txBox="1"/>
          <p:nvPr/>
        </p:nvSpPr>
        <p:spPr>
          <a:xfrm>
            <a:off x="508000" y="721139"/>
            <a:ext cx="3271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쇼핑 에이전트로의 </a:t>
            </a: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확장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1064125" y="4838700"/>
            <a:ext cx="2865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anyang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uman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entered Computing </a:t>
            </a:r>
            <a:r>
              <a:rPr b="0" i="0" lang="ko" sz="1000" u="none" cap="none" strike="noStrike">
                <a:solidFill>
                  <a:srgbClr val="3452F0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" sz="1000" u="none" cap="none" strike="noStrike">
                <a:solidFill>
                  <a:srgbClr val="787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ab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505025" y="1253900"/>
            <a:ext cx="82749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ans KR"/>
              <a:buChar char="●"/>
            </a:pPr>
            <a:r>
              <a:rPr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쇼핑 에이전트:</a:t>
            </a:r>
            <a:endParaRPr sz="11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  쇼핑 에이전트는 대화와 탐색을 통해 상태와 후보를 반복적으로 갱신해야함.</a:t>
            </a:r>
            <a:endParaRPr sz="10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사용자 요구 확인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상품·리뷰·실시간 정보 탐색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ko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피드백에 따른 후보 갱신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ko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근거와 트레이드오프 설명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쇼핑 에이전트의 상품 평가에는 무엇을 추천했는가뿐 아니라, 어떤 정보를 수집하고 사용자 피드백에 따라 후보를 어떻게 변경했는가까지 포함해야함.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e.g.) iPhone 교체 사례: 긴급 교체 필요 확인 → 재고·수령 시점 및 리뷰 탐색 → 후보 제외 사유 반영 → 즉시 수령 가능한 17 Pro 추천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33"/>
          <p:cNvCxnSpPr/>
          <p:nvPr/>
        </p:nvCxnSpPr>
        <p:spPr>
          <a:xfrm>
            <a:off x="508000" y="4191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7" name="Google Shape;237;p33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33"/>
          <p:cNvSpPr txBox="1"/>
          <p:nvPr/>
        </p:nvSpPr>
        <p:spPr>
          <a:xfrm>
            <a:off x="527050" y="596900"/>
            <a:ext cx="271093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DATA SCIENCE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HANYANG UNIVERSITY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387350" y="2019300"/>
            <a:ext cx="64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2.</a:t>
            </a:r>
            <a:r>
              <a:rPr b="1" lang="ko" sz="2400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	대화와 피드백을 반영하는 쇼핑 에이전트 구조</a:t>
            </a:r>
            <a:endParaRPr b="1" sz="2400">
              <a:solidFill>
                <a:srgbClr val="595959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700">
                <a:solidFill>
                  <a:srgbClr val="5959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 RA-Rec + SPN Shopping Agent</a:t>
            </a:r>
            <a:endParaRPr i="1" sz="1700">
              <a:solidFill>
                <a:srgbClr val="59595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ogo.png" id="240" name="Google Shape;2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300" y="4152900"/>
            <a:ext cx="774700" cy="38989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/>
        </p:nvSpPr>
        <p:spPr>
          <a:xfrm>
            <a:off x="539750" y="4838700"/>
            <a:ext cx="2810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8762095" y="4806950"/>
            <a:ext cx="173751" cy="16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34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0" name="Google Shape;250;p34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34"/>
          <p:cNvSpPr txBox="1"/>
          <p:nvPr/>
        </p:nvSpPr>
        <p:spPr>
          <a:xfrm>
            <a:off x="508000" y="723900"/>
            <a:ext cx="8128127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SPN Shopping Agent</a:t>
            </a:r>
            <a:r>
              <a:rPr i="0" lang="ko" sz="18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— </a:t>
            </a: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사용자와 환경에 행동하는 에이전트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501550" y="1228097"/>
            <a:ext cx="8128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BM Plex Sans KR"/>
              <a:buChar char="●"/>
            </a:pPr>
            <a:r>
              <a:rPr i="0" lang="ko" sz="11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에이전트가 필요한 정보를 직접 수집하고, 이해부터 응답까지의 과정을 턴마다 자동으로 실행.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713337" y="1857154"/>
            <a:ext cx="3759300" cy="1467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000">
                <a:solidFill>
                  <a:srgbClr val="595959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CAPABILITY</a:t>
            </a:r>
            <a:endParaRPr sz="15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사용자 발화와 요구 이해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부족한 정보에 대한 추가 질문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상품 · 리뷰 · 이미지 탐색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다음 행동 결정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최종 응답 구성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4571858" y="2009413"/>
            <a:ext cx="7887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</a:t>
            </a:r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4571848" y="2341980"/>
            <a:ext cx="406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조건과 상품 피드백을 누적시켜서 상태를 관리하는 구조의 부재</a:t>
            </a:r>
            <a:endParaRPr sz="11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256" name="Google Shape;2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1064133" y="4838700"/>
            <a:ext cx="2471547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35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65" name="Google Shape;265;p35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66" name="Google Shape;266;p35"/>
          <p:cNvSpPr txBox="1"/>
          <p:nvPr/>
        </p:nvSpPr>
        <p:spPr>
          <a:xfrm>
            <a:off x="508000" y="723900"/>
            <a:ext cx="8128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RA-Rec — 대화를 기억하고 후보를 순위화하는 추천 모듈</a:t>
            </a:r>
            <a:endParaRPr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501550" y="1228097"/>
            <a:ext cx="8128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ans KR"/>
              <a:buChar char="●"/>
            </a:pPr>
            <a:r>
              <a:rPr lang="ko" sz="11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여러 턴에 걸친 사용자 요구와 피드백을 Dialogue State에 누적하고, 이를 검색 및 상품 순위화에 활용</a:t>
            </a:r>
            <a:endParaRPr sz="11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736912" y="1887054"/>
            <a:ext cx="3759300" cy="1467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595959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CAPABILITY</a:t>
            </a:r>
            <a:endParaRPr sz="15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자연어 Dialogue State 관리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필수 제약과 선호 조건 구분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추천 · 관심 · 거절 · 수락 이력 관리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상태 기반 검색 생성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2857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BM Plex Sans KR"/>
              <a:buChar char="-"/>
            </a:pPr>
            <a:r>
              <a:rPr lang="ko" sz="9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리뷰 관련도 기반 상품 순위화</a:t>
            </a:r>
            <a:endParaRPr sz="9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4571858" y="2009413"/>
            <a:ext cx="7887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</a:t>
            </a:r>
            <a:endParaRPr/>
          </a:p>
        </p:txBody>
      </p:sp>
      <p:sp>
        <p:nvSpPr>
          <p:cNvPr id="270" name="Google Shape;270;p35"/>
          <p:cNvSpPr txBox="1"/>
          <p:nvPr/>
        </p:nvSpPr>
        <p:spPr>
          <a:xfrm>
            <a:off x="4571848" y="2444230"/>
            <a:ext cx="406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실제 행동을 수행하는 별도의 에이전트 구조가 필요함.</a:t>
            </a:r>
            <a:endParaRPr sz="11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271" name="Google Shape;2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/>
        </p:nvSpPr>
        <p:spPr>
          <a:xfrm>
            <a:off x="1064133" y="4838700"/>
            <a:ext cx="2471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9" name="Google Shape;279;p36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0" name="Google Shape;280;p36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p36"/>
          <p:cNvSpPr txBox="1"/>
          <p:nvPr/>
        </p:nvSpPr>
        <p:spPr>
          <a:xfrm>
            <a:off x="508000" y="723900"/>
            <a:ext cx="8128127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800" u="none" cap="none" strike="noStrike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모듈 적용 근거 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508000" y="1181387"/>
            <a:ext cx="8128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BM Plex Sans KR"/>
              <a:buChar char="●"/>
            </a:pPr>
            <a:r>
              <a:rPr lang="ko" sz="1100">
                <a:latin typeface="IBM Plex Sans KR"/>
                <a:ea typeface="IBM Plex Sans KR"/>
                <a:cs typeface="IBM Plex Sans KR"/>
                <a:sym typeface="IBM Plex Sans KR"/>
              </a:rPr>
              <a:t>SPN은 사용자 및 외부 환경과의 상호 작용을 담당하고, RA-Rec은 그 과정에서 얻은 요구와 피드백을 관리하여 피드백에 반영.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283" name="Google Shape;2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/>
        </p:nvSpPr>
        <p:spPr>
          <a:xfrm>
            <a:off x="1064133" y="4838700"/>
            <a:ext cx="2471547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0150" y="1695728"/>
            <a:ext cx="5987850" cy="17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37"/>
          <p:cNvCxnSpPr/>
          <p:nvPr/>
        </p:nvCxnSpPr>
        <p:spPr>
          <a:xfrm>
            <a:off x="508000" y="4826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93" name="Google Shape;293;p37"/>
          <p:cNvCxnSpPr/>
          <p:nvPr/>
        </p:nvCxnSpPr>
        <p:spPr>
          <a:xfrm>
            <a:off x="508000" y="4699000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94" name="Google Shape;294;p37"/>
          <p:cNvSpPr txBox="1"/>
          <p:nvPr/>
        </p:nvSpPr>
        <p:spPr>
          <a:xfrm>
            <a:off x="507900" y="653125"/>
            <a:ext cx="2103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latin typeface="IBM Plex Sans KR"/>
                <a:ea typeface="IBM Plex Sans KR"/>
                <a:cs typeface="IBM Plex Sans KR"/>
                <a:sym typeface="IBM Plex Sans KR"/>
              </a:rPr>
              <a:t>통합 파이프라인 개요</a:t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logo.png" id="295" name="Google Shape;2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826000"/>
            <a:ext cx="368300" cy="18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 txBox="1"/>
          <p:nvPr/>
        </p:nvSpPr>
        <p:spPr>
          <a:xfrm>
            <a:off x="1064133" y="4838700"/>
            <a:ext cx="2471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anyang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uman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entered Computing </a:t>
            </a:r>
            <a:r>
              <a:rPr i="0" lang="ko" sz="1000" u="none" cap="none" strike="noStrike">
                <a:solidFill>
                  <a:srgbClr val="3452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i="0" lang="ko" sz="1000" u="none" cap="none" strike="noStrike">
                <a:solidFill>
                  <a:srgbClr val="787878"/>
                </a:solidFill>
                <a:latin typeface="IBM Plex Sans"/>
                <a:ea typeface="IBM Plex Sans"/>
                <a:cs typeface="IBM Plex Sans"/>
                <a:sym typeface="IBM Plex Sans"/>
              </a:rPr>
              <a:t>ab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97" name="Google Shape;29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076" y="705862"/>
            <a:ext cx="5020600" cy="37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7"/>
          <p:cNvSpPr txBox="1"/>
          <p:nvPr/>
        </p:nvSpPr>
        <p:spPr>
          <a:xfrm>
            <a:off x="460725" y="3191800"/>
            <a:ext cx="2850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 KR Light"/>
              <a:buChar char="●"/>
            </a:pPr>
            <a:r>
              <a:rPr lang="ko" sz="800">
                <a:solidFill>
                  <a:srgbClr val="000000"/>
                </a:solidFill>
                <a:latin typeface="IBM Plex Sans KR Light"/>
                <a:ea typeface="IBM Plex Sans KR Light"/>
                <a:cs typeface="IBM Plex Sans KR Light"/>
                <a:sym typeface="IBM Plex Sans KR Light"/>
              </a:rPr>
              <a:t>Vercel 데모 : </a:t>
            </a:r>
            <a:r>
              <a:rPr lang="ko" sz="800" u="sng">
                <a:solidFill>
                  <a:srgbClr val="0097A7"/>
                </a:solidFill>
                <a:latin typeface="IBM Plex Sans KR Light"/>
                <a:ea typeface="IBM Plex Sans KR Light"/>
                <a:cs typeface="IBM Plex Sans KR Light"/>
                <a:sym typeface="IBM Plex Sans KR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https://agent-iota-five.vercel.app/</a:t>
            </a:r>
            <a:endParaRPr sz="800">
              <a:solidFill>
                <a:srgbClr val="000000"/>
              </a:solidFill>
              <a:latin typeface="IBM Plex Sans KR Light"/>
              <a:ea typeface="IBM Plex Sans KR Light"/>
              <a:cs typeface="IBM Plex Sans KR Light"/>
              <a:sym typeface="IBM Plex Sans KR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IBM Plex Sans KR Light"/>
              <a:ea typeface="IBM Plex Sans KR Light"/>
              <a:cs typeface="IBM Plex Sans KR Light"/>
              <a:sym typeface="IBM Plex Sans KR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IBM Plex Sans KR Light"/>
              <a:ea typeface="IBM Plex Sans KR Light"/>
              <a:cs typeface="IBM Plex Sans KR Light"/>
              <a:sym typeface="IBM Plex Sans KR Light"/>
            </a:endParaRPr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1900" y="3539400"/>
            <a:ext cx="968750" cy="9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