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embeddedFontLst>
    <p:embeddedFont>
      <p:font typeface="IBM Plex Sans KR" panose="020B0600000101010101" charset="-127"/>
      <p:regular r:id="rId4"/>
      <p:bold r:id="rId5"/>
    </p:embeddedFont>
    <p:embeddedFont>
      <p:font typeface="IBM Plex Sans" panose="020B0503050203000203" pitchFamily="34" charset="0"/>
      <p:regular r:id="rId6"/>
      <p:bold r:id="rId7"/>
      <p:italic r:id="rId8"/>
      <p:boldItalic r:id="rId9"/>
    </p:embeddedFont>
    <p:embeddedFont>
      <p:font typeface="Noto Sans KR" panose="020B0200000000000000" pitchFamily="50" charset="-127"/>
      <p:regular r:id="rId10"/>
      <p:bold r:id="rId11"/>
    </p:embeddedFont>
    <p:embeddedFont>
      <p:font typeface="Pretendard" panose="02000503000000020004" pitchFamily="50" charset="-127"/>
      <p:regular r:id="rId12"/>
      <p:bold r:id="rId13"/>
    </p:embeddedFont>
    <p:embeddedFont>
      <p:font typeface="Pretendard SemiBold" panose="02000703000000020004" pitchFamily="50" charset="-127"/>
      <p:bold r:id="rId14"/>
    </p:embeddedFont>
    <p:embeddedFont>
      <p:font typeface="나눔스퀘어 ExtraBold" panose="020B0600000101010101" pitchFamily="50" charset="-127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5D96FEA-054E-4189-B585-4C8075CED2E1}">
  <a:tblStyle styleId="{55D96FEA-054E-4189-B585-4C8075CED2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5" d="100"/>
          <a:sy n="35" d="100"/>
        </p:scale>
        <p:origin x="12" y="-5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>
            <a:extLst>
              <a:ext uri="{FF2B5EF4-FFF2-40B4-BE49-F238E27FC236}">
                <a16:creationId xmlns:a16="http://schemas.microsoft.com/office/drawing/2014/main" id="{29845FED-8CB0-480F-8FA5-986F83C28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3" y="1714141"/>
            <a:ext cx="27247691" cy="713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>
            <a:extLst>
              <a:ext uri="{FF2B5EF4-FFF2-40B4-BE49-F238E27FC236}">
                <a16:creationId xmlns:a16="http://schemas.microsoft.com/office/drawing/2014/main" id="{9B5E3814-0724-4DFF-8F5E-791EFB2C7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3763" y="9987552"/>
            <a:ext cx="27247691" cy="2824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>
            <a:extLst>
              <a:ext uri="{FF2B5EF4-FFF2-40B4-BE49-F238E27FC236}">
                <a16:creationId xmlns:a16="http://schemas.microsoft.com/office/drawing/2014/main" id="{B8595B4E-F21F-4F62-8C6B-7826A68516D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>
            <a:extLst>
              <a:ext uri="{FF2B5EF4-FFF2-40B4-BE49-F238E27FC236}">
                <a16:creationId xmlns:a16="http://schemas.microsoft.com/office/drawing/2014/main" id="{112DC8E1-F46E-4F30-850F-8F86449CD0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>
            <a:extLst>
              <a:ext uri="{FF2B5EF4-FFF2-40B4-BE49-F238E27FC236}">
                <a16:creationId xmlns:a16="http://schemas.microsoft.com/office/drawing/2014/main" id="{72AE4FF7-284A-4637-8DC3-33FEF4B3F08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solidFill>
          <a:srgbClr val="D8D8D8">
            <a:alpha val="70196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>
            <a:extLst>
              <a:ext uri="{FF2B5EF4-FFF2-40B4-BE49-F238E27FC236}">
                <a16:creationId xmlns:a16="http://schemas.microsoft.com/office/drawing/2014/main" id="{62796686-36A8-4335-B9C1-15A1899CD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643" y="13296914"/>
            <a:ext cx="25733932" cy="9175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>
            <a:extLst>
              <a:ext uri="{FF2B5EF4-FFF2-40B4-BE49-F238E27FC236}">
                <a16:creationId xmlns:a16="http://schemas.microsoft.com/office/drawing/2014/main" id="{66AD188F-454A-49FB-AA90-A73A8AC2F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1282" y="24255470"/>
            <a:ext cx="21192650" cy="1093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algn="ctr">
              <a:lnSpc>
                <a:spcPct val="100000"/>
              </a:lnSpc>
              <a:spcBef>
                <a:spcPts val="2692"/>
              </a:spcBef>
              <a:spcAft>
                <a:spcPts val="0"/>
              </a:spcAft>
              <a:buClr>
                <a:srgbClr val="888888"/>
              </a:buClr>
              <a:buSzPts val="13458"/>
              <a:buNone/>
              <a:defRPr>
                <a:solidFill>
                  <a:srgbClr val="888888"/>
                </a:solidFill>
              </a:defRPr>
            </a:lvl1pPr>
            <a:lvl2pPr algn="ctr">
              <a:lnSpc>
                <a:spcPct val="100000"/>
              </a:lnSpc>
              <a:spcBef>
                <a:spcPts val="2352"/>
              </a:spcBef>
              <a:spcAft>
                <a:spcPts val="0"/>
              </a:spcAft>
              <a:buClr>
                <a:srgbClr val="888888"/>
              </a:buClr>
              <a:buSzPts val="1176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rgbClr val="888888"/>
              </a:buClr>
              <a:buSzPts val="10061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rgbClr val="888888"/>
              </a:buClr>
              <a:buSzPts val="8493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rgbClr val="888888"/>
              </a:buClr>
              <a:buSzPts val="8493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rgbClr val="888888"/>
              </a:buClr>
              <a:buSzPts val="8493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rgbClr val="888888"/>
              </a:buClr>
              <a:buSzPts val="8493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rgbClr val="888888"/>
              </a:buClr>
              <a:buSzPts val="8493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rgbClr val="888888"/>
              </a:buClr>
              <a:buSzPts val="8493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>
            <a:extLst>
              <a:ext uri="{FF2B5EF4-FFF2-40B4-BE49-F238E27FC236}">
                <a16:creationId xmlns:a16="http://schemas.microsoft.com/office/drawing/2014/main" id="{803E1B9A-4CB2-4DA7-A1CD-0A8BE96CD2D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>
            <a:extLst>
              <a:ext uri="{FF2B5EF4-FFF2-40B4-BE49-F238E27FC236}">
                <a16:creationId xmlns:a16="http://schemas.microsoft.com/office/drawing/2014/main" id="{06B65962-6A3B-4F75-8643-9241FA5630B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>
            <a:extLst>
              <a:ext uri="{FF2B5EF4-FFF2-40B4-BE49-F238E27FC236}">
                <a16:creationId xmlns:a16="http://schemas.microsoft.com/office/drawing/2014/main" id="{ED3A5723-8B70-4887-98B2-1D4903DC1F6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63" name="Google Shape;27;p3"/>
          <p:cNvCxnSpPr/>
          <p:nvPr/>
        </p:nvCxnSpPr>
        <p:spPr>
          <a:xfrm>
            <a:off x="1388494" y="2367060"/>
            <a:ext cx="27315470" cy="0"/>
          </a:xfrm>
          <a:prstGeom prst="straightConnector1">
            <a:avLst/>
          </a:prstGeom>
          <a:ln w="19050" cap="flat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>
            <a:extLst>
              <a:ext uri="{FF2B5EF4-FFF2-40B4-BE49-F238E27FC236}">
                <a16:creationId xmlns:a16="http://schemas.microsoft.com/office/drawing/2014/main" id="{381EA2E9-8FEF-4230-840C-32BE8B9F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35" y="27505386"/>
            <a:ext cx="25733932" cy="8501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55"/>
              <a:buFont typeface="Malgun Gothic"/>
              <a:buNone/>
              <a:defRPr sz="16855" b="1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>
            <a:extLst>
              <a:ext uri="{FF2B5EF4-FFF2-40B4-BE49-F238E27FC236}">
                <a16:creationId xmlns:a16="http://schemas.microsoft.com/office/drawing/2014/main" id="{F6799691-E7F1-41CB-B6D8-4D88D8C27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1535" y="18142065"/>
            <a:ext cx="25733932" cy="936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b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rgbClr val="888888"/>
              </a:buClr>
              <a:buSzPts val="8493"/>
              <a:buNone/>
              <a:defRPr sz="8493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rgbClr val="888888"/>
              </a:buClr>
              <a:buSzPts val="7578"/>
              <a:buNone/>
              <a:defRPr sz="7578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rgbClr val="888888"/>
              </a:buClr>
              <a:buSzPts val="6793"/>
              <a:buNone/>
              <a:defRPr sz="6793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rgbClr val="888888"/>
              </a:buClr>
              <a:buSzPts val="5880"/>
              <a:buNone/>
              <a:defRPr sz="588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rgbClr val="888888"/>
              </a:buClr>
              <a:buSzPts val="5880"/>
              <a:buNone/>
              <a:defRPr sz="588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rgbClr val="888888"/>
              </a:buClr>
              <a:buSzPts val="5880"/>
              <a:buNone/>
              <a:defRPr sz="588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rgbClr val="888888"/>
              </a:buClr>
              <a:buSzPts val="5880"/>
              <a:buNone/>
              <a:defRPr sz="588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rgbClr val="888888"/>
              </a:buClr>
              <a:buSzPts val="5880"/>
              <a:buNone/>
              <a:defRPr sz="588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rgbClr val="888888"/>
              </a:buClr>
              <a:buSzPts val="5880"/>
              <a:buNone/>
              <a:defRPr sz="588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>
            <a:extLst>
              <a:ext uri="{FF2B5EF4-FFF2-40B4-BE49-F238E27FC236}">
                <a16:creationId xmlns:a16="http://schemas.microsoft.com/office/drawing/2014/main" id="{FED3C3D9-0958-4B65-B5E5-E4297F9887B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>
            <a:extLst>
              <a:ext uri="{FF2B5EF4-FFF2-40B4-BE49-F238E27FC236}">
                <a16:creationId xmlns:a16="http://schemas.microsoft.com/office/drawing/2014/main" id="{4B182F22-D539-46ED-AC9E-EF1FF0D8AF3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>
            <a:extLst>
              <a:ext uri="{FF2B5EF4-FFF2-40B4-BE49-F238E27FC236}">
                <a16:creationId xmlns:a16="http://schemas.microsoft.com/office/drawing/2014/main" id="{C5505E49-9A14-4AE3-8B2C-C34C821586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>
            <a:extLst>
              <a:ext uri="{FF2B5EF4-FFF2-40B4-BE49-F238E27FC236}">
                <a16:creationId xmlns:a16="http://schemas.microsoft.com/office/drawing/2014/main" id="{1F29908B-3D5E-4FE3-80F3-078149B5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3" y="1714141"/>
            <a:ext cx="27247691" cy="713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>
            <a:extLst>
              <a:ext uri="{FF2B5EF4-FFF2-40B4-BE49-F238E27FC236}">
                <a16:creationId xmlns:a16="http://schemas.microsoft.com/office/drawing/2014/main" id="{631323B1-6456-4EE9-93B4-CADFF060F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3765" y="9987552"/>
            <a:ext cx="13371553" cy="2824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975360" algn="l">
              <a:lnSpc>
                <a:spcPct val="100000"/>
              </a:lnSpc>
              <a:spcBef>
                <a:spcPts val="2352"/>
              </a:spcBef>
              <a:spcAft>
                <a:spcPts val="0"/>
              </a:spcAft>
              <a:buClr>
                <a:schemeClr val="dk1"/>
              </a:buClr>
              <a:buSzPts val="11760"/>
              <a:buChar char="•"/>
              <a:defRPr sz="11760"/>
            </a:lvl1pPr>
            <a:lvl2pPr marL="914400" indent="-867474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Char char="–"/>
              <a:defRPr sz="10061"/>
            </a:lvl2pPr>
            <a:lvl3pPr marL="1371600" indent="-767906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•"/>
              <a:defRPr sz="8493"/>
            </a:lvl3pPr>
            <a:lvl4pPr marL="18288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–"/>
              <a:defRPr sz="7578"/>
            </a:lvl4pPr>
            <a:lvl5pPr marL="22860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»"/>
              <a:defRPr sz="7578"/>
            </a:lvl5pPr>
            <a:lvl6pPr marL="27432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6pPr>
            <a:lvl7pPr marL="32004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7pPr>
            <a:lvl8pPr marL="36576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8pPr>
            <a:lvl9pPr marL="41148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9pPr>
          </a:lstStyle>
          <a:p>
            <a:endParaRPr/>
          </a:p>
        </p:txBody>
      </p:sp>
      <p:sp>
        <p:nvSpPr>
          <p:cNvPr id="37" name="Google Shape;37;p5">
            <a:extLst>
              <a:ext uri="{FF2B5EF4-FFF2-40B4-BE49-F238E27FC236}">
                <a16:creationId xmlns:a16="http://schemas.microsoft.com/office/drawing/2014/main" id="{077780DD-2C66-4543-A861-BA21148880E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389903" y="9987552"/>
            <a:ext cx="13371553" cy="2824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975360" algn="l">
              <a:lnSpc>
                <a:spcPct val="100000"/>
              </a:lnSpc>
              <a:spcBef>
                <a:spcPts val="2352"/>
              </a:spcBef>
              <a:spcAft>
                <a:spcPts val="0"/>
              </a:spcAft>
              <a:buClr>
                <a:schemeClr val="dk1"/>
              </a:buClr>
              <a:buSzPts val="11760"/>
              <a:buChar char="•"/>
              <a:defRPr sz="11760"/>
            </a:lvl1pPr>
            <a:lvl2pPr marL="914400" indent="-867474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Char char="–"/>
              <a:defRPr sz="10061"/>
            </a:lvl2pPr>
            <a:lvl3pPr marL="1371600" indent="-767906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•"/>
              <a:defRPr sz="8493"/>
            </a:lvl3pPr>
            <a:lvl4pPr marL="18288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–"/>
              <a:defRPr sz="7578"/>
            </a:lvl4pPr>
            <a:lvl5pPr marL="22860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»"/>
              <a:defRPr sz="7578"/>
            </a:lvl5pPr>
            <a:lvl6pPr marL="27432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6pPr>
            <a:lvl7pPr marL="32004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7pPr>
            <a:lvl8pPr marL="36576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8pPr>
            <a:lvl9pPr marL="41148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9pPr>
          </a:lstStyle>
          <a:p>
            <a:endParaRPr/>
          </a:p>
        </p:txBody>
      </p:sp>
      <p:sp>
        <p:nvSpPr>
          <p:cNvPr id="38" name="Google Shape;38;p5">
            <a:extLst>
              <a:ext uri="{FF2B5EF4-FFF2-40B4-BE49-F238E27FC236}">
                <a16:creationId xmlns:a16="http://schemas.microsoft.com/office/drawing/2014/main" id="{BF724A28-0CD1-492D-AC21-0737DEA34A5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>
            <a:extLst>
              <a:ext uri="{FF2B5EF4-FFF2-40B4-BE49-F238E27FC236}">
                <a16:creationId xmlns:a16="http://schemas.microsoft.com/office/drawing/2014/main" id="{B3625C41-4577-441E-97B2-DFE835E2F87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>
            <a:extLst>
              <a:ext uri="{FF2B5EF4-FFF2-40B4-BE49-F238E27FC236}">
                <a16:creationId xmlns:a16="http://schemas.microsoft.com/office/drawing/2014/main" id="{855DB883-B0BC-4D3A-A818-D674D2564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>
            <a:extLst>
              <a:ext uri="{FF2B5EF4-FFF2-40B4-BE49-F238E27FC236}">
                <a16:creationId xmlns:a16="http://schemas.microsoft.com/office/drawing/2014/main" id="{AAB36081-2D4C-4931-8E2D-6A607860A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3" y="1714141"/>
            <a:ext cx="27247691" cy="713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53"/>
              <a:buFont typeface="Malgun Gothic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>
            <a:extLst>
              <a:ext uri="{FF2B5EF4-FFF2-40B4-BE49-F238E27FC236}">
                <a16:creationId xmlns:a16="http://schemas.microsoft.com/office/drawing/2014/main" id="{58EE3CAF-C78B-456B-B902-8E4986D6C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3760" y="9581308"/>
            <a:ext cx="13376810" cy="399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b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None/>
              <a:defRPr sz="10061" b="1"/>
            </a:lvl1pPr>
            <a:lvl2pPr marL="914400" indent="-228600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None/>
              <a:defRPr sz="8493" b="1"/>
            </a:lvl2pPr>
            <a:lvl3pPr marL="1371600" indent="-228600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None/>
              <a:defRPr sz="7578" b="1"/>
            </a:lvl3pPr>
            <a:lvl4pPr marL="18288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4pPr>
            <a:lvl5pPr marL="22860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5pPr>
            <a:lvl6pPr marL="27432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6pPr>
            <a:lvl7pPr marL="32004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7pPr>
            <a:lvl8pPr marL="36576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8pPr>
            <a:lvl9pPr marL="41148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9pPr>
          </a:lstStyle>
          <a:p>
            <a:endParaRPr/>
          </a:p>
        </p:txBody>
      </p:sp>
      <p:sp>
        <p:nvSpPr>
          <p:cNvPr id="44" name="Google Shape;44;p6">
            <a:extLst>
              <a:ext uri="{FF2B5EF4-FFF2-40B4-BE49-F238E27FC236}">
                <a16:creationId xmlns:a16="http://schemas.microsoft.com/office/drawing/2014/main" id="{C3FBF447-BF4B-495B-9EDC-E845847A0E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3760" y="13574346"/>
            <a:ext cx="13376810" cy="2466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867474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Char char="•"/>
              <a:defRPr sz="10061"/>
            </a:lvl1pPr>
            <a:lvl2pPr marL="914400" indent="-767906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–"/>
              <a:defRPr sz="8493"/>
            </a:lvl2pPr>
            <a:lvl3pPr marL="13716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3pPr>
            <a:lvl4pPr marL="18288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–"/>
              <a:defRPr sz="6793"/>
            </a:lvl4pPr>
            <a:lvl5pPr marL="22860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»"/>
              <a:defRPr sz="6793"/>
            </a:lvl5pPr>
            <a:lvl6pPr marL="27432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6pPr>
            <a:lvl7pPr marL="32004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7pPr>
            <a:lvl8pPr marL="36576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8pPr>
            <a:lvl9pPr marL="41148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9pPr>
          </a:lstStyle>
          <a:p>
            <a:endParaRPr/>
          </a:p>
        </p:txBody>
      </p:sp>
      <p:sp>
        <p:nvSpPr>
          <p:cNvPr id="45" name="Google Shape;45;p6">
            <a:extLst>
              <a:ext uri="{FF2B5EF4-FFF2-40B4-BE49-F238E27FC236}">
                <a16:creationId xmlns:a16="http://schemas.microsoft.com/office/drawing/2014/main" id="{66D18A5E-1579-49F3-82C5-9D48F3D0EB7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379390" y="9581308"/>
            <a:ext cx="13382066" cy="3993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b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None/>
              <a:defRPr sz="10061" b="1"/>
            </a:lvl1pPr>
            <a:lvl2pPr marL="914400" indent="-228600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None/>
              <a:defRPr sz="8493" b="1"/>
            </a:lvl2pPr>
            <a:lvl3pPr marL="1371600" indent="-228600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None/>
              <a:defRPr sz="7578" b="1"/>
            </a:lvl3pPr>
            <a:lvl4pPr marL="18288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4pPr>
            <a:lvl5pPr marL="22860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5pPr>
            <a:lvl6pPr marL="27432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6pPr>
            <a:lvl7pPr marL="32004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7pPr>
            <a:lvl8pPr marL="36576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8pPr>
            <a:lvl9pPr marL="4114800" indent="-228600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None/>
              <a:defRPr sz="6793" b="1"/>
            </a:lvl9pPr>
          </a:lstStyle>
          <a:p>
            <a:endParaRPr/>
          </a:p>
        </p:txBody>
      </p:sp>
      <p:sp>
        <p:nvSpPr>
          <p:cNvPr id="46" name="Google Shape;46;p6">
            <a:extLst>
              <a:ext uri="{FF2B5EF4-FFF2-40B4-BE49-F238E27FC236}">
                <a16:creationId xmlns:a16="http://schemas.microsoft.com/office/drawing/2014/main" id="{AB4BF5A5-FBE6-4CB4-B8BB-58DB26D317B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5379390" y="13574346"/>
            <a:ext cx="13382066" cy="24661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867474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Char char="•"/>
              <a:defRPr sz="10061"/>
            </a:lvl1pPr>
            <a:lvl2pPr marL="914400" indent="-767906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–"/>
              <a:defRPr sz="8493"/>
            </a:lvl2pPr>
            <a:lvl3pPr marL="1371600" indent="-709803" algn="l">
              <a:lnSpc>
                <a:spcPct val="100000"/>
              </a:lnSpc>
              <a:spcBef>
                <a:spcPts val="1516"/>
              </a:spcBef>
              <a:spcAft>
                <a:spcPts val="0"/>
              </a:spcAft>
              <a:buClr>
                <a:schemeClr val="dk1"/>
              </a:buClr>
              <a:buSzPts val="7578"/>
              <a:buChar char="•"/>
              <a:defRPr sz="7578"/>
            </a:lvl3pPr>
            <a:lvl4pPr marL="18288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–"/>
              <a:defRPr sz="6793"/>
            </a:lvl4pPr>
            <a:lvl5pPr marL="22860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»"/>
              <a:defRPr sz="6793"/>
            </a:lvl5pPr>
            <a:lvl6pPr marL="27432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6pPr>
            <a:lvl7pPr marL="32004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7pPr>
            <a:lvl8pPr marL="36576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8pPr>
            <a:lvl9pPr marL="4114800" indent="-659955" algn="l">
              <a:lnSpc>
                <a:spcPct val="100000"/>
              </a:lnSpc>
              <a:spcBef>
                <a:spcPts val="1359"/>
              </a:spcBef>
              <a:spcAft>
                <a:spcPts val="0"/>
              </a:spcAft>
              <a:buClr>
                <a:schemeClr val="dk1"/>
              </a:buClr>
              <a:buSzPts val="6793"/>
              <a:buChar char="•"/>
              <a:defRPr sz="6793"/>
            </a:lvl9pPr>
          </a:lstStyle>
          <a:p>
            <a:endParaRPr/>
          </a:p>
        </p:txBody>
      </p:sp>
      <p:sp>
        <p:nvSpPr>
          <p:cNvPr id="47" name="Google Shape;47;p6">
            <a:extLst>
              <a:ext uri="{FF2B5EF4-FFF2-40B4-BE49-F238E27FC236}">
                <a16:creationId xmlns:a16="http://schemas.microsoft.com/office/drawing/2014/main" id="{866C4E0B-7D21-49A9-AE92-71DFBEFAB73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>
            <a:extLst>
              <a:ext uri="{FF2B5EF4-FFF2-40B4-BE49-F238E27FC236}">
                <a16:creationId xmlns:a16="http://schemas.microsoft.com/office/drawing/2014/main" id="{E30E551E-39FC-44A2-B3CA-6A279C519C9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>
            <a:extLst>
              <a:ext uri="{FF2B5EF4-FFF2-40B4-BE49-F238E27FC236}">
                <a16:creationId xmlns:a16="http://schemas.microsoft.com/office/drawing/2014/main" id="{7AD50470-051D-470C-9010-D92F87CF4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>
            <a:extLst>
              <a:ext uri="{FF2B5EF4-FFF2-40B4-BE49-F238E27FC236}">
                <a16:creationId xmlns:a16="http://schemas.microsoft.com/office/drawing/2014/main" id="{81EC5744-0E44-4D23-B31C-75DB78C6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3" y="1714141"/>
            <a:ext cx="27247691" cy="713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>
            <a:extLst>
              <a:ext uri="{FF2B5EF4-FFF2-40B4-BE49-F238E27FC236}">
                <a16:creationId xmlns:a16="http://schemas.microsoft.com/office/drawing/2014/main" id="{7F56DC3F-BBD7-4BDE-8E76-E70D8DE0BB4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>
            <a:extLst>
              <a:ext uri="{FF2B5EF4-FFF2-40B4-BE49-F238E27FC236}">
                <a16:creationId xmlns:a16="http://schemas.microsoft.com/office/drawing/2014/main" id="{36979D78-357D-41CB-929F-E881D31B737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>
            <a:extLst>
              <a:ext uri="{FF2B5EF4-FFF2-40B4-BE49-F238E27FC236}">
                <a16:creationId xmlns:a16="http://schemas.microsoft.com/office/drawing/2014/main" id="{59B8069D-6570-4B7E-A377-12C3E02413E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>
            <a:extLst>
              <a:ext uri="{FF2B5EF4-FFF2-40B4-BE49-F238E27FC236}">
                <a16:creationId xmlns:a16="http://schemas.microsoft.com/office/drawing/2014/main" id="{F49E300E-4102-4F1A-93E6-EE17DB9EA3B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>
            <a:extLst>
              <a:ext uri="{FF2B5EF4-FFF2-40B4-BE49-F238E27FC236}">
                <a16:creationId xmlns:a16="http://schemas.microsoft.com/office/drawing/2014/main" id="{AF2A71AB-4D32-48C8-9A41-4467D82B8B2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>
            <a:extLst>
              <a:ext uri="{FF2B5EF4-FFF2-40B4-BE49-F238E27FC236}">
                <a16:creationId xmlns:a16="http://schemas.microsoft.com/office/drawing/2014/main" id="{ABE8F787-0F03-49C8-B7C2-6BF877E4A4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>
            <a:extLst>
              <a:ext uri="{FF2B5EF4-FFF2-40B4-BE49-F238E27FC236}">
                <a16:creationId xmlns:a16="http://schemas.microsoft.com/office/drawing/2014/main" id="{663A4734-7EB4-4B4D-910F-8308390E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2" y="1704226"/>
            <a:ext cx="9960336" cy="725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93"/>
              <a:buFont typeface="Malgun Gothic"/>
              <a:buNone/>
              <a:defRPr sz="8493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>
            <a:extLst>
              <a:ext uri="{FF2B5EF4-FFF2-40B4-BE49-F238E27FC236}">
                <a16:creationId xmlns:a16="http://schemas.microsoft.com/office/drawing/2014/main" id="{5B4310A0-216E-496C-94AF-077C8CC81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6769" y="1704228"/>
            <a:ext cx="16924685" cy="36531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1083183" algn="l">
              <a:lnSpc>
                <a:spcPct val="100000"/>
              </a:lnSpc>
              <a:spcBef>
                <a:spcPts val="2692"/>
              </a:spcBef>
              <a:spcAft>
                <a:spcPts val="0"/>
              </a:spcAft>
              <a:buClr>
                <a:schemeClr val="dk1"/>
              </a:buClr>
              <a:buSzPts val="13458"/>
              <a:buChar char="•"/>
              <a:defRPr sz="13458"/>
            </a:lvl1pPr>
            <a:lvl2pPr marL="914400" indent="-975360" algn="l">
              <a:lnSpc>
                <a:spcPct val="100000"/>
              </a:lnSpc>
              <a:spcBef>
                <a:spcPts val="2352"/>
              </a:spcBef>
              <a:spcAft>
                <a:spcPts val="0"/>
              </a:spcAft>
              <a:buClr>
                <a:schemeClr val="dk1"/>
              </a:buClr>
              <a:buSzPts val="11760"/>
              <a:buChar char="–"/>
              <a:defRPr sz="11760"/>
            </a:lvl2pPr>
            <a:lvl3pPr marL="1371600" indent="-867474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Char char="•"/>
              <a:defRPr sz="10061"/>
            </a:lvl3pPr>
            <a:lvl4pPr marL="182880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–"/>
              <a:defRPr sz="8493"/>
            </a:lvl4pPr>
            <a:lvl5pPr marL="228600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»"/>
              <a:defRPr sz="8493"/>
            </a:lvl5pPr>
            <a:lvl6pPr marL="274320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•"/>
              <a:defRPr sz="8493"/>
            </a:lvl6pPr>
            <a:lvl7pPr marL="320040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•"/>
              <a:defRPr sz="8493"/>
            </a:lvl7pPr>
            <a:lvl8pPr marL="365760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•"/>
              <a:defRPr sz="8493"/>
            </a:lvl8pPr>
            <a:lvl9pPr marL="411480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Char char="•"/>
              <a:defRPr sz="8493"/>
            </a:lvl9pPr>
          </a:lstStyle>
          <a:p>
            <a:endParaRPr/>
          </a:p>
        </p:txBody>
      </p:sp>
      <p:sp>
        <p:nvSpPr>
          <p:cNvPr id="62" name="Google Shape;62;p9">
            <a:extLst>
              <a:ext uri="{FF2B5EF4-FFF2-40B4-BE49-F238E27FC236}">
                <a16:creationId xmlns:a16="http://schemas.microsoft.com/office/drawing/2014/main" id="{C995BA95-EFB6-4E23-99E7-68C936D889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513762" y="8957088"/>
            <a:ext cx="9960336" cy="29278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5880"/>
              <a:buNone/>
              <a:defRPr sz="5880"/>
            </a:lvl1pPr>
            <a:lvl2pPr marL="914400" indent="-22860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>
                <a:schemeClr val="dk1"/>
              </a:buClr>
              <a:buSzPts val="5095"/>
              <a:buNone/>
              <a:defRPr sz="5095"/>
            </a:lvl2pPr>
            <a:lvl3pPr marL="1371600" indent="-228600" algn="l">
              <a:lnSpc>
                <a:spcPct val="100000"/>
              </a:lnSpc>
              <a:spcBef>
                <a:spcPts val="836"/>
              </a:spcBef>
              <a:spcAft>
                <a:spcPts val="0"/>
              </a:spcAft>
              <a:buClr>
                <a:schemeClr val="dk1"/>
              </a:buClr>
              <a:buSzPts val="4182"/>
              <a:buNone/>
              <a:defRPr sz="4182"/>
            </a:lvl3pPr>
            <a:lvl4pPr marL="18288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4pPr>
            <a:lvl5pPr marL="22860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5pPr>
            <a:lvl6pPr marL="27432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6pPr>
            <a:lvl7pPr marL="32004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7pPr>
            <a:lvl8pPr marL="36576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8pPr>
            <a:lvl9pPr marL="41148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9pPr>
          </a:lstStyle>
          <a:p>
            <a:endParaRPr/>
          </a:p>
        </p:txBody>
      </p:sp>
      <p:sp>
        <p:nvSpPr>
          <p:cNvPr id="63" name="Google Shape;63;p9">
            <a:extLst>
              <a:ext uri="{FF2B5EF4-FFF2-40B4-BE49-F238E27FC236}">
                <a16:creationId xmlns:a16="http://schemas.microsoft.com/office/drawing/2014/main" id="{27F6B7E0-BD13-4A8D-9D0B-C427466CCE2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>
            <a:extLst>
              <a:ext uri="{FF2B5EF4-FFF2-40B4-BE49-F238E27FC236}">
                <a16:creationId xmlns:a16="http://schemas.microsoft.com/office/drawing/2014/main" id="{E52D138A-A8E1-41BD-B646-84396FE554C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E9F4E2EA-391E-448F-894E-27C220FB30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>
            <a:extLst>
              <a:ext uri="{FF2B5EF4-FFF2-40B4-BE49-F238E27FC236}">
                <a16:creationId xmlns:a16="http://schemas.microsoft.com/office/drawing/2014/main" id="{928E2798-2D0C-4AD4-A332-0ABDBAB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155" y="29962637"/>
            <a:ext cx="18165128" cy="3537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93"/>
              <a:buFont typeface="Malgun Gothic"/>
              <a:buNone/>
              <a:defRPr sz="8493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>
            <a:extLst>
              <a:ext uri="{FF2B5EF4-FFF2-40B4-BE49-F238E27FC236}">
                <a16:creationId xmlns:a16="http://schemas.microsoft.com/office/drawing/2014/main" id="{E40C3BC4-9B3D-4ECC-876F-14D903B4C20E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934155" y="3824598"/>
            <a:ext cx="18165128" cy="25682258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>
            <a:extLst>
              <a:ext uri="{FF2B5EF4-FFF2-40B4-BE49-F238E27FC236}">
                <a16:creationId xmlns:a16="http://schemas.microsoft.com/office/drawing/2014/main" id="{AC6B66E8-FC62-4219-A7B5-C77F051DC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4155" y="33499897"/>
            <a:ext cx="18165128" cy="5023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5880"/>
              <a:buNone/>
              <a:defRPr sz="5880"/>
            </a:lvl1pPr>
            <a:lvl2pPr marL="914400" indent="-228600" algn="l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>
                <a:schemeClr val="dk1"/>
              </a:buClr>
              <a:buSzPts val="5095"/>
              <a:buNone/>
              <a:defRPr sz="5095"/>
            </a:lvl2pPr>
            <a:lvl3pPr marL="1371600" indent="-228600" algn="l">
              <a:lnSpc>
                <a:spcPct val="100000"/>
              </a:lnSpc>
              <a:spcBef>
                <a:spcPts val="836"/>
              </a:spcBef>
              <a:spcAft>
                <a:spcPts val="0"/>
              </a:spcAft>
              <a:buClr>
                <a:schemeClr val="dk1"/>
              </a:buClr>
              <a:buSzPts val="4182"/>
              <a:buNone/>
              <a:defRPr sz="4182"/>
            </a:lvl3pPr>
            <a:lvl4pPr marL="18288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4pPr>
            <a:lvl5pPr marL="22860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5pPr>
            <a:lvl6pPr marL="27432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6pPr>
            <a:lvl7pPr marL="32004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7pPr>
            <a:lvl8pPr marL="36576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8pPr>
            <a:lvl9pPr marL="4114800" indent="-228600" algn="l">
              <a:lnSpc>
                <a:spcPct val="100000"/>
              </a:lnSpc>
              <a:spcBef>
                <a:spcPts val="758"/>
              </a:spcBef>
              <a:spcAft>
                <a:spcPts val="0"/>
              </a:spcAft>
              <a:buClr>
                <a:schemeClr val="dk1"/>
              </a:buClr>
              <a:buSzPts val="3790"/>
              <a:buNone/>
              <a:defRPr sz="3790"/>
            </a:lvl9pPr>
          </a:lstStyle>
          <a:p>
            <a:endParaRPr/>
          </a:p>
        </p:txBody>
      </p:sp>
      <p:sp>
        <p:nvSpPr>
          <p:cNvPr id="70" name="Google Shape;70;p10">
            <a:extLst>
              <a:ext uri="{FF2B5EF4-FFF2-40B4-BE49-F238E27FC236}">
                <a16:creationId xmlns:a16="http://schemas.microsoft.com/office/drawing/2014/main" id="{217B0077-4CA0-4C58-BF44-BD658FF9298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>
            <a:extLst>
              <a:ext uri="{FF2B5EF4-FFF2-40B4-BE49-F238E27FC236}">
                <a16:creationId xmlns:a16="http://schemas.microsoft.com/office/drawing/2014/main" id="{1DEED4AD-2600-47EA-89D7-DFAC58EDA90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>
            <a:extLst>
              <a:ext uri="{FF2B5EF4-FFF2-40B4-BE49-F238E27FC236}">
                <a16:creationId xmlns:a16="http://schemas.microsoft.com/office/drawing/2014/main" id="{750BEF51-6471-4077-9B39-981CD472C19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>
            <a:extLst>
              <a:ext uri="{FF2B5EF4-FFF2-40B4-BE49-F238E27FC236}">
                <a16:creationId xmlns:a16="http://schemas.microsoft.com/office/drawing/2014/main" id="{47A7F898-7212-466D-981D-7D37337A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3" y="1714141"/>
            <a:ext cx="27247691" cy="713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>
            <a:extLst>
              <a:ext uri="{FF2B5EF4-FFF2-40B4-BE49-F238E27FC236}">
                <a16:creationId xmlns:a16="http://schemas.microsoft.com/office/drawing/2014/main" id="{34885677-7F3D-4E2C-9647-3CEF6C46F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013356" y="10487959"/>
            <a:ext cx="28248505" cy="27247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1">
            <a:extLst>
              <a:ext uri="{FF2B5EF4-FFF2-40B4-BE49-F238E27FC236}">
                <a16:creationId xmlns:a16="http://schemas.microsoft.com/office/drawing/2014/main" id="{B0F9C795-3E6B-408A-BDD3-4A8E534927A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>
            <a:extLst>
              <a:ext uri="{FF2B5EF4-FFF2-40B4-BE49-F238E27FC236}">
                <a16:creationId xmlns:a16="http://schemas.microsoft.com/office/drawing/2014/main" id="{D70B10B3-91E6-4488-889D-3B20BD07C11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>
            <a:extLst>
              <a:ext uri="{FF2B5EF4-FFF2-40B4-BE49-F238E27FC236}">
                <a16:creationId xmlns:a16="http://schemas.microsoft.com/office/drawing/2014/main" id="{A207D471-18B6-4463-AE83-27CF76ABBE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>
            <a:extLst>
              <a:ext uri="{FF2B5EF4-FFF2-40B4-BE49-F238E27FC236}">
                <a16:creationId xmlns:a16="http://schemas.microsoft.com/office/drawing/2014/main" id="{91556C9E-F0CE-4C46-AFEF-0B9614C2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094536" y="16569135"/>
            <a:ext cx="36521913" cy="6811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>
            <a:extLst>
              <a:ext uri="{FF2B5EF4-FFF2-40B4-BE49-F238E27FC236}">
                <a16:creationId xmlns:a16="http://schemas.microsoft.com/office/drawing/2014/main" id="{09BFB7BC-8D68-4D97-A3A2-B14AA8F73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-6781603" y="10009506"/>
            <a:ext cx="36521913" cy="19931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2">
            <a:extLst>
              <a:ext uri="{FF2B5EF4-FFF2-40B4-BE49-F238E27FC236}">
                <a16:creationId xmlns:a16="http://schemas.microsoft.com/office/drawing/2014/main" id="{50B68D54-EF23-4849-A144-4E5D3B9C566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>
            <a:extLst>
              <a:ext uri="{FF2B5EF4-FFF2-40B4-BE49-F238E27FC236}">
                <a16:creationId xmlns:a16="http://schemas.microsoft.com/office/drawing/2014/main" id="{DB35C052-F535-44BF-8FCF-DBB35908486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>
            <a:extLst>
              <a:ext uri="{FF2B5EF4-FFF2-40B4-BE49-F238E27FC236}">
                <a16:creationId xmlns:a16="http://schemas.microsoft.com/office/drawing/2014/main" id="{B4C21179-91C2-4983-93F2-C93A7985A7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0"/>
              <a:buFont typeface="Malgun Gothic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5095" b="0" i="0" u="none" cap="none"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CD33D6C9-E1FC-4B8D-9C93-6AEA60DC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763" y="1714141"/>
            <a:ext cx="27247691" cy="713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rm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53"/>
              <a:buFont typeface="Malgun Gothic"/>
              <a:buNone/>
              <a:defRPr sz="18553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" name="Google Shape;11;p1">
            <a:extLst>
              <a:ext uri="{FF2B5EF4-FFF2-40B4-BE49-F238E27FC236}">
                <a16:creationId xmlns:a16="http://schemas.microsoft.com/office/drawing/2014/main" id="{3D2BC757-03F7-4E29-BBA2-E5C765813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3763" y="9987552"/>
            <a:ext cx="27247691" cy="2824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t">
            <a:normAutofit/>
          </a:bodyPr>
          <a:lstStyle>
            <a:lvl1pPr marL="457200" marR="0" indent="-1083183" algn="l">
              <a:lnSpc>
                <a:spcPct val="100000"/>
              </a:lnSpc>
              <a:spcBef>
                <a:spcPts val="2692"/>
              </a:spcBef>
              <a:spcAft>
                <a:spcPts val="0"/>
              </a:spcAft>
              <a:buClr>
                <a:schemeClr val="dk1"/>
              </a:buClr>
              <a:buSzPts val="13458"/>
              <a:buFont typeface="Arial"/>
              <a:buChar char="•"/>
              <a:defRPr sz="13458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marR="0" indent="-975360" algn="l">
              <a:lnSpc>
                <a:spcPct val="100000"/>
              </a:lnSpc>
              <a:spcBef>
                <a:spcPts val="2352"/>
              </a:spcBef>
              <a:spcAft>
                <a:spcPts val="0"/>
              </a:spcAft>
              <a:buClr>
                <a:schemeClr val="dk1"/>
              </a:buClr>
              <a:buSzPts val="11760"/>
              <a:buFont typeface="Arial"/>
              <a:buChar char="–"/>
              <a:defRPr sz="1176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marR="0" indent="-867474" algn="l">
              <a:lnSpc>
                <a:spcPct val="100000"/>
              </a:lnSpc>
              <a:spcBef>
                <a:spcPts val="2012"/>
              </a:spcBef>
              <a:spcAft>
                <a:spcPts val="0"/>
              </a:spcAft>
              <a:buClr>
                <a:schemeClr val="dk1"/>
              </a:buClr>
              <a:buSzPts val="10061"/>
              <a:buFont typeface="Arial"/>
              <a:buChar char="•"/>
              <a:defRPr sz="10061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marR="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Font typeface="Arial"/>
              <a:buChar char="–"/>
              <a:defRPr sz="8493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marR="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Font typeface="Arial"/>
              <a:buChar char="»"/>
              <a:defRPr sz="8493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marR="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Font typeface="Arial"/>
              <a:buChar char="•"/>
              <a:defRPr sz="8493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marR="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Font typeface="Arial"/>
              <a:buChar char="•"/>
              <a:defRPr sz="8493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marR="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Font typeface="Arial"/>
              <a:buChar char="•"/>
              <a:defRPr sz="8493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marR="0" indent="-767905" algn="l">
              <a:lnSpc>
                <a:spcPct val="100000"/>
              </a:lnSpc>
              <a:spcBef>
                <a:spcPts val="1699"/>
              </a:spcBef>
              <a:spcAft>
                <a:spcPts val="0"/>
              </a:spcAft>
              <a:buClr>
                <a:schemeClr val="dk1"/>
              </a:buClr>
              <a:buSzPts val="8493"/>
              <a:buFont typeface="Arial"/>
              <a:buChar char="•"/>
              <a:defRPr sz="8493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>
            <a:extLst>
              <a:ext uri="{FF2B5EF4-FFF2-40B4-BE49-F238E27FC236}">
                <a16:creationId xmlns:a16="http://schemas.microsoft.com/office/drawing/2014/main" id="{07A60A6A-8823-41C9-A1FB-0C4BDD364B8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513764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">
            <a:extLst>
              <a:ext uri="{FF2B5EF4-FFF2-40B4-BE49-F238E27FC236}">
                <a16:creationId xmlns:a16="http://schemas.microsoft.com/office/drawing/2014/main" id="{DC58F8F9-381D-43B9-912F-1E4FD06F887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0344034" y="39672752"/>
            <a:ext cx="9587152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sz="6907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>
            <a:extLst>
              <a:ext uri="{FF2B5EF4-FFF2-40B4-BE49-F238E27FC236}">
                <a16:creationId xmlns:a16="http://schemas.microsoft.com/office/drawing/2014/main" id="{C5AEE79B-6B6A-407E-9BB4-DE998E4FB0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1697239" y="39672752"/>
            <a:ext cx="7064217" cy="227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25" tIns="147600" rIns="295225" bIns="147600" anchor="ctr">
            <a:noAutofit/>
          </a:bodyPr>
          <a:lstStyle>
            <a:lvl1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95"/>
              <a:buFont typeface="Malgun Gothic"/>
              <a:buNone/>
              <a:defRPr sz="5095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414D73DD-7BB6-4B87-9698-D99F5A419A1C}"/>
              </a:ext>
            </a:extLst>
          </p:cNvPr>
          <p:cNvSpPr>
            <a:spLocks noGrp="1"/>
          </p:cNvSpPr>
          <p:nvPr/>
        </p:nvSpPr>
        <p:spPr>
          <a:xfrm>
            <a:off x="384525" y="27637975"/>
            <a:ext cx="14987400" cy="8866800"/>
          </a:xfrm>
          <a:prstGeom prst="roundRect">
            <a:avLst>
              <a:gd name="adj" fmla="val 1449"/>
            </a:avLst>
          </a:prstGeom>
          <a:solidFill>
            <a:schemeClr val="lt1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9765"/>
              <a:buFont typeface="Arial"/>
              <a:buNone/>
            </a:pPr>
            <a:endParaRPr sz="9765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EE57B841-D4A0-4937-A508-191E6AA0DD59}"/>
              </a:ext>
            </a:extLst>
          </p:cNvPr>
          <p:cNvSpPr>
            <a:spLocks noGrp="1"/>
          </p:cNvSpPr>
          <p:nvPr/>
        </p:nvSpPr>
        <p:spPr>
          <a:xfrm>
            <a:off x="21290" y="-1"/>
            <a:ext cx="30232640" cy="6514892"/>
          </a:xfrm>
          <a:prstGeom prst="rect">
            <a:avLst/>
          </a:prstGeom>
          <a:solidFill>
            <a:srgbClr val="094C8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6786"/>
              <a:buFont typeface="Arial"/>
              <a:buNone/>
            </a:pPr>
            <a:endParaRPr sz="6786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DE668A2A-60EC-472A-B1EE-F705084AFD08}"/>
              </a:ext>
            </a:extLst>
          </p:cNvPr>
          <p:cNvSpPr>
            <a:spLocks noGrp="1"/>
          </p:cNvSpPr>
          <p:nvPr/>
        </p:nvSpPr>
        <p:spPr>
          <a:xfrm>
            <a:off x="1078779" y="960285"/>
            <a:ext cx="28117654" cy="2735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400" tIns="208700" rIns="417400" bIns="208700" anchor="ctr">
            <a:noAutofit/>
          </a:bodyPr>
          <a:lstStyle/>
          <a:p>
            <a:pPr marL="0" lvl="0" indent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7069">
                <a:solidFill>
                  <a:schemeClr val="lt1"/>
                </a:solidFill>
                <a:latin typeface="나눔스퀘어 ExtraBold"/>
                <a:ea typeface="나눔스퀘어 ExtraBold"/>
                <a:cs typeface="나눔스퀘어 ExtraBold"/>
              </a:rPr>
              <a:t>사용자 요구 변화를 추적하는 다중 턴 쇼핑 에이전트</a:t>
            </a:r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4C30573E-AF9D-45E2-ACB0-FAE7C60A637F}"/>
              </a:ext>
            </a:extLst>
          </p:cNvPr>
          <p:cNvSpPr>
            <a:spLocks noGrp="1"/>
          </p:cNvSpPr>
          <p:nvPr/>
        </p:nvSpPr>
        <p:spPr>
          <a:xfrm>
            <a:off x="3633063" y="3622860"/>
            <a:ext cx="26638862" cy="2966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400" tIns="208700" rIns="417400" bIns="208700" anchor="ctr">
            <a:noAutofit/>
          </a:bodyPr>
          <a:lstStyle/>
          <a:p>
            <a:pPr lvl="0" algn="r">
              <a:buClr>
                <a:schemeClr val="lt1"/>
              </a:buClr>
              <a:buSzPts val="5090"/>
            </a:pPr>
            <a:r>
              <a:rPr sz="509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김진욱</a:t>
            </a:r>
            <a:r>
              <a:rPr lang="en-US" altLang="ko-KR" sz="5090" b="1" baseline="300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</a:t>
            </a:r>
            <a:r>
              <a:rPr sz="509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, 노태형</a:t>
            </a:r>
            <a:r>
              <a:rPr lang="en-US" altLang="ko-KR" sz="5090" b="1" baseline="300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</a:t>
            </a:r>
            <a:r>
              <a:rPr sz="509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여해인</a:t>
            </a:r>
            <a:r>
              <a:rPr lang="en-US" altLang="ko-KR" sz="5090" b="1" baseline="300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</a:t>
            </a:r>
            <a:r>
              <a:rPr sz="509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5090" dirty="0" err="1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한경식</a:t>
            </a:r>
            <a:r>
              <a:rPr lang="en-US" altLang="ko-KR" sz="5090" b="1" baseline="300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1, 2</a:t>
            </a:r>
            <a:endParaRPr lang="ko-KR" altLang="en-US" sz="1697" b="1" dirty="0">
              <a:solidFill>
                <a:schemeClr val="lt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  <a:p>
            <a:pPr lvl="0" algn="r">
              <a:spcBef>
                <a:spcPts val="905"/>
              </a:spcBef>
              <a:buClr>
                <a:schemeClr val="lt1"/>
              </a:buClr>
              <a:buSzPts val="4524"/>
            </a:pPr>
            <a:r>
              <a:rPr lang="en-US" altLang="ko-KR" sz="4800" b="1" baseline="300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1</a:t>
            </a:r>
            <a:r>
              <a:rPr sz="4524" i="0" u="none" cap="none" dirty="0">
                <a:solidFill>
                  <a:schemeClr val="lt1"/>
                </a:solidFill>
                <a:latin typeface="Pretendard"/>
                <a:ea typeface="Pretendard"/>
                <a:cs typeface="Pretendard"/>
              </a:rPr>
              <a:t>Department of Data Science, Hanyang University, Seoul, Republic of Korea</a:t>
            </a:r>
            <a:endParaRPr sz="4524" i="0" u="none" cap="none" baseline="30000" dirty="0">
              <a:solidFill>
                <a:schemeClr val="lt1"/>
              </a:solidFill>
              <a:latin typeface="Pretendard"/>
              <a:ea typeface="Pretendard"/>
              <a:cs typeface="Pretendard"/>
            </a:endParaRPr>
          </a:p>
          <a:p>
            <a:pPr lvl="0" algn="r">
              <a:spcBef>
                <a:spcPts val="905"/>
              </a:spcBef>
              <a:buClr>
                <a:schemeClr val="lt1"/>
              </a:buClr>
              <a:buSzPts val="4524"/>
            </a:pPr>
            <a:r>
              <a:rPr lang="en-US" altLang="ko-KR" sz="4800" b="1" baseline="30000" dirty="0">
                <a:solidFill>
                  <a:schemeClr val="lt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rPr>
              <a:t>2</a:t>
            </a:r>
            <a:r>
              <a:rPr sz="4524" i="0" u="none" cap="none" dirty="0">
                <a:solidFill>
                  <a:schemeClr val="lt1"/>
                </a:solidFill>
                <a:latin typeface="Pretendard"/>
                <a:ea typeface="Pretendard"/>
                <a:cs typeface="Pretendard"/>
              </a:rPr>
              <a:t>Department of Artificial Intelligence, Hanyang University, Seoul, Republic of Korea</a:t>
            </a:r>
            <a:endParaRPr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43AFCCFE-C4E1-4860-ADAF-88EDB75DAA01}"/>
              </a:ext>
            </a:extLst>
          </p:cNvPr>
          <p:cNvSpPr>
            <a:spLocks noGrp="1"/>
          </p:cNvSpPr>
          <p:nvPr/>
        </p:nvSpPr>
        <p:spPr>
          <a:xfrm>
            <a:off x="28099256" y="265425"/>
            <a:ext cx="1916352" cy="191635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9765"/>
              <a:buFont typeface="Arial"/>
              <a:buNone/>
            </a:pPr>
            <a:endParaRPr sz="9765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471" name="Google Shape;95;p13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4046" t="11678" r="78355" b="11052"/>
          <a:stretch/>
        </p:blipFill>
        <p:spPr>
          <a:xfrm>
            <a:off x="28072629" y="240877"/>
            <a:ext cx="1974494" cy="1985006"/>
          </a:xfrm>
          <a:prstGeom prst="rect">
            <a:avLst/>
          </a:prstGeom>
          <a:ln>
            <a:noFill/>
          </a:ln>
        </p:spPr>
      </p:pic>
      <p:pic>
        <p:nvPicPr>
          <p:cNvPr id="1472" name="Google Shape;96;p1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090" y="282938"/>
            <a:ext cx="3102590" cy="1546284"/>
          </a:xfrm>
          <a:prstGeom prst="rect">
            <a:avLst/>
          </a:prstGeom>
          <a:ln>
            <a:noFill/>
          </a:ln>
        </p:spPr>
      </p:pic>
      <p:sp>
        <p:nvSpPr>
          <p:cNvPr id="97" name="Google Shape;97;p13">
            <a:extLst>
              <a:ext uri="{FF2B5EF4-FFF2-40B4-BE49-F238E27FC236}">
                <a16:creationId xmlns:a16="http://schemas.microsoft.com/office/drawing/2014/main" id="{740ECB23-595B-4880-811F-36D21BBE82EC}"/>
              </a:ext>
            </a:extLst>
          </p:cNvPr>
          <p:cNvSpPr>
            <a:spLocks noGrp="1"/>
          </p:cNvSpPr>
          <p:nvPr/>
        </p:nvSpPr>
        <p:spPr>
          <a:xfrm>
            <a:off x="380210" y="6787596"/>
            <a:ext cx="29506156" cy="7595309"/>
          </a:xfrm>
          <a:prstGeom prst="roundRect">
            <a:avLst>
              <a:gd name="adj" fmla="val 2141"/>
            </a:avLst>
          </a:prstGeom>
          <a:solidFill>
            <a:schemeClr val="lt1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9765"/>
              <a:buFont typeface="Arial"/>
              <a:buNone/>
            </a:pPr>
            <a:endParaRPr sz="9765" b="0" i="0" u="non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p13">
            <a:extLst>
              <a:ext uri="{FF2B5EF4-FFF2-40B4-BE49-F238E27FC236}">
                <a16:creationId xmlns:a16="http://schemas.microsoft.com/office/drawing/2014/main" id="{51D68B84-D119-470F-AF74-BB78406925E9}"/>
              </a:ext>
            </a:extLst>
          </p:cNvPr>
          <p:cNvSpPr>
            <a:spLocks noGrp="1"/>
          </p:cNvSpPr>
          <p:nvPr/>
        </p:nvSpPr>
        <p:spPr>
          <a:xfrm>
            <a:off x="569624" y="7027730"/>
            <a:ext cx="9445995" cy="962928"/>
          </a:xfrm>
          <a:custGeom>
            <a:avLst/>
            <a:gdLst/>
            <a:ahLst/>
            <a:cxnLst/>
            <a:rect l="l" t="t" r="r" b="b"/>
            <a:pathLst>
              <a:path w="1461" h="177"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9" y="0"/>
                  <a:pt x="20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330" y="0"/>
                  <a:pt x="1330" y="0"/>
                  <a:pt x="1330" y="0"/>
                </a:cubicBezTo>
                <a:cubicBezTo>
                  <a:pt x="1451" y="75"/>
                  <a:pt x="1451" y="75"/>
                  <a:pt x="1451" y="75"/>
                </a:cubicBezTo>
                <a:cubicBezTo>
                  <a:pt x="1451" y="75"/>
                  <a:pt x="1461" y="83"/>
                  <a:pt x="1461" y="92"/>
                </a:cubicBezTo>
                <a:cubicBezTo>
                  <a:pt x="1461" y="101"/>
                  <a:pt x="1451" y="107"/>
                  <a:pt x="1451" y="107"/>
                </a:cubicBezTo>
                <a:cubicBezTo>
                  <a:pt x="1330" y="177"/>
                  <a:pt x="1330" y="177"/>
                  <a:pt x="1330" y="177"/>
                </a:cubicBezTo>
                <a:cubicBezTo>
                  <a:pt x="180" y="177"/>
                  <a:pt x="180" y="177"/>
                  <a:pt x="180" y="177"/>
                </a:cubicBezTo>
                <a:cubicBezTo>
                  <a:pt x="21" y="177"/>
                  <a:pt x="21" y="177"/>
                  <a:pt x="21" y="177"/>
                </a:cubicBezTo>
                <a:cubicBezTo>
                  <a:pt x="18" y="177"/>
                  <a:pt x="18" y="177"/>
                  <a:pt x="18" y="177"/>
                </a:cubicBezTo>
                <a:cubicBezTo>
                  <a:pt x="8" y="177"/>
                  <a:pt x="0" y="169"/>
                  <a:pt x="0" y="160"/>
                </a:cubicBezTo>
                <a:cubicBezTo>
                  <a:pt x="0" y="160"/>
                  <a:pt x="0" y="160"/>
                  <a:pt x="0" y="160"/>
                </a:cubicBezTo>
                <a:lnTo>
                  <a:pt x="0" y="19"/>
                </a:lnTo>
                <a:close/>
              </a:path>
            </a:pathLst>
          </a:custGeom>
          <a:solidFill>
            <a:srgbClr val="588FD2"/>
          </a:solidFill>
          <a:ln>
            <a:noFill/>
          </a:ln>
        </p:spPr>
        <p:txBody>
          <a:bodyPr spcFirstLastPara="1" wrap="square" lIns="119475" tIns="59725" rIns="119475" bIns="59725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7578"/>
              <a:buFont typeface="Arial"/>
              <a:buNone/>
            </a:pPr>
            <a:endParaRPr sz="7578" b="0" i="0" u="none" cap="none">
              <a:solidFill>
                <a:srgbClr val="588FD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Google Shape;99;p13">
            <a:extLst>
              <a:ext uri="{FF2B5EF4-FFF2-40B4-BE49-F238E27FC236}">
                <a16:creationId xmlns:a16="http://schemas.microsoft.com/office/drawing/2014/main" id="{BE694B7B-45EC-4914-A658-236F48244F22}"/>
              </a:ext>
            </a:extLst>
          </p:cNvPr>
          <p:cNvSpPr>
            <a:spLocks noGrp="1"/>
          </p:cNvSpPr>
          <p:nvPr/>
        </p:nvSpPr>
        <p:spPr>
          <a:xfrm>
            <a:off x="687939" y="7052295"/>
            <a:ext cx="3448379" cy="87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90"/>
              <a:buFont typeface="Arial"/>
              <a:buNone/>
            </a:pPr>
            <a:r>
              <a:rPr sz="509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100" name="Google Shape;100;p13">
            <a:extLst>
              <a:ext uri="{FF2B5EF4-FFF2-40B4-BE49-F238E27FC236}">
                <a16:creationId xmlns:a16="http://schemas.microsoft.com/office/drawing/2014/main" id="{42877FEE-158A-4E45-8BCA-86D954184128}"/>
              </a:ext>
            </a:extLst>
          </p:cNvPr>
          <p:cNvSpPr>
            <a:spLocks noGrp="1"/>
          </p:cNvSpPr>
          <p:nvPr/>
        </p:nvSpPr>
        <p:spPr>
          <a:xfrm rot="5400000" flipH="1">
            <a:off x="15142476" y="9079592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oogle Shape;101;p13">
            <a:extLst>
              <a:ext uri="{FF2B5EF4-FFF2-40B4-BE49-F238E27FC236}">
                <a16:creationId xmlns:a16="http://schemas.microsoft.com/office/drawing/2014/main" id="{710E763F-C66B-4463-9B1B-281EB2A3DCEA}"/>
              </a:ext>
            </a:extLst>
          </p:cNvPr>
          <p:cNvSpPr>
            <a:spLocks noGrp="1"/>
          </p:cNvSpPr>
          <p:nvPr/>
        </p:nvSpPr>
        <p:spPr>
          <a:xfrm rot="5400000" flipH="1">
            <a:off x="899283" y="10293907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p13">
            <a:extLst>
              <a:ext uri="{FF2B5EF4-FFF2-40B4-BE49-F238E27FC236}">
                <a16:creationId xmlns:a16="http://schemas.microsoft.com/office/drawing/2014/main" id="{A792BA7D-3C80-462D-B752-A61E467CBC29}"/>
              </a:ext>
            </a:extLst>
          </p:cNvPr>
          <p:cNvSpPr>
            <a:spLocks noGrp="1"/>
          </p:cNvSpPr>
          <p:nvPr/>
        </p:nvSpPr>
        <p:spPr>
          <a:xfrm>
            <a:off x="380210" y="14611749"/>
            <a:ext cx="29506156" cy="12768784"/>
          </a:xfrm>
          <a:prstGeom prst="roundRect">
            <a:avLst>
              <a:gd name="adj" fmla="val 1543"/>
            </a:avLst>
          </a:prstGeom>
          <a:solidFill>
            <a:schemeClr val="lt1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9765"/>
              <a:buFont typeface="Arial"/>
              <a:buNone/>
            </a:pPr>
            <a:endParaRPr sz="9765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13">
            <a:extLst>
              <a:ext uri="{FF2B5EF4-FFF2-40B4-BE49-F238E27FC236}">
                <a16:creationId xmlns:a16="http://schemas.microsoft.com/office/drawing/2014/main" id="{A03FA346-74AE-45AA-A81F-4035AB08ACE6}"/>
              </a:ext>
            </a:extLst>
          </p:cNvPr>
          <p:cNvSpPr>
            <a:spLocks noGrp="1"/>
          </p:cNvSpPr>
          <p:nvPr/>
        </p:nvSpPr>
        <p:spPr>
          <a:xfrm>
            <a:off x="380188" y="36711867"/>
            <a:ext cx="29506200" cy="4325400"/>
          </a:xfrm>
          <a:prstGeom prst="roundRect">
            <a:avLst>
              <a:gd name="adj" fmla="val 2179"/>
            </a:avLst>
          </a:prstGeom>
          <a:solidFill>
            <a:schemeClr val="lt1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9765"/>
              <a:buFont typeface="Arial"/>
              <a:buNone/>
            </a:pPr>
            <a:endParaRPr sz="9765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13">
            <a:extLst>
              <a:ext uri="{FF2B5EF4-FFF2-40B4-BE49-F238E27FC236}">
                <a16:creationId xmlns:a16="http://schemas.microsoft.com/office/drawing/2014/main" id="{08AF1CD4-D2CA-4D06-AF96-9FD80BAAC44A}"/>
              </a:ext>
            </a:extLst>
          </p:cNvPr>
          <p:cNvSpPr>
            <a:spLocks noGrp="1"/>
          </p:cNvSpPr>
          <p:nvPr/>
        </p:nvSpPr>
        <p:spPr>
          <a:xfrm>
            <a:off x="15152943" y="8829236"/>
            <a:ext cx="13904400" cy="3202200"/>
          </a:xfrm>
          <a:prstGeom prst="roundRect">
            <a:avLst>
              <a:gd name="adj" fmla="val 5102"/>
            </a:avLst>
          </a:prstGeom>
          <a:noFill/>
          <a:ln w="25400" cmpd="sng">
            <a:solidFill>
              <a:srgbClr val="094C8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8128"/>
              <a:buFont typeface="Arial"/>
              <a:buNone/>
            </a:pPr>
            <a:endParaRPr sz="8128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105;p13">
            <a:extLst>
              <a:ext uri="{FF2B5EF4-FFF2-40B4-BE49-F238E27FC236}">
                <a16:creationId xmlns:a16="http://schemas.microsoft.com/office/drawing/2014/main" id="{40D7602E-756C-4CA8-A9B0-72F81D605124}"/>
              </a:ext>
            </a:extLst>
          </p:cNvPr>
          <p:cNvSpPr>
            <a:spLocks noGrp="1"/>
          </p:cNvSpPr>
          <p:nvPr/>
        </p:nvSpPr>
        <p:spPr>
          <a:xfrm>
            <a:off x="16534350" y="8018850"/>
            <a:ext cx="12065700" cy="9449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241"/>
              <a:buFont typeface="IBM Plex Sans"/>
              <a:buNone/>
            </a:pPr>
            <a:r>
              <a:rPr sz="4241" b="1">
                <a:solidFill>
                  <a:srgbClr val="262626"/>
                </a:solidFill>
                <a:latin typeface="Pretendard"/>
                <a:ea typeface="Pretendard"/>
                <a:cs typeface="Pretendard"/>
              </a:rPr>
              <a:t>The Need for Dynamic State Grounding</a:t>
            </a:r>
          </a:p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4241"/>
              <a:buFont typeface="Arial"/>
              <a:buNone/>
            </a:pPr>
            <a:endParaRPr sz="4241" b="1">
              <a:solidFill>
                <a:srgbClr val="2626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07" name="Google Shape;107;p13">
            <a:extLst>
              <a:ext uri="{FF2B5EF4-FFF2-40B4-BE49-F238E27FC236}">
                <a16:creationId xmlns:a16="http://schemas.microsoft.com/office/drawing/2014/main" id="{98A76AE4-FC9B-4568-9053-CF845332CAC3}"/>
              </a:ext>
            </a:extLst>
          </p:cNvPr>
          <p:cNvSpPr>
            <a:spLocks noGrp="1"/>
          </p:cNvSpPr>
          <p:nvPr/>
        </p:nvSpPr>
        <p:spPr>
          <a:xfrm>
            <a:off x="569624" y="14827624"/>
            <a:ext cx="9445995" cy="962928"/>
          </a:xfrm>
          <a:custGeom>
            <a:avLst/>
            <a:gdLst/>
            <a:ahLst/>
            <a:cxnLst/>
            <a:rect l="l" t="t" r="r" b="b"/>
            <a:pathLst>
              <a:path w="1461" h="177"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9" y="0"/>
                  <a:pt x="20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330" y="0"/>
                  <a:pt x="1330" y="0"/>
                  <a:pt x="1330" y="0"/>
                </a:cubicBezTo>
                <a:cubicBezTo>
                  <a:pt x="1451" y="75"/>
                  <a:pt x="1451" y="75"/>
                  <a:pt x="1451" y="75"/>
                </a:cubicBezTo>
                <a:cubicBezTo>
                  <a:pt x="1451" y="75"/>
                  <a:pt x="1461" y="83"/>
                  <a:pt x="1461" y="92"/>
                </a:cubicBezTo>
                <a:cubicBezTo>
                  <a:pt x="1461" y="101"/>
                  <a:pt x="1451" y="107"/>
                  <a:pt x="1451" y="107"/>
                </a:cubicBezTo>
                <a:cubicBezTo>
                  <a:pt x="1330" y="177"/>
                  <a:pt x="1330" y="177"/>
                  <a:pt x="1330" y="177"/>
                </a:cubicBezTo>
                <a:cubicBezTo>
                  <a:pt x="180" y="177"/>
                  <a:pt x="180" y="177"/>
                  <a:pt x="180" y="177"/>
                </a:cubicBezTo>
                <a:cubicBezTo>
                  <a:pt x="21" y="177"/>
                  <a:pt x="21" y="177"/>
                  <a:pt x="21" y="177"/>
                </a:cubicBezTo>
                <a:cubicBezTo>
                  <a:pt x="18" y="177"/>
                  <a:pt x="18" y="177"/>
                  <a:pt x="18" y="177"/>
                </a:cubicBezTo>
                <a:cubicBezTo>
                  <a:pt x="8" y="177"/>
                  <a:pt x="0" y="169"/>
                  <a:pt x="0" y="160"/>
                </a:cubicBezTo>
                <a:cubicBezTo>
                  <a:pt x="0" y="160"/>
                  <a:pt x="0" y="160"/>
                  <a:pt x="0" y="160"/>
                </a:cubicBezTo>
                <a:lnTo>
                  <a:pt x="0" y="19"/>
                </a:lnTo>
                <a:close/>
              </a:path>
            </a:pathLst>
          </a:custGeom>
          <a:solidFill>
            <a:srgbClr val="588FD2"/>
          </a:solidFill>
          <a:ln>
            <a:noFill/>
          </a:ln>
        </p:spPr>
        <p:txBody>
          <a:bodyPr spcFirstLastPara="1" wrap="square" lIns="119475" tIns="59725" rIns="119475" bIns="59725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7578"/>
              <a:buFont typeface="Arial"/>
              <a:buNone/>
            </a:pPr>
            <a:endParaRPr sz="7578">
              <a:solidFill>
                <a:srgbClr val="588FD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oogle Shape;108;p13">
            <a:extLst>
              <a:ext uri="{FF2B5EF4-FFF2-40B4-BE49-F238E27FC236}">
                <a16:creationId xmlns:a16="http://schemas.microsoft.com/office/drawing/2014/main" id="{18E87D52-C521-4226-92D6-78C6AE12E331}"/>
              </a:ext>
            </a:extLst>
          </p:cNvPr>
          <p:cNvSpPr>
            <a:spLocks noGrp="1"/>
          </p:cNvSpPr>
          <p:nvPr/>
        </p:nvSpPr>
        <p:spPr>
          <a:xfrm>
            <a:off x="687939" y="14852189"/>
            <a:ext cx="4246674" cy="87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90"/>
              <a:buFont typeface="Arial"/>
              <a:buNone/>
            </a:pPr>
            <a:r>
              <a:rPr sz="50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09" name="Google Shape;109;p13">
            <a:extLst>
              <a:ext uri="{FF2B5EF4-FFF2-40B4-BE49-F238E27FC236}">
                <a16:creationId xmlns:a16="http://schemas.microsoft.com/office/drawing/2014/main" id="{045159CC-388F-4AA8-AD86-684799F29D9D}"/>
              </a:ext>
            </a:extLst>
          </p:cNvPr>
          <p:cNvSpPr>
            <a:spLocks noGrp="1"/>
          </p:cNvSpPr>
          <p:nvPr/>
        </p:nvSpPr>
        <p:spPr>
          <a:xfrm>
            <a:off x="569624" y="27820398"/>
            <a:ext cx="9445995" cy="962928"/>
          </a:xfrm>
          <a:custGeom>
            <a:avLst/>
            <a:gdLst/>
            <a:ahLst/>
            <a:cxnLst/>
            <a:rect l="l" t="t" r="r" b="b"/>
            <a:pathLst>
              <a:path w="1461" h="177"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9" y="0"/>
                  <a:pt x="20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330" y="0"/>
                  <a:pt x="1330" y="0"/>
                  <a:pt x="1330" y="0"/>
                </a:cubicBezTo>
                <a:cubicBezTo>
                  <a:pt x="1451" y="75"/>
                  <a:pt x="1451" y="75"/>
                  <a:pt x="1451" y="75"/>
                </a:cubicBezTo>
                <a:cubicBezTo>
                  <a:pt x="1451" y="75"/>
                  <a:pt x="1461" y="83"/>
                  <a:pt x="1461" y="92"/>
                </a:cubicBezTo>
                <a:cubicBezTo>
                  <a:pt x="1461" y="101"/>
                  <a:pt x="1451" y="107"/>
                  <a:pt x="1451" y="107"/>
                </a:cubicBezTo>
                <a:cubicBezTo>
                  <a:pt x="1330" y="177"/>
                  <a:pt x="1330" y="177"/>
                  <a:pt x="1330" y="177"/>
                </a:cubicBezTo>
                <a:cubicBezTo>
                  <a:pt x="180" y="177"/>
                  <a:pt x="180" y="177"/>
                  <a:pt x="180" y="177"/>
                </a:cubicBezTo>
                <a:cubicBezTo>
                  <a:pt x="21" y="177"/>
                  <a:pt x="21" y="177"/>
                  <a:pt x="21" y="177"/>
                </a:cubicBezTo>
                <a:cubicBezTo>
                  <a:pt x="18" y="177"/>
                  <a:pt x="18" y="177"/>
                  <a:pt x="18" y="177"/>
                </a:cubicBezTo>
                <a:cubicBezTo>
                  <a:pt x="8" y="177"/>
                  <a:pt x="0" y="169"/>
                  <a:pt x="0" y="160"/>
                </a:cubicBezTo>
                <a:cubicBezTo>
                  <a:pt x="0" y="160"/>
                  <a:pt x="0" y="160"/>
                  <a:pt x="0" y="160"/>
                </a:cubicBezTo>
                <a:lnTo>
                  <a:pt x="0" y="19"/>
                </a:lnTo>
                <a:close/>
              </a:path>
            </a:pathLst>
          </a:custGeom>
          <a:solidFill>
            <a:srgbClr val="588FD2"/>
          </a:solidFill>
          <a:ln>
            <a:noFill/>
          </a:ln>
        </p:spPr>
        <p:txBody>
          <a:bodyPr spcFirstLastPara="1" wrap="square" lIns="119475" tIns="59725" rIns="119475" bIns="59725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7578"/>
              <a:buFont typeface="Arial"/>
              <a:buNone/>
            </a:pPr>
            <a:endParaRPr sz="7578">
              <a:solidFill>
                <a:srgbClr val="588FD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Google Shape;110;p13">
            <a:extLst>
              <a:ext uri="{FF2B5EF4-FFF2-40B4-BE49-F238E27FC236}">
                <a16:creationId xmlns:a16="http://schemas.microsoft.com/office/drawing/2014/main" id="{14170E5B-89EE-4EBD-9E74-21EAF2D24BAF}"/>
              </a:ext>
            </a:extLst>
          </p:cNvPr>
          <p:cNvSpPr>
            <a:spLocks noGrp="1"/>
          </p:cNvSpPr>
          <p:nvPr/>
        </p:nvSpPr>
        <p:spPr>
          <a:xfrm>
            <a:off x="687937" y="27844963"/>
            <a:ext cx="6126137" cy="87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90"/>
              <a:buFont typeface="Arial"/>
              <a:buNone/>
            </a:pPr>
            <a:r>
              <a:rPr sz="50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Experiment</a:t>
            </a:r>
          </a:p>
        </p:txBody>
      </p:sp>
      <p:sp>
        <p:nvSpPr>
          <p:cNvPr id="111" name="Google Shape;111;p13">
            <a:extLst>
              <a:ext uri="{FF2B5EF4-FFF2-40B4-BE49-F238E27FC236}">
                <a16:creationId xmlns:a16="http://schemas.microsoft.com/office/drawing/2014/main" id="{7BC6F60F-252C-4B6D-9D6D-0A3BD5F3EEAB}"/>
              </a:ext>
            </a:extLst>
          </p:cNvPr>
          <p:cNvSpPr>
            <a:spLocks noGrp="1"/>
          </p:cNvSpPr>
          <p:nvPr/>
        </p:nvSpPr>
        <p:spPr>
          <a:xfrm>
            <a:off x="569624" y="36928065"/>
            <a:ext cx="9445995" cy="1076016"/>
          </a:xfrm>
          <a:custGeom>
            <a:avLst/>
            <a:gdLst/>
            <a:ahLst/>
            <a:cxnLst/>
            <a:rect l="l" t="t" r="r" b="b"/>
            <a:pathLst>
              <a:path w="1461" h="177"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9" y="0"/>
                  <a:pt x="20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330" y="0"/>
                  <a:pt x="1330" y="0"/>
                  <a:pt x="1330" y="0"/>
                </a:cubicBezTo>
                <a:cubicBezTo>
                  <a:pt x="1451" y="75"/>
                  <a:pt x="1451" y="75"/>
                  <a:pt x="1451" y="75"/>
                </a:cubicBezTo>
                <a:cubicBezTo>
                  <a:pt x="1451" y="75"/>
                  <a:pt x="1461" y="83"/>
                  <a:pt x="1461" y="92"/>
                </a:cubicBezTo>
                <a:cubicBezTo>
                  <a:pt x="1461" y="101"/>
                  <a:pt x="1451" y="107"/>
                  <a:pt x="1451" y="107"/>
                </a:cubicBezTo>
                <a:cubicBezTo>
                  <a:pt x="1330" y="177"/>
                  <a:pt x="1330" y="177"/>
                  <a:pt x="1330" y="177"/>
                </a:cubicBezTo>
                <a:cubicBezTo>
                  <a:pt x="180" y="177"/>
                  <a:pt x="180" y="177"/>
                  <a:pt x="180" y="177"/>
                </a:cubicBezTo>
                <a:cubicBezTo>
                  <a:pt x="21" y="177"/>
                  <a:pt x="21" y="177"/>
                  <a:pt x="21" y="177"/>
                </a:cubicBezTo>
                <a:cubicBezTo>
                  <a:pt x="18" y="177"/>
                  <a:pt x="18" y="177"/>
                  <a:pt x="18" y="177"/>
                </a:cubicBezTo>
                <a:cubicBezTo>
                  <a:pt x="8" y="177"/>
                  <a:pt x="0" y="169"/>
                  <a:pt x="0" y="160"/>
                </a:cubicBezTo>
                <a:cubicBezTo>
                  <a:pt x="0" y="160"/>
                  <a:pt x="0" y="160"/>
                  <a:pt x="0" y="160"/>
                </a:cubicBezTo>
                <a:lnTo>
                  <a:pt x="0" y="19"/>
                </a:lnTo>
                <a:close/>
              </a:path>
            </a:pathLst>
          </a:custGeom>
          <a:solidFill>
            <a:srgbClr val="588FD2"/>
          </a:solidFill>
          <a:ln>
            <a:noFill/>
          </a:ln>
        </p:spPr>
        <p:txBody>
          <a:bodyPr spcFirstLastPara="1" wrap="square" lIns="119475" tIns="59725" rIns="119475" bIns="59725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7578"/>
              <a:buFont typeface="Arial"/>
              <a:buNone/>
            </a:pPr>
            <a:endParaRPr sz="7578">
              <a:solidFill>
                <a:srgbClr val="588FD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Google Shape;112;p13">
            <a:extLst>
              <a:ext uri="{FF2B5EF4-FFF2-40B4-BE49-F238E27FC236}">
                <a16:creationId xmlns:a16="http://schemas.microsoft.com/office/drawing/2014/main" id="{E902394B-A7B8-42B5-873F-864532381C87}"/>
              </a:ext>
            </a:extLst>
          </p:cNvPr>
          <p:cNvSpPr>
            <a:spLocks noGrp="1"/>
          </p:cNvSpPr>
          <p:nvPr/>
        </p:nvSpPr>
        <p:spPr>
          <a:xfrm>
            <a:off x="687939" y="37009175"/>
            <a:ext cx="8402684" cy="87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90"/>
              <a:buFont typeface="Arial"/>
              <a:buNone/>
            </a:pPr>
            <a:r>
              <a:rPr sz="509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 &amp; Future Work</a:t>
            </a:r>
            <a:endParaRPr sz="1800"/>
          </a:p>
        </p:txBody>
      </p:sp>
      <p:sp>
        <p:nvSpPr>
          <p:cNvPr id="113" name="Google Shape;113;p13">
            <a:extLst>
              <a:ext uri="{FF2B5EF4-FFF2-40B4-BE49-F238E27FC236}">
                <a16:creationId xmlns:a16="http://schemas.microsoft.com/office/drawing/2014/main" id="{2CDFFDF9-8838-4042-A207-9FAC91EC795B}"/>
              </a:ext>
            </a:extLst>
          </p:cNvPr>
          <p:cNvSpPr>
            <a:spLocks noGrp="1"/>
          </p:cNvSpPr>
          <p:nvPr/>
        </p:nvSpPr>
        <p:spPr>
          <a:xfrm>
            <a:off x="1675193" y="12383425"/>
            <a:ext cx="26924826" cy="1759332"/>
          </a:xfrm>
          <a:prstGeom prst="roundRect">
            <a:avLst>
              <a:gd name="adj" fmla="val 9678"/>
            </a:avLst>
          </a:prstGeom>
          <a:solidFill>
            <a:srgbClr val="B3CCEB">
              <a:alpha val="50196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ko-KR" altLang="en-US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          본 연구에서는 대화 과정에서 </a:t>
            </a:r>
            <a:r>
              <a:rPr lang="ko-KR" altLang="en-US" sz="48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실시간 상품</a:t>
            </a:r>
            <a:r>
              <a:rPr lang="en-US" altLang="ko-KR" sz="48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48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리뷰 정보</a:t>
            </a:r>
            <a:r>
              <a:rPr lang="ko-KR" altLang="en-US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lang="ko-KR" altLang="en-US" sz="48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바탕으로 상태를 </a:t>
            </a:r>
            <a:r>
              <a:rPr lang="ko-KR" altLang="en-US" sz="48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지속적</a:t>
            </a:r>
            <a:r>
              <a:rPr lang="ko-KR" altLang="en-US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으로 업데이트하고</a:t>
            </a:r>
            <a:r>
              <a:rPr lang="en-US" altLang="ko-KR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						이에 따라 </a:t>
            </a:r>
            <a:r>
              <a:rPr lang="ko-KR" altLang="en-US" sz="48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추천 순위를 재조정</a:t>
            </a:r>
            <a:r>
              <a:rPr lang="ko-KR" altLang="en-US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하는 상태 기반 쇼핑 에이전트를 제안한다</a:t>
            </a:r>
            <a:r>
              <a:rPr lang="en-US" altLang="ko-KR" sz="4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14" name="Google Shape;114;p13">
            <a:extLst>
              <a:ext uri="{FF2B5EF4-FFF2-40B4-BE49-F238E27FC236}">
                <a16:creationId xmlns:a16="http://schemas.microsoft.com/office/drawing/2014/main" id="{DEE80883-5CEB-4745-AD07-58C3AFEB19A0}"/>
              </a:ext>
            </a:extLst>
          </p:cNvPr>
          <p:cNvSpPr>
            <a:spLocks noGrp="1"/>
          </p:cNvSpPr>
          <p:nvPr/>
        </p:nvSpPr>
        <p:spPr>
          <a:xfrm>
            <a:off x="1852614" y="12520710"/>
            <a:ext cx="26569816" cy="229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24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Google Shape;117;p13">
            <a:extLst>
              <a:ext uri="{FF2B5EF4-FFF2-40B4-BE49-F238E27FC236}">
                <a16:creationId xmlns:a16="http://schemas.microsoft.com/office/drawing/2014/main" id="{2339BEEC-C4A0-4C91-A50C-BA9FFCE67578}"/>
              </a:ext>
            </a:extLst>
          </p:cNvPr>
          <p:cNvSpPr>
            <a:spLocks noGrp="1"/>
          </p:cNvSpPr>
          <p:nvPr/>
        </p:nvSpPr>
        <p:spPr>
          <a:xfrm rot="5400000" flipH="1">
            <a:off x="561767" y="38473234"/>
            <a:ext cx="370200" cy="2025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8128"/>
              <a:buFont typeface="Arial"/>
              <a:buNone/>
            </a:pPr>
            <a:endParaRPr sz="8128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13">
            <a:extLst>
              <a:ext uri="{FF2B5EF4-FFF2-40B4-BE49-F238E27FC236}">
                <a16:creationId xmlns:a16="http://schemas.microsoft.com/office/drawing/2014/main" id="{977392BF-FA42-4A75-B002-46B5087EF0FB}"/>
              </a:ext>
            </a:extLst>
          </p:cNvPr>
          <p:cNvSpPr>
            <a:spLocks noGrp="1"/>
          </p:cNvSpPr>
          <p:nvPr/>
        </p:nvSpPr>
        <p:spPr>
          <a:xfrm>
            <a:off x="962191" y="37856275"/>
            <a:ext cx="28632150" cy="202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Amazon Reviews 2023에서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추출한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태블릿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117개·리뷰 7,552개를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바탕으로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구성한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20개의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다중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턴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구매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시나리오를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활용한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쇼핑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에이전트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환경에서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Dialogue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State의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지속적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관리가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누적된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요구를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보존하는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데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효과적임을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함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또한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리뷰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정보가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상품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순위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결정에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영향을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미쳤으며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Gold-State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분석을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통해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주요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성능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손실이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추론·구성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과정에서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발생함을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1493" name="Google Shape;119;p13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56126" y="41341277"/>
            <a:ext cx="8762959" cy="1051065"/>
          </a:xfrm>
          <a:prstGeom prst="rect">
            <a:avLst/>
          </a:prstGeom>
          <a:ln>
            <a:noFill/>
          </a:ln>
        </p:spPr>
      </p:pic>
      <p:sp>
        <p:nvSpPr>
          <p:cNvPr id="120" name="Google Shape;120;p13">
            <a:extLst>
              <a:ext uri="{FF2B5EF4-FFF2-40B4-BE49-F238E27FC236}">
                <a16:creationId xmlns:a16="http://schemas.microsoft.com/office/drawing/2014/main" id="{5CB2321C-27D5-4E44-809F-DF87BF0CF1D0}"/>
              </a:ext>
            </a:extLst>
          </p:cNvPr>
          <p:cNvSpPr>
            <a:spLocks noGrp="1"/>
          </p:cNvSpPr>
          <p:nvPr/>
        </p:nvSpPr>
        <p:spPr>
          <a:xfrm rot="5400000" flipH="1">
            <a:off x="899283" y="9079592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13">
            <a:extLst>
              <a:ext uri="{FF2B5EF4-FFF2-40B4-BE49-F238E27FC236}">
                <a16:creationId xmlns:a16="http://schemas.microsoft.com/office/drawing/2014/main" id="{0D185AE5-9CC8-4A3A-98AE-53669C1B68A7}"/>
              </a:ext>
            </a:extLst>
          </p:cNvPr>
          <p:cNvSpPr>
            <a:spLocks noGrp="1"/>
          </p:cNvSpPr>
          <p:nvPr/>
        </p:nvSpPr>
        <p:spPr>
          <a:xfrm>
            <a:off x="15769177" y="27613125"/>
            <a:ext cx="14167500" cy="8866800"/>
          </a:xfrm>
          <a:prstGeom prst="roundRect">
            <a:avLst>
              <a:gd name="adj" fmla="val 1449"/>
            </a:avLst>
          </a:prstGeom>
          <a:solidFill>
            <a:schemeClr val="lt1"/>
          </a:solidFill>
          <a:ln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9765"/>
              <a:buFont typeface="Arial"/>
              <a:buNone/>
            </a:pPr>
            <a:endParaRPr sz="9765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13">
            <a:extLst>
              <a:ext uri="{FF2B5EF4-FFF2-40B4-BE49-F238E27FC236}">
                <a16:creationId xmlns:a16="http://schemas.microsoft.com/office/drawing/2014/main" id="{242D1DAE-1BEF-4A0D-8775-F39BA2EC8001}"/>
              </a:ext>
            </a:extLst>
          </p:cNvPr>
          <p:cNvSpPr>
            <a:spLocks noGrp="1"/>
          </p:cNvSpPr>
          <p:nvPr/>
        </p:nvSpPr>
        <p:spPr>
          <a:xfrm>
            <a:off x="16031599" y="27795107"/>
            <a:ext cx="8731191" cy="962912"/>
          </a:xfrm>
          <a:custGeom>
            <a:avLst/>
            <a:gdLst/>
            <a:ahLst/>
            <a:cxnLst/>
            <a:rect l="l" t="t" r="r" b="b"/>
            <a:pathLst>
              <a:path w="1461" h="177">
                <a:moveTo>
                  <a:pt x="0" y="19"/>
                </a:move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9" y="0"/>
                  <a:pt x="20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80" y="0"/>
                  <a:pt x="180" y="0"/>
                  <a:pt x="180" y="0"/>
                </a:cubicBezTo>
                <a:cubicBezTo>
                  <a:pt x="1330" y="0"/>
                  <a:pt x="1330" y="0"/>
                  <a:pt x="1330" y="0"/>
                </a:cubicBezTo>
                <a:cubicBezTo>
                  <a:pt x="1451" y="75"/>
                  <a:pt x="1451" y="75"/>
                  <a:pt x="1451" y="75"/>
                </a:cubicBezTo>
                <a:cubicBezTo>
                  <a:pt x="1451" y="75"/>
                  <a:pt x="1461" y="83"/>
                  <a:pt x="1461" y="92"/>
                </a:cubicBezTo>
                <a:cubicBezTo>
                  <a:pt x="1461" y="101"/>
                  <a:pt x="1451" y="107"/>
                  <a:pt x="1451" y="107"/>
                </a:cubicBezTo>
                <a:cubicBezTo>
                  <a:pt x="1330" y="177"/>
                  <a:pt x="1330" y="177"/>
                  <a:pt x="1330" y="177"/>
                </a:cubicBezTo>
                <a:cubicBezTo>
                  <a:pt x="180" y="177"/>
                  <a:pt x="180" y="177"/>
                  <a:pt x="180" y="177"/>
                </a:cubicBezTo>
                <a:cubicBezTo>
                  <a:pt x="21" y="177"/>
                  <a:pt x="21" y="177"/>
                  <a:pt x="21" y="177"/>
                </a:cubicBezTo>
                <a:cubicBezTo>
                  <a:pt x="18" y="177"/>
                  <a:pt x="18" y="177"/>
                  <a:pt x="18" y="177"/>
                </a:cubicBezTo>
                <a:cubicBezTo>
                  <a:pt x="8" y="177"/>
                  <a:pt x="0" y="169"/>
                  <a:pt x="0" y="160"/>
                </a:cubicBezTo>
                <a:cubicBezTo>
                  <a:pt x="0" y="160"/>
                  <a:pt x="0" y="160"/>
                  <a:pt x="0" y="160"/>
                </a:cubicBezTo>
                <a:lnTo>
                  <a:pt x="0" y="19"/>
                </a:lnTo>
                <a:close/>
              </a:path>
            </a:pathLst>
          </a:custGeom>
          <a:solidFill>
            <a:srgbClr val="588FD2"/>
          </a:solidFill>
          <a:ln>
            <a:noFill/>
          </a:ln>
        </p:spPr>
        <p:txBody>
          <a:bodyPr spcFirstLastPara="1" wrap="square" lIns="119475" tIns="59725" rIns="119475" bIns="59725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SzPts val="7578"/>
              <a:buFont typeface="Arial"/>
              <a:buNone/>
            </a:pPr>
            <a:endParaRPr sz="7578">
              <a:solidFill>
                <a:srgbClr val="588FD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Google Shape;128;p13">
            <a:extLst>
              <a:ext uri="{FF2B5EF4-FFF2-40B4-BE49-F238E27FC236}">
                <a16:creationId xmlns:a16="http://schemas.microsoft.com/office/drawing/2014/main" id="{0A4AE63E-F3F1-46CB-9406-A336111C6885}"/>
              </a:ext>
            </a:extLst>
          </p:cNvPr>
          <p:cNvSpPr>
            <a:spLocks noGrp="1"/>
          </p:cNvSpPr>
          <p:nvPr/>
        </p:nvSpPr>
        <p:spPr>
          <a:xfrm>
            <a:off x="16126475" y="27716858"/>
            <a:ext cx="7111133" cy="875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5090" b="1">
                <a:solidFill>
                  <a:srgbClr val="FFFFFF"/>
                </a:solidFill>
              </a:rPr>
              <a:t>Diagnostic Analysis</a:t>
            </a:r>
          </a:p>
          <a:p>
            <a:pPr marL="0" marR="0" lvl="0" indent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5090"/>
              <a:buFont typeface="Arial"/>
              <a:buNone/>
            </a:pPr>
            <a:endParaRPr sz="5090" b="1">
              <a:solidFill>
                <a:srgbClr val="FFFFFF"/>
              </a:solidFill>
            </a:endParaRPr>
          </a:p>
        </p:txBody>
      </p:sp>
      <p:sp>
        <p:nvSpPr>
          <p:cNvPr id="129" name="Google Shape;129;p13">
            <a:extLst>
              <a:ext uri="{FF2B5EF4-FFF2-40B4-BE49-F238E27FC236}">
                <a16:creationId xmlns:a16="http://schemas.microsoft.com/office/drawing/2014/main" id="{B01F6B6E-DDD9-49C9-A3D5-06891521D4C5}"/>
              </a:ext>
            </a:extLst>
          </p:cNvPr>
          <p:cNvSpPr>
            <a:spLocks noGrp="1"/>
          </p:cNvSpPr>
          <p:nvPr/>
        </p:nvSpPr>
        <p:spPr>
          <a:xfrm rot="5400000" flipH="1">
            <a:off x="364114" y="29145697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p13">
            <a:extLst>
              <a:ext uri="{FF2B5EF4-FFF2-40B4-BE49-F238E27FC236}">
                <a16:creationId xmlns:a16="http://schemas.microsoft.com/office/drawing/2014/main" id="{34908900-F9AE-4BC7-AAD7-380D347DCF25}"/>
              </a:ext>
            </a:extLst>
          </p:cNvPr>
          <p:cNvSpPr>
            <a:spLocks noGrp="1"/>
          </p:cNvSpPr>
          <p:nvPr/>
        </p:nvSpPr>
        <p:spPr>
          <a:xfrm>
            <a:off x="806674" y="28926900"/>
            <a:ext cx="14429574" cy="211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에이전트는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대화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상태를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유지</a:t>
            </a:r>
            <a:r>
              <a:rPr lang="ko-KR" alt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할 때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턴의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정보만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사용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할 때보다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32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요구를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더</a:t>
            </a:r>
            <a:r>
              <a:rPr 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정확하게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보존</a:t>
            </a:r>
            <a:r>
              <a:rPr lang="ko-KR" alt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함</a:t>
            </a:r>
            <a:r>
              <a:rPr lang="en-US" altLang="ko-KR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(Final State F1 +0.258)</a:t>
            </a:r>
            <a:endParaRPr lang="en-US" sz="28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endParaRPr lang="en-US" sz="6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상태를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현재 턴의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새로운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정보로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중복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인식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하면서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턴별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상태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추적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성능</a:t>
            </a:r>
            <a:r>
              <a:rPr lang="ko-KR" alt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은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감소</a:t>
            </a:r>
            <a:r>
              <a:rPr lang="ko-KR" alt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함</a:t>
            </a:r>
            <a:r>
              <a:rPr 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endParaRPr lang="en-US" sz="32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r>
              <a:rPr sz="2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(State Diff F</a:t>
            </a:r>
            <a:r>
              <a:rPr lang="en-US" altLang="ko-KR" sz="2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28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−0.138)</a:t>
            </a: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endParaRPr sz="32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endParaRPr sz="32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endParaRPr sz="3200" i="1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1" name="Google Shape;131;p13">
            <a:extLst>
              <a:ext uri="{FF2B5EF4-FFF2-40B4-BE49-F238E27FC236}">
                <a16:creationId xmlns:a16="http://schemas.microsoft.com/office/drawing/2014/main" id="{AF44CA7B-28B2-4B83-ACF7-79597E69D147}"/>
              </a:ext>
            </a:extLst>
          </p:cNvPr>
          <p:cNvSpPr>
            <a:spLocks noGrp="1"/>
          </p:cNvSpPr>
          <p:nvPr/>
        </p:nvSpPr>
        <p:spPr>
          <a:xfrm rot="5400000" flipH="1">
            <a:off x="15723845" y="29197605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13">
            <a:extLst>
              <a:ext uri="{FF2B5EF4-FFF2-40B4-BE49-F238E27FC236}">
                <a16:creationId xmlns:a16="http://schemas.microsoft.com/office/drawing/2014/main" id="{8E814799-769F-42C3-B80A-240B8438EF54}"/>
              </a:ext>
            </a:extLst>
          </p:cNvPr>
          <p:cNvSpPr>
            <a:spLocks noGrp="1"/>
          </p:cNvSpPr>
          <p:nvPr/>
        </p:nvSpPr>
        <p:spPr>
          <a:xfrm>
            <a:off x="16235199" y="28782793"/>
            <a:ext cx="13562273" cy="32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figure(a):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추론된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Dialogue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State를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정답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상태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(Gold-State)로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대체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하자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            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Policy, Recommendation Reach, Hard-filter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성능이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1.0으로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회복</a:t>
            </a:r>
            <a:r>
              <a:rPr lang="ko-KR" alt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함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                </a:t>
            </a:r>
            <a:endParaRPr sz="32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lvl="0" indent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figure(b): 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동일한 두 조건에서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리뷰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점수</a:t>
            </a:r>
            <a:r>
              <a:rPr lang="ko-KR" alt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제거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한 경우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                                 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Top-1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추천의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55.6%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Top-3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상품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b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순서의</a:t>
            </a:r>
            <a:r>
              <a:rPr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87.3%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가 </a:t>
            </a:r>
            <a:r>
              <a:rPr lang="ko-KR" altLang="en-US" sz="3200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변화함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 </a:t>
            </a:r>
            <a:endParaRPr sz="3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3" name="Google Shape;133;p13">
            <a:extLst>
              <a:ext uri="{FF2B5EF4-FFF2-40B4-BE49-F238E27FC236}">
                <a16:creationId xmlns:a16="http://schemas.microsoft.com/office/drawing/2014/main" id="{46E30093-A4D8-4BDB-9610-ED8280F4B70C}"/>
              </a:ext>
            </a:extLst>
          </p:cNvPr>
          <p:cNvSpPr>
            <a:spLocks noGrp="1"/>
          </p:cNvSpPr>
          <p:nvPr/>
        </p:nvSpPr>
        <p:spPr>
          <a:xfrm>
            <a:off x="11100225" y="6883547"/>
            <a:ext cx="1869724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lvl="0" algn="r"/>
            <a:r>
              <a:rPr lang="ko-KR" altLang="en-US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논문은 정부</a:t>
            </a:r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교육부</a:t>
            </a:r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의 재원으로 한국산업기술진흥원의 지원</a:t>
            </a:r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(P0030395, </a:t>
            </a:r>
            <a:r>
              <a:rPr lang="ko-KR" altLang="en-US" sz="2800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첨단산업인재양성부트캠프</a:t>
            </a:r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</a:p>
          <a:p>
            <a:pPr lvl="0" algn="r"/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2026 </a:t>
            </a:r>
            <a:r>
              <a:rPr lang="ko-KR" altLang="en-US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정부</a:t>
            </a:r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과학기술정보통신부</a:t>
            </a:r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r>
              <a:rPr lang="ko-KR" altLang="en-US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의 지원을 받아 수행된 연구임 </a:t>
            </a:r>
            <a:r>
              <a:rPr lang="en-US" altLang="ko-KR" sz="28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(RS-2026-25490215)</a:t>
            </a:r>
            <a:endParaRPr lang="ko-KR" altLang="en-US" sz="2800" dirty="0"/>
          </a:p>
        </p:txBody>
      </p:sp>
      <p:sp>
        <p:nvSpPr>
          <p:cNvPr id="134" name="Google Shape;134;p13">
            <a:extLst>
              <a:ext uri="{FF2B5EF4-FFF2-40B4-BE49-F238E27FC236}">
                <a16:creationId xmlns:a16="http://schemas.microsoft.com/office/drawing/2014/main" id="{44220C09-49E1-4220-8399-75F922374B11}"/>
              </a:ext>
            </a:extLst>
          </p:cNvPr>
          <p:cNvSpPr>
            <a:spLocks noGrp="1"/>
          </p:cNvSpPr>
          <p:nvPr/>
        </p:nvSpPr>
        <p:spPr>
          <a:xfrm rot="10800000">
            <a:off x="29953860" y="5883127"/>
            <a:ext cx="11223298" cy="2970119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mpd="sng">
            <a:solidFill>
              <a:srgbClr val="21364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6907"/>
              <a:buFont typeface="Arial"/>
              <a:buNone/>
            </a:pPr>
            <a:endParaRPr sz="6907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5" name="Google Shape;135;p13">
            <a:extLst>
              <a:ext uri="{FF2B5EF4-FFF2-40B4-BE49-F238E27FC236}">
                <a16:creationId xmlns:a16="http://schemas.microsoft.com/office/drawing/2014/main" id="{81F7BA88-2CE8-40D9-9D61-B2644418A3CF}"/>
              </a:ext>
            </a:extLst>
          </p:cNvPr>
          <p:cNvSpPr>
            <a:spLocks noGrp="1"/>
          </p:cNvSpPr>
          <p:nvPr/>
        </p:nvSpPr>
        <p:spPr>
          <a:xfrm>
            <a:off x="30299485" y="6676219"/>
            <a:ext cx="10470367" cy="1181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907"/>
              <a:buFont typeface="Malgun Gothic"/>
              <a:buNone/>
            </a:pPr>
            <a:r>
              <a:rPr sz="6907" b="1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do not delete this mark</a:t>
            </a:r>
          </a:p>
        </p:txBody>
      </p:sp>
      <p:sp>
        <p:nvSpPr>
          <p:cNvPr id="136" name="Google Shape;136;p13">
            <a:extLst>
              <a:ext uri="{FF2B5EF4-FFF2-40B4-BE49-F238E27FC236}">
                <a16:creationId xmlns:a16="http://schemas.microsoft.com/office/drawing/2014/main" id="{84BA24C0-CB7A-427C-AA82-3D0AA064E58F}"/>
              </a:ext>
            </a:extLst>
          </p:cNvPr>
          <p:cNvSpPr>
            <a:spLocks noGrp="1"/>
          </p:cNvSpPr>
          <p:nvPr/>
        </p:nvSpPr>
        <p:spPr>
          <a:xfrm>
            <a:off x="1482612" y="8957473"/>
            <a:ext cx="13252309" cy="1190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시스템은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프로필과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과거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상호작용을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기반으로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선호와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의도를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추론하고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     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이를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검색과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순위화에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활용해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추천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정확도를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높여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왔다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 </a:t>
            </a:r>
          </a:p>
        </p:txBody>
      </p:sp>
      <p:sp>
        <p:nvSpPr>
          <p:cNvPr id="137" name="Google Shape;137;p13">
            <a:extLst>
              <a:ext uri="{FF2B5EF4-FFF2-40B4-BE49-F238E27FC236}">
                <a16:creationId xmlns:a16="http://schemas.microsoft.com/office/drawing/2014/main" id="{D49E9E84-DCD7-4800-82C1-F71B10B574DA}"/>
              </a:ext>
            </a:extLst>
          </p:cNvPr>
          <p:cNvSpPr>
            <a:spLocks noGrp="1"/>
          </p:cNvSpPr>
          <p:nvPr/>
        </p:nvSpPr>
        <p:spPr>
          <a:xfrm>
            <a:off x="1482612" y="10018578"/>
            <a:ext cx="13252309" cy="15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900"/>
              <a:buFont typeface="IBM Plex Sans"/>
              <a:buNone/>
            </a:pP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고정된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데이터에서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아이템을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예측하는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방식은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쇼핑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과정에서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변화하는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요구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상품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거절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이유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재고·가격·배송과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정보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그리고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여러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턴의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대화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맥락을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충분히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반영하기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2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어렵다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38" name="Google Shape;138;p13">
            <a:extLst>
              <a:ext uri="{FF2B5EF4-FFF2-40B4-BE49-F238E27FC236}">
                <a16:creationId xmlns:a16="http://schemas.microsoft.com/office/drawing/2014/main" id="{BB0B89F7-CF72-4DFD-8635-63CEC31CA306}"/>
              </a:ext>
            </a:extLst>
          </p:cNvPr>
          <p:cNvSpPr>
            <a:spLocks noGrp="1"/>
          </p:cNvSpPr>
          <p:nvPr/>
        </p:nvSpPr>
        <p:spPr>
          <a:xfrm>
            <a:off x="15831430" y="8957473"/>
            <a:ext cx="12839700" cy="110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 KR"/>
              <a:buNone/>
            </a:pP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쇼핑 에이전트는 대화 과정에서 지속적으로 변화하는 사용자의 선호와 구매 상황에서의 여러 제약 조건을 이해할 수 있어야 한다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</a:p>
        </p:txBody>
      </p:sp>
      <p:sp>
        <p:nvSpPr>
          <p:cNvPr id="139" name="Google Shape;139;p13">
            <a:extLst>
              <a:ext uri="{FF2B5EF4-FFF2-40B4-BE49-F238E27FC236}">
                <a16:creationId xmlns:a16="http://schemas.microsoft.com/office/drawing/2014/main" id="{F819414D-7930-4FE6-89BA-1DADF919E6B2}"/>
              </a:ext>
            </a:extLst>
          </p:cNvPr>
          <p:cNvSpPr>
            <a:spLocks noGrp="1"/>
          </p:cNvSpPr>
          <p:nvPr/>
        </p:nvSpPr>
        <p:spPr>
          <a:xfrm rot="5400000" flipH="1">
            <a:off x="15723845" y="30473184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09" name="Google Shape;220;p13"/>
          <p:cNvGraphicFramePr/>
          <p:nvPr>
            <p:extLst>
              <p:ext uri="{D42A27DB-BD31-4B8C-83A1-F6EECF244321}">
                <p14:modId xmlns:p14="http://schemas.microsoft.com/office/powerpoint/2010/main" val="3787900640"/>
              </p:ext>
            </p:extLst>
          </p:nvPr>
        </p:nvGraphicFramePr>
        <p:xfrm>
          <a:off x="645617" y="31108650"/>
          <a:ext cx="14469867" cy="4896625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{55D96FEA-054E-4189-B585-4C8075CED2E1}</a:tableStyleId>
              </a:tblPr>
              <a:tblGrid>
                <a:gridCol w="4099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0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12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01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6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Metric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62"/>
                        <a:buFont typeface="Arial"/>
                        <a:buNone/>
                      </a:pP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Full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62"/>
                        <a:buFont typeface="Arial"/>
                        <a:buNone/>
                      </a:pPr>
                      <a:r>
                        <a:rPr sz="24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No-memory</a:t>
                      </a:r>
                      <a:endParaRPr sz="24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62"/>
                        <a:buFont typeface="Arial"/>
                        <a:buNone/>
                      </a:pP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Difference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26262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62"/>
                        <a:buFont typeface="Arial"/>
                        <a:buNone/>
                      </a:pP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95% bootstrap CI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3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Final State micro-F1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.758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T w="9525" cmpd="sng">
                      <a:solidFill>
                        <a:srgbClr val="000000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.500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.258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T w="9525" cmpd="sng">
                      <a:solidFill>
                        <a:srgbClr val="262626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[+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.172, 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.334]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3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State Diff micro-F1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.562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.700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−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.138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[−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.222, −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.056]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3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Policy accuracy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.802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.741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.062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[−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.111, 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.222]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3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Recommendation reach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.808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.744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.064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[−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.103, 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.231]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73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Hard-filter completion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.630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.444</a:t>
                      </a:r>
                      <a:endParaRPr sz="280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.185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2"/>
                        <a:buFont typeface="Arial"/>
                        <a:buNone/>
                      </a:pP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[+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.000, +</a:t>
                      </a:r>
                      <a:r>
                        <a:rPr lang="en-US"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.363]</a:t>
                      </a:r>
                      <a:endParaRPr sz="280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91625" marR="91625" marT="30550" marB="30550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1" name="Google Shape;221;p13">
            <a:extLst>
              <a:ext uri="{FF2B5EF4-FFF2-40B4-BE49-F238E27FC236}">
                <a16:creationId xmlns:a16="http://schemas.microsoft.com/office/drawing/2014/main" id="{77637A87-380E-40B8-A0E9-75F63B0DF77D}"/>
              </a:ext>
            </a:extLst>
          </p:cNvPr>
          <p:cNvSpPr>
            <a:spLocks noGrp="1"/>
          </p:cNvSpPr>
          <p:nvPr/>
        </p:nvSpPr>
        <p:spPr>
          <a:xfrm>
            <a:off x="493480" y="36014556"/>
            <a:ext cx="14814432" cy="53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BM Plex Sans"/>
              <a:buNone/>
            </a:pP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태블릿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구매를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가정한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20개의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독립적인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다중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턴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시나리오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(총 81턴)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에서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Dialogue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State를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턴까지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유지하는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조건과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턴의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정보만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사용하는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조건을</a:t>
            </a:r>
            <a:r>
              <a:rPr i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i="1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비교</a:t>
            </a:r>
            <a:endParaRPr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</p:txBody>
      </p:sp>
      <p:graphicFrame>
        <p:nvGraphicFramePr>
          <p:cNvPr id="1511" name="Google Shape;222;p13"/>
          <p:cNvGraphicFramePr/>
          <p:nvPr>
            <p:extLst>
              <p:ext uri="{D42A27DB-BD31-4B8C-83A1-F6EECF244321}">
                <p14:modId xmlns:p14="http://schemas.microsoft.com/office/powerpoint/2010/main" val="1691385815"/>
              </p:ext>
            </p:extLst>
          </p:nvPr>
        </p:nvGraphicFramePr>
        <p:xfrm>
          <a:off x="16031599" y="31895276"/>
          <a:ext cx="7116754" cy="2950753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{55D96FEA-054E-4189-B585-4C8075CED2E1}</a:tableStyleId>
              </a:tblPr>
              <a:tblGrid>
                <a:gridCol w="191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9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1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9892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65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rgbClr val="17324D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Metric</a:t>
                      </a:r>
                      <a:endParaRPr sz="2800" b="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65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rgbClr val="17324D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Actual Full</a:t>
                      </a:r>
                      <a:endParaRPr sz="2800" b="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65"/>
                        <a:buFont typeface="Arial"/>
                        <a:buNone/>
                      </a:pPr>
                      <a:r>
                        <a:rPr sz="2400" b="0" u="none" cap="none" dirty="0">
                          <a:solidFill>
                            <a:srgbClr val="17324D"/>
                          </a:solidFill>
                          <a:latin typeface="Pretendard"/>
                          <a:ea typeface="Pretendard"/>
                          <a:cs typeface="Pretendard"/>
                        </a:rPr>
                        <a:t>Gold-State</a:t>
                      </a:r>
                      <a:endParaRPr sz="2400" b="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65"/>
                        <a:buFont typeface="Arial"/>
                        <a:buNone/>
                      </a:pPr>
                      <a:r>
                        <a:rPr sz="2000" b="0" u="none" cap="none" dirty="0">
                          <a:solidFill>
                            <a:srgbClr val="17324D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Recovery</a:t>
                      </a:r>
                      <a:endParaRPr sz="2000" b="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28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>
                          <a:solidFill>
                            <a:srgbClr val="26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Policy</a:t>
                      </a:r>
                      <a:endParaRPr sz="28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b="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.802</a:t>
                      </a:r>
                      <a:endParaRPr sz="2800" b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  <a:endParaRPr sz="2800" b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lang="en-US"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.198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28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>
                          <a:solidFill>
                            <a:srgbClr val="26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Reach</a:t>
                      </a:r>
                      <a:endParaRPr sz="2800" b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.808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lang="en-US"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.192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28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rgbClr val="263746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Hard-filter</a:t>
                      </a:r>
                      <a:endParaRPr sz="2800" b="0" dirty="0"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b="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.630</a:t>
                      </a:r>
                      <a:endParaRPr sz="2800" b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1.000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+</a:t>
                      </a:r>
                      <a:r>
                        <a:rPr lang="en-US"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.370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12" name="Google Shape;223;p13"/>
          <p:cNvGraphicFramePr/>
          <p:nvPr>
            <p:extLst>
              <p:ext uri="{D42A27DB-BD31-4B8C-83A1-F6EECF244321}">
                <p14:modId xmlns:p14="http://schemas.microsoft.com/office/powerpoint/2010/main" val="1695225471"/>
              </p:ext>
            </p:extLst>
          </p:nvPr>
        </p:nvGraphicFramePr>
        <p:xfrm>
          <a:off x="23548367" y="31932545"/>
          <a:ext cx="6238864" cy="3094881"/>
        </p:xfrm>
        <a:graphic>
          <a:graphicData uri="http://schemas.openxmlformats.org/drawingml/2006/table">
            <a:tbl>
              <a:tblPr>
                <a:tableStyleId>{55D96FEA-054E-4189-B585-4C8075CED2E1}</a:tableStyleId>
              </a:tblPr>
              <a:tblGrid>
                <a:gridCol w="3979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9926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65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Ranking behavior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65"/>
                        <a:buFont typeface="Arial"/>
                        <a:buNone/>
                      </a:pPr>
                      <a:r>
                        <a:rPr sz="2800" b="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Result</a:t>
                      </a:r>
                      <a:endParaRPr sz="2800" b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07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Top-1 changed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55.6%</a:t>
                      </a:r>
                      <a:endParaRPr sz="2800" b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T w="9525" cmpd="sng">
                      <a:solidFill>
                        <a:schemeClr val="dk1"/>
                      </a:solidFill>
                      <a:prstDash val="solid"/>
                    </a:lnT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476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Top-3 order changed</a:t>
                      </a:r>
                      <a:endParaRPr sz="2800" b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87.3%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87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u="none" cap="none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Mean top-3 Jaccard</a:t>
                      </a:r>
                      <a:endParaRPr sz="2800" b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R w="9525" cmpd="sng">
                      <a:solidFill>
                        <a:schemeClr val="dk1"/>
                      </a:solidFill>
                      <a:prstDash val="solid"/>
                    </a:lnR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1"/>
                        <a:buFont typeface="Arial"/>
                        <a:buNone/>
                      </a:pPr>
                      <a:r>
                        <a:rPr sz="2800" b="0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0</a:t>
                      </a:r>
                      <a:r>
                        <a:rPr sz="2800" b="0" u="none" cap="none" dirty="0">
                          <a:solidFill>
                            <a:schemeClr val="dk1"/>
                          </a:solidFill>
                          <a:latin typeface="Pretendard"/>
                          <a:ea typeface="Pretendard"/>
                          <a:cs typeface="Pretendard"/>
                        </a:rPr>
                        <a:t>.522</a:t>
                      </a:r>
                      <a:endParaRPr sz="2800" b="0" dirty="0">
                        <a:solidFill>
                          <a:schemeClr val="dk1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83925" marR="83925" marT="27975" marB="27975" anchor="ctr">
                    <a:lnL w="9525" cmpd="sng">
                      <a:solidFill>
                        <a:schemeClr val="dk1"/>
                      </a:solidFill>
                      <a:prstDash val="solid"/>
                    </a:lnL>
                    <a:lnB w="9525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4" name="Google Shape;224;p13">
            <a:extLst>
              <a:ext uri="{FF2B5EF4-FFF2-40B4-BE49-F238E27FC236}">
                <a16:creationId xmlns:a16="http://schemas.microsoft.com/office/drawing/2014/main" id="{EB69570C-5E40-4370-8B4B-D53681907FA0}"/>
              </a:ext>
            </a:extLst>
          </p:cNvPr>
          <p:cNvSpPr>
            <a:spLocks noGrp="1"/>
          </p:cNvSpPr>
          <p:nvPr/>
        </p:nvSpPr>
        <p:spPr>
          <a:xfrm>
            <a:off x="15842915" y="35260017"/>
            <a:ext cx="8178230" cy="93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▲ </a:t>
            </a:r>
            <a:r>
              <a:rPr lang="en-US"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f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igure (a) </a:t>
            </a:r>
            <a:r>
              <a:rPr lang="en-US" altLang="ko-KR"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Gold-State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대체를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통한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오류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원인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진단</a:t>
            </a:r>
            <a:endParaRPr sz="26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5" name="Google Shape;225;p13">
            <a:extLst>
              <a:ext uri="{FF2B5EF4-FFF2-40B4-BE49-F238E27FC236}">
                <a16:creationId xmlns:a16="http://schemas.microsoft.com/office/drawing/2014/main" id="{AC07D393-8F22-4510-8612-D51779607E9E}"/>
              </a:ext>
            </a:extLst>
          </p:cNvPr>
          <p:cNvSpPr>
            <a:spLocks noGrp="1"/>
          </p:cNvSpPr>
          <p:nvPr/>
        </p:nvSpPr>
        <p:spPr>
          <a:xfrm>
            <a:off x="23233896" y="35260017"/>
            <a:ext cx="6867807" cy="93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▲ </a:t>
            </a:r>
            <a:r>
              <a:rPr lang="en-US"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f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igure (b) -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리뷰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정보의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상품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순위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기여도</a:t>
            </a:r>
            <a:r>
              <a:rPr sz="26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dirty="0" err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분석</a:t>
            </a:r>
            <a:endParaRPr sz="26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dk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6" name="Google Shape;226;p13">
            <a:extLst>
              <a:ext uri="{FF2B5EF4-FFF2-40B4-BE49-F238E27FC236}">
                <a16:creationId xmlns:a16="http://schemas.microsoft.com/office/drawing/2014/main" id="{61F6B157-B26E-45B7-8621-DA937698245C}"/>
              </a:ext>
            </a:extLst>
          </p:cNvPr>
          <p:cNvSpPr>
            <a:spLocks noGrp="1"/>
          </p:cNvSpPr>
          <p:nvPr/>
        </p:nvSpPr>
        <p:spPr>
          <a:xfrm rot="5400000" flipH="1">
            <a:off x="15142476" y="10293907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117;p13">
            <a:extLst>
              <a:ext uri="{FF2B5EF4-FFF2-40B4-BE49-F238E27FC236}">
                <a16:creationId xmlns:a16="http://schemas.microsoft.com/office/drawing/2014/main" id="{7B916FEC-8A82-6054-3A92-F54AD09AAC37}"/>
              </a:ext>
            </a:extLst>
          </p:cNvPr>
          <p:cNvSpPr>
            <a:spLocks noGrp="1"/>
          </p:cNvSpPr>
          <p:nvPr/>
        </p:nvSpPr>
        <p:spPr>
          <a:xfrm rot="5400000" flipH="1">
            <a:off x="554513" y="40196214"/>
            <a:ext cx="370200" cy="2025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8128"/>
              <a:buFont typeface="Arial"/>
              <a:buNone/>
            </a:pPr>
            <a:endParaRPr sz="8128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Google Shape;104;p13">
            <a:extLst>
              <a:ext uri="{FF2B5EF4-FFF2-40B4-BE49-F238E27FC236}">
                <a16:creationId xmlns:a16="http://schemas.microsoft.com/office/drawing/2014/main" id="{4E6A66B0-B009-E431-2EB9-ADC788260AC6}"/>
              </a:ext>
            </a:extLst>
          </p:cNvPr>
          <p:cNvSpPr>
            <a:spLocks noGrp="1"/>
          </p:cNvSpPr>
          <p:nvPr/>
        </p:nvSpPr>
        <p:spPr>
          <a:xfrm>
            <a:off x="914083" y="8829236"/>
            <a:ext cx="13904400" cy="3202200"/>
          </a:xfrm>
          <a:prstGeom prst="roundRect">
            <a:avLst>
              <a:gd name="adj" fmla="val 5102"/>
            </a:avLst>
          </a:prstGeom>
          <a:noFill/>
          <a:ln w="25400" cmpd="sng">
            <a:solidFill>
              <a:srgbClr val="094C8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8128"/>
              <a:buFont typeface="Arial"/>
              <a:buNone/>
            </a:pPr>
            <a:endParaRPr sz="8128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Google Shape;146;p13">
            <a:extLst>
              <a:ext uri="{FF2B5EF4-FFF2-40B4-BE49-F238E27FC236}">
                <a16:creationId xmlns:a16="http://schemas.microsoft.com/office/drawing/2014/main" id="{C7C5E307-E39B-BDA3-60C4-D3BEFCC31060}"/>
              </a:ext>
            </a:extLst>
          </p:cNvPr>
          <p:cNvSpPr>
            <a:spLocks noGrp="1"/>
          </p:cNvSpPr>
          <p:nvPr/>
        </p:nvSpPr>
        <p:spPr>
          <a:xfrm>
            <a:off x="1056051" y="16089553"/>
            <a:ext cx="6160534" cy="10913185"/>
          </a:xfrm>
          <a:prstGeom prst="roundRect">
            <a:avLst>
              <a:gd name="adj" fmla="val 1667"/>
            </a:avLst>
          </a:prstGeom>
          <a:solidFill>
            <a:schemeClr val="bg1">
              <a:lumMod val="85000"/>
            </a:schemeClr>
          </a:solidFill>
          <a:ln w="63500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80148" tIns="91098" rIns="80148" bIns="91098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409AFC-2429-D889-2FDB-8EC9628ABA24}"/>
              </a:ext>
            </a:extLst>
          </p:cNvPr>
          <p:cNvSpPr txBox="1"/>
          <p:nvPr/>
        </p:nvSpPr>
        <p:spPr>
          <a:xfrm>
            <a:off x="781742" y="22276859"/>
            <a:ext cx="6709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상품 추천 요청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/ </a:t>
            </a:r>
            <a:r>
              <a:rPr lang="ko-KR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추천에 대한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피드백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5C6576-59BE-7233-BBB1-F75FE4E98A2D}"/>
              </a:ext>
            </a:extLst>
          </p:cNvPr>
          <p:cNvSpPr txBox="1"/>
          <p:nvPr/>
        </p:nvSpPr>
        <p:spPr>
          <a:xfrm>
            <a:off x="3500887" y="15504903"/>
            <a:ext cx="12708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6000" dirty="0"/>
              <a:t>👤</a:t>
            </a:r>
          </a:p>
        </p:txBody>
      </p:sp>
      <p:sp>
        <p:nvSpPr>
          <p:cNvPr id="23" name="Google Shape;146;p13">
            <a:extLst>
              <a:ext uri="{FF2B5EF4-FFF2-40B4-BE49-F238E27FC236}">
                <a16:creationId xmlns:a16="http://schemas.microsoft.com/office/drawing/2014/main" id="{E7BF601B-EDD6-DC87-FE55-1842C386E71D}"/>
              </a:ext>
            </a:extLst>
          </p:cNvPr>
          <p:cNvSpPr>
            <a:spLocks noGrp="1"/>
          </p:cNvSpPr>
          <p:nvPr/>
        </p:nvSpPr>
        <p:spPr>
          <a:xfrm>
            <a:off x="8535261" y="16059630"/>
            <a:ext cx="17493452" cy="10973030"/>
          </a:xfrm>
          <a:prstGeom prst="roundRect">
            <a:avLst>
              <a:gd name="adj" fmla="val 1667"/>
            </a:avLst>
          </a:prstGeom>
          <a:solidFill>
            <a:schemeClr val="bg1">
              <a:lumMod val="85000"/>
            </a:schemeClr>
          </a:solidFill>
          <a:ln w="63500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80148" tIns="91098" rIns="80148" bIns="91098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146;p13">
            <a:extLst>
              <a:ext uri="{FF2B5EF4-FFF2-40B4-BE49-F238E27FC236}">
                <a16:creationId xmlns:a16="http://schemas.microsoft.com/office/drawing/2014/main" id="{EB8858D7-CB1B-C6B7-7B86-277CF731B028}"/>
              </a:ext>
            </a:extLst>
          </p:cNvPr>
          <p:cNvSpPr>
            <a:spLocks noGrp="1"/>
          </p:cNvSpPr>
          <p:nvPr/>
        </p:nvSpPr>
        <p:spPr>
          <a:xfrm>
            <a:off x="9057374" y="16365270"/>
            <a:ext cx="5597123" cy="10361750"/>
          </a:xfrm>
          <a:prstGeom prst="roundRect">
            <a:avLst>
              <a:gd name="adj" fmla="val 1667"/>
            </a:avLst>
          </a:prstGeom>
          <a:solidFill>
            <a:schemeClr val="bg1">
              <a:lumMod val="95000"/>
            </a:schemeClr>
          </a:solidFill>
          <a:ln w="53340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80148" tIns="91098" rIns="80148" bIns="91098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D82E69-411F-1A86-6CD4-07DB3FF32C07}"/>
              </a:ext>
            </a:extLst>
          </p:cNvPr>
          <p:cNvSpPr txBox="1"/>
          <p:nvPr/>
        </p:nvSpPr>
        <p:spPr>
          <a:xfrm>
            <a:off x="9135854" y="23734256"/>
            <a:ext cx="54401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사용자 발화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대화 맥락에서 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</a:p>
          <a:p>
            <a:pPr algn="ctr"/>
            <a:r>
              <a:rPr lang="ko-KR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구매 상황, 제약 및 우선순위 추출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D928347B-7E96-0182-4F16-61FAC295575F}"/>
              </a:ext>
            </a:extLst>
          </p:cNvPr>
          <p:cNvSpPr/>
          <p:nvPr/>
        </p:nvSpPr>
        <p:spPr>
          <a:xfrm>
            <a:off x="14796391" y="20945534"/>
            <a:ext cx="854881" cy="75050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Google Shape;146;p13">
            <a:extLst>
              <a:ext uri="{FF2B5EF4-FFF2-40B4-BE49-F238E27FC236}">
                <a16:creationId xmlns:a16="http://schemas.microsoft.com/office/drawing/2014/main" id="{15C53DB1-EFDE-79F5-3563-5EF81F36288D}"/>
              </a:ext>
            </a:extLst>
          </p:cNvPr>
          <p:cNvSpPr>
            <a:spLocks noGrp="1"/>
          </p:cNvSpPr>
          <p:nvPr/>
        </p:nvSpPr>
        <p:spPr>
          <a:xfrm>
            <a:off x="15658294" y="16370237"/>
            <a:ext cx="4523851" cy="10351817"/>
          </a:xfrm>
          <a:prstGeom prst="roundRect">
            <a:avLst>
              <a:gd name="adj" fmla="val 1667"/>
            </a:avLst>
          </a:prstGeom>
          <a:solidFill>
            <a:schemeClr val="bg1">
              <a:lumMod val="95000"/>
            </a:schemeClr>
          </a:solidFill>
          <a:ln w="53340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80148" tIns="91098" rIns="80148" bIns="91098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D4320C-1FE0-8AA4-BE31-FDF6B787AD20}"/>
              </a:ext>
            </a:extLst>
          </p:cNvPr>
          <p:cNvSpPr txBox="1"/>
          <p:nvPr/>
        </p:nvSpPr>
        <p:spPr>
          <a:xfrm>
            <a:off x="15965393" y="20058143"/>
            <a:ext cx="39096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추출한 내용을 바탕으로 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Dialogue State 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갱신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E35C53-6B88-B536-CCA7-3FA4C5B9ACE9}"/>
              </a:ext>
            </a:extLst>
          </p:cNvPr>
          <p:cNvSpPr txBox="1"/>
          <p:nvPr/>
        </p:nvSpPr>
        <p:spPr>
          <a:xfrm>
            <a:off x="10562123" y="16646895"/>
            <a:ext cx="2587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PLAN</a:t>
            </a:r>
            <a:endParaRPr lang="ko-KR" altLang="en-US" sz="3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301C3-E3AB-2E5B-3F07-119354AEC6B8}"/>
              </a:ext>
            </a:extLst>
          </p:cNvPr>
          <p:cNvSpPr txBox="1"/>
          <p:nvPr/>
        </p:nvSpPr>
        <p:spPr>
          <a:xfrm>
            <a:off x="16626407" y="16646895"/>
            <a:ext cx="2587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MEMORY</a:t>
            </a:r>
            <a:endParaRPr lang="ko-KR" altLang="en-US" sz="3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274AF242-1F8D-2708-31CB-9BC4544FF6CD}"/>
              </a:ext>
            </a:extLst>
          </p:cNvPr>
          <p:cNvSpPr/>
          <p:nvPr/>
        </p:nvSpPr>
        <p:spPr>
          <a:xfrm>
            <a:off x="17589628" y="21360684"/>
            <a:ext cx="661182" cy="731577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5768D3-FE34-CCA7-9C52-54AD13284044}"/>
              </a:ext>
            </a:extLst>
          </p:cNvPr>
          <p:cNvSpPr txBox="1"/>
          <p:nvPr/>
        </p:nvSpPr>
        <p:spPr>
          <a:xfrm>
            <a:off x="15726199" y="22749371"/>
            <a:ext cx="43880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Decide</a:t>
            </a:r>
          </a:p>
          <a:p>
            <a:pPr algn="ctr"/>
            <a:endParaRPr lang="en-US" altLang="ko-KR" sz="3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en-US" altLang="ko-KR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Dialogue State</a:t>
            </a:r>
            <a:r>
              <a:rPr lang="ko-KR" altLang="en-US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정보량을 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바탕으로 추천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/</a:t>
            </a:r>
            <a:r>
              <a:rPr lang="ko-KR" altLang="en-US" sz="32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재질문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결정</a:t>
            </a:r>
          </a:p>
        </p:txBody>
      </p:sp>
      <p:sp>
        <p:nvSpPr>
          <p:cNvPr id="57" name="Google Shape;146;p13">
            <a:extLst>
              <a:ext uri="{FF2B5EF4-FFF2-40B4-BE49-F238E27FC236}">
                <a16:creationId xmlns:a16="http://schemas.microsoft.com/office/drawing/2014/main" id="{4171184F-2EAB-79EE-649D-72E74D0D0D76}"/>
              </a:ext>
            </a:extLst>
          </p:cNvPr>
          <p:cNvSpPr>
            <a:spLocks noGrp="1"/>
          </p:cNvSpPr>
          <p:nvPr/>
        </p:nvSpPr>
        <p:spPr>
          <a:xfrm>
            <a:off x="21292214" y="16370631"/>
            <a:ext cx="4523851" cy="10351029"/>
          </a:xfrm>
          <a:prstGeom prst="roundRect">
            <a:avLst>
              <a:gd name="adj" fmla="val 1667"/>
            </a:avLst>
          </a:prstGeom>
          <a:solidFill>
            <a:schemeClr val="bg1">
              <a:lumMod val="95000"/>
            </a:schemeClr>
          </a:solidFill>
          <a:ln w="53340" cmpd="sng">
            <a:solidFill>
              <a:schemeClr val="tx1"/>
            </a:solidFill>
            <a:prstDash val="dash"/>
            <a:headEnd type="none" w="sm" len="sm"/>
            <a:tailEnd type="none" w="sm" len="sm"/>
          </a:ln>
        </p:spPr>
        <p:txBody>
          <a:bodyPr spcFirstLastPara="1" wrap="square" lIns="80148" tIns="91098" rIns="80148" bIns="91098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6A28CB-D370-48AE-780F-F26566129815}"/>
              </a:ext>
            </a:extLst>
          </p:cNvPr>
          <p:cNvSpPr txBox="1"/>
          <p:nvPr/>
        </p:nvSpPr>
        <p:spPr>
          <a:xfrm>
            <a:off x="22294586" y="16646895"/>
            <a:ext cx="2587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CLARIFY</a:t>
            </a:r>
            <a:endParaRPr lang="ko-KR" altLang="en-US" sz="3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DD5DE2-B6CF-6593-6D4E-79CBFAB4A619}"/>
              </a:ext>
            </a:extLst>
          </p:cNvPr>
          <p:cNvSpPr txBox="1"/>
          <p:nvPr/>
        </p:nvSpPr>
        <p:spPr>
          <a:xfrm>
            <a:off x="21454688" y="19745774"/>
            <a:ext cx="4267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재질문을 통해 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pPr algn="ctr"/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정보를 추가 수집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50F943D-7AF1-8F75-5433-B13CC1C90007}"/>
              </a:ext>
            </a:extLst>
          </p:cNvPr>
          <p:cNvSpPr txBox="1"/>
          <p:nvPr/>
        </p:nvSpPr>
        <p:spPr>
          <a:xfrm>
            <a:off x="22294586" y="21118123"/>
            <a:ext cx="2587625" cy="64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Recommend</a:t>
            </a:r>
            <a:endParaRPr lang="ko-KR" altLang="en-US" sz="3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C24B96-6EC8-0840-2134-D5309B873AD5}"/>
              </a:ext>
            </a:extLst>
          </p:cNvPr>
          <p:cNvSpPr txBox="1"/>
          <p:nvPr/>
        </p:nvSpPr>
        <p:spPr>
          <a:xfrm>
            <a:off x="21454688" y="24864829"/>
            <a:ext cx="42674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실시간 상품 정보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, 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리뷰를 조회하여</a:t>
            </a:r>
            <a:r>
              <a:rPr lang="en-US" altLang="ko-KR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상품 추천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91C2519-979A-7C2A-7B6B-FFB35A2D8D3A}"/>
              </a:ext>
            </a:extLst>
          </p:cNvPr>
          <p:cNvCxnSpPr>
            <a:cxnSpLocks/>
          </p:cNvCxnSpPr>
          <p:nvPr/>
        </p:nvCxnSpPr>
        <p:spPr>
          <a:xfrm>
            <a:off x="21453004" y="20939288"/>
            <a:ext cx="4323693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3E66F2D-1C73-4578-F99F-C5EFF948DBB9}"/>
              </a:ext>
            </a:extLst>
          </p:cNvPr>
          <p:cNvSpPr txBox="1"/>
          <p:nvPr/>
        </p:nvSpPr>
        <p:spPr>
          <a:xfrm>
            <a:off x="16646556" y="15504903"/>
            <a:ext cx="12708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/>
              <a:t>🤖</a:t>
            </a:r>
            <a:endParaRPr lang="ko-KR" altLang="ko-KR" sz="6000" dirty="0"/>
          </a:p>
        </p:txBody>
      </p:sp>
      <p:sp>
        <p:nvSpPr>
          <p:cNvPr id="79" name="화살표: 오른쪽 78">
            <a:extLst>
              <a:ext uri="{FF2B5EF4-FFF2-40B4-BE49-F238E27FC236}">
                <a16:creationId xmlns:a16="http://schemas.microsoft.com/office/drawing/2014/main" id="{7C49FE50-4B16-587A-E0C7-376DC8C8E7B3}"/>
              </a:ext>
            </a:extLst>
          </p:cNvPr>
          <p:cNvSpPr/>
          <p:nvPr/>
        </p:nvSpPr>
        <p:spPr>
          <a:xfrm>
            <a:off x="26169352" y="20943186"/>
            <a:ext cx="503779" cy="75520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A2A09A3-CAA1-1E17-DDCE-62846E0D4AFE}"/>
              </a:ext>
            </a:extLst>
          </p:cNvPr>
          <p:cNvSpPr txBox="1"/>
          <p:nvPr/>
        </p:nvSpPr>
        <p:spPr>
          <a:xfrm>
            <a:off x="27463825" y="18420844"/>
            <a:ext cx="12708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/>
              <a:t>🔃</a:t>
            </a:r>
            <a:endParaRPr lang="ko-KR" altLang="ko-KR" sz="6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F5A5443-CE53-EFB2-7A39-1D0721D418C7}"/>
              </a:ext>
            </a:extLst>
          </p:cNvPr>
          <p:cNvSpPr txBox="1"/>
          <p:nvPr/>
        </p:nvSpPr>
        <p:spPr>
          <a:xfrm>
            <a:off x="26452103" y="19590072"/>
            <a:ext cx="3294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사용자 피드백 반복</a:t>
            </a:r>
            <a:endParaRPr lang="en-US" altLang="ko-KR" sz="3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Google Shape;105;p13">
            <a:extLst>
              <a:ext uri="{FF2B5EF4-FFF2-40B4-BE49-F238E27FC236}">
                <a16:creationId xmlns:a16="http://schemas.microsoft.com/office/drawing/2014/main" id="{6413B22D-DF9A-1B78-D471-AC593282EE44}"/>
              </a:ext>
            </a:extLst>
          </p:cNvPr>
          <p:cNvSpPr>
            <a:spLocks noGrp="1"/>
          </p:cNvSpPr>
          <p:nvPr/>
        </p:nvSpPr>
        <p:spPr>
          <a:xfrm>
            <a:off x="1894425" y="8095050"/>
            <a:ext cx="12065700" cy="9449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lvl="0" algn="ctr">
              <a:buClr>
                <a:schemeClr val="dk1"/>
              </a:buClr>
              <a:buSzPts val="4241"/>
            </a:pPr>
            <a:r>
              <a:rPr lang="en-US" altLang="ko-KR" sz="4241" b="1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Limitations &amp; Research Gap</a:t>
            </a:r>
            <a:endParaRPr lang="en-US" altLang="ko-KR" sz="4241" b="1" dirty="0">
              <a:solidFill>
                <a:srgbClr val="262626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7A1444-F70F-31CC-975F-1FC591495AAA}"/>
              </a:ext>
            </a:extLst>
          </p:cNvPr>
          <p:cNvSpPr txBox="1"/>
          <p:nvPr/>
        </p:nvSpPr>
        <p:spPr>
          <a:xfrm>
            <a:off x="15813333" y="10018578"/>
            <a:ext cx="126903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BM Plex Sans KR"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동적 상태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그라운딩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(Dynamic State Grounding)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은 대화에서 조건과 추천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   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거절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·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수락  이력을 지속적으로 축적하고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,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이를 질의 생성 및 재순위화 과정에 반영하여 사용자의 의도를 정교하게 추적한다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/>
                <a:ea typeface="Pretendard"/>
                <a:cs typeface="Pretendard"/>
              </a:rPr>
              <a:t>. </a:t>
            </a:r>
          </a:p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4D865B-B4B5-4C5F-3034-653AEB269315}"/>
              </a:ext>
            </a:extLst>
          </p:cNvPr>
          <p:cNvSpPr txBox="1"/>
          <p:nvPr/>
        </p:nvSpPr>
        <p:spPr>
          <a:xfrm>
            <a:off x="916883" y="39852600"/>
            <a:ext cx="287227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과거 상태와 현재 턴의 변화를 보다 정확히 구분할 수 있도록 상태 추론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갱신 방식을 개선하고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리뷰에 의해 변화한 상품 순위가 실제 추천 정확도와 사용자 관점의 추천 품질 향상으로 이어지는지를 검증할 필요가 있음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또한 가격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재고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ko-KR" altLang="en-US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배송 등 동적 정보와 다양한 상품군을 포함하는 보다 현실적인 쇼핑 환경으로 평가 범위를 확장하고자 함</a:t>
            </a:r>
            <a:r>
              <a:rPr lang="en-US" altLang="ko-KR" sz="3200" dirty="0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endParaRPr lang="ko-KR" altLang="en-US" sz="3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F7B2C37-8DB5-2EBE-63EC-88F7C3550BB1}"/>
              </a:ext>
            </a:extLst>
          </p:cNvPr>
          <p:cNvSpPr/>
          <p:nvPr/>
        </p:nvSpPr>
        <p:spPr>
          <a:xfrm>
            <a:off x="1456618" y="18424727"/>
            <a:ext cx="5359400" cy="24444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B03A8-FC02-688D-C505-6A475725378E}"/>
              </a:ext>
            </a:extLst>
          </p:cNvPr>
          <p:cNvSpPr txBox="1"/>
          <p:nvPr/>
        </p:nvSpPr>
        <p:spPr>
          <a:xfrm>
            <a:off x="5407301" y="19690829"/>
            <a:ext cx="870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6000" dirty="0"/>
              <a:t>👤</a:t>
            </a:r>
          </a:p>
        </p:txBody>
      </p:sp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40C7FE04-B941-60B3-4B81-BE95CE6AE1C5}"/>
              </a:ext>
            </a:extLst>
          </p:cNvPr>
          <p:cNvSpPr/>
          <p:nvPr/>
        </p:nvSpPr>
        <p:spPr>
          <a:xfrm>
            <a:off x="1595274" y="18711385"/>
            <a:ext cx="4791075" cy="907858"/>
          </a:xfrm>
          <a:prstGeom prst="wedgeRoundRectCallout">
            <a:avLst>
              <a:gd name="adj1" fmla="val 34237"/>
              <a:gd name="adj2" fmla="val 8033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쓰던 아이폰이 고장 나서 새로 바꿔야 해요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3C4CA1C-DE5C-3633-F87E-4474C950AF69}"/>
              </a:ext>
            </a:extLst>
          </p:cNvPr>
          <p:cNvSpPr/>
          <p:nvPr/>
        </p:nvSpPr>
        <p:spPr>
          <a:xfrm>
            <a:off x="9245542" y="17242764"/>
            <a:ext cx="5220787" cy="6119854"/>
          </a:xfrm>
          <a:prstGeom prst="roundRect">
            <a:avLst>
              <a:gd name="adj" fmla="val 579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{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hardConstraints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{},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softConstraints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{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urgencyPressure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{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id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urgency-pressure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valueText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"지금 쓸 기기가 없어 수령 대기에 민감할 가능성",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origin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inferred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confidence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0.64,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status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unconfirmed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",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evidenceTurnIds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[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 "turn-1"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],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"</a:t>
            </a:r>
            <a:r>
              <a:rPr lang="ko-KR" altLang="ko-KR" sz="2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updatedAtTurnId</a:t>
            </a:r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": "turn-1"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}</a:t>
            </a:r>
          </a:p>
          <a:p>
            <a:r>
              <a:rPr lang="ko-KR" altLang="ko-KR" sz="2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},</a:t>
            </a:r>
          </a:p>
          <a:p>
            <a:pPr algn="ctr"/>
            <a:endParaRPr lang="ko-KR" alt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8459AD0-8487-EDC7-8208-136ACF0885B1}"/>
              </a:ext>
            </a:extLst>
          </p:cNvPr>
          <p:cNvSpPr/>
          <p:nvPr/>
        </p:nvSpPr>
        <p:spPr>
          <a:xfrm>
            <a:off x="15811070" y="17242764"/>
            <a:ext cx="4218299" cy="2045597"/>
          </a:xfrm>
          <a:prstGeom prst="roundRect">
            <a:avLst>
              <a:gd name="adj" fmla="val 639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Evidence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쓰던 아이폰이 고장 나서 새로 바꿔야 해요</a:t>
            </a:r>
            <a:r>
              <a:rPr lang="en-US" altLang="ko-KR" sz="1400" dirty="0">
                <a:solidFill>
                  <a:schemeClr val="bg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solidFill>
                  <a:srgbClr val="92D05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category</a:t>
            </a:r>
          </a:p>
          <a:p>
            <a:r>
              <a:rPr lang="en-US" altLang="ko-KR" dirty="0">
                <a:solidFill>
                  <a:srgbClr val="92D05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subjectiveNeeds.event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solidFill>
                  <a:srgbClr val="92D05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subjectiveNeeds.goal_purpose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en-US" altLang="ko-KR" dirty="0">
                <a:solidFill>
                  <a:srgbClr val="92D05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+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softConstraints.urgencyPressure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AE41CA3E-A0A7-319C-2B30-A3DA80BDFEA2}"/>
              </a:ext>
            </a:extLst>
          </p:cNvPr>
          <p:cNvSpPr/>
          <p:nvPr/>
        </p:nvSpPr>
        <p:spPr>
          <a:xfrm>
            <a:off x="7428323" y="20945534"/>
            <a:ext cx="854881" cy="75050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D0F56126-F21C-F151-63A9-E7484961D729}"/>
              </a:ext>
            </a:extLst>
          </p:cNvPr>
          <p:cNvSpPr/>
          <p:nvPr/>
        </p:nvSpPr>
        <p:spPr>
          <a:xfrm>
            <a:off x="20356938" y="20945534"/>
            <a:ext cx="854881" cy="75050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68C3B1A-9059-D2B9-19E8-1A8E22EF4D59}"/>
              </a:ext>
            </a:extLst>
          </p:cNvPr>
          <p:cNvSpPr/>
          <p:nvPr/>
        </p:nvSpPr>
        <p:spPr>
          <a:xfrm>
            <a:off x="21457366" y="17242764"/>
            <a:ext cx="4262065" cy="2464322"/>
          </a:xfrm>
          <a:prstGeom prst="roundRect">
            <a:avLst>
              <a:gd name="adj" fmla="val 622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F9D794-1D60-D5F9-8C2C-5B48F35EAE27}"/>
              </a:ext>
            </a:extLst>
          </p:cNvPr>
          <p:cNvSpPr txBox="1"/>
          <p:nvPr/>
        </p:nvSpPr>
        <p:spPr>
          <a:xfrm>
            <a:off x="25121420" y="17964470"/>
            <a:ext cx="691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800" dirty="0"/>
              <a:t>👤</a:t>
            </a:r>
          </a:p>
        </p:txBody>
      </p:sp>
      <p:sp>
        <p:nvSpPr>
          <p:cNvPr id="36" name="말풍선: 모서리가 둥근 사각형 35">
            <a:extLst>
              <a:ext uri="{FF2B5EF4-FFF2-40B4-BE49-F238E27FC236}">
                <a16:creationId xmlns:a16="http://schemas.microsoft.com/office/drawing/2014/main" id="{F520FC3F-0A01-F84E-629A-E05A56D0F4ED}"/>
              </a:ext>
            </a:extLst>
          </p:cNvPr>
          <p:cNvSpPr/>
          <p:nvPr/>
        </p:nvSpPr>
        <p:spPr>
          <a:xfrm>
            <a:off x="21738223" y="17421816"/>
            <a:ext cx="3601872" cy="488747"/>
          </a:xfrm>
          <a:prstGeom prst="wedgeRoundRectCallout">
            <a:avLst>
              <a:gd name="adj1" fmla="val 34237"/>
              <a:gd name="adj2" fmla="val 80336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쓰던 아이폰이 고장 나서 새로 바꿔야 해요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6056CC-E6E3-B76D-A607-CFA61B4B693F}"/>
              </a:ext>
            </a:extLst>
          </p:cNvPr>
          <p:cNvSpPr txBox="1"/>
          <p:nvPr/>
        </p:nvSpPr>
        <p:spPr>
          <a:xfrm>
            <a:off x="21577927" y="19130315"/>
            <a:ext cx="586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🤖</a:t>
            </a:r>
            <a:endParaRPr lang="ko-KR" altLang="ko-KR" sz="2800" dirty="0"/>
          </a:p>
        </p:txBody>
      </p:sp>
      <p:sp>
        <p:nvSpPr>
          <p:cNvPr id="42" name="말풍선: 모서리가 둥근 사각형 41">
            <a:extLst>
              <a:ext uri="{FF2B5EF4-FFF2-40B4-BE49-F238E27FC236}">
                <a16:creationId xmlns:a16="http://schemas.microsoft.com/office/drawing/2014/main" id="{056F73F5-4A3A-0449-81AA-008D25B6F721}"/>
              </a:ext>
            </a:extLst>
          </p:cNvPr>
          <p:cNvSpPr/>
          <p:nvPr/>
        </p:nvSpPr>
        <p:spPr>
          <a:xfrm>
            <a:off x="21883488" y="18684302"/>
            <a:ext cx="3601872" cy="488747"/>
          </a:xfrm>
          <a:prstGeom prst="wedgeRoundRectCallout">
            <a:avLst>
              <a:gd name="adj1" fmla="val -43110"/>
              <a:gd name="adj2" fmla="val 10306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예산은 어느 정도로 생각하고 </a:t>
            </a:r>
            <a:r>
              <a:rPr lang="ko-KR" altLang="en-US" sz="1600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계신가요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  <a:endParaRPr lang="ko-KR" alt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C820B2B-A353-9BFF-9751-2691C0625537}"/>
              </a:ext>
            </a:extLst>
          </p:cNvPr>
          <p:cNvSpPr/>
          <p:nvPr/>
        </p:nvSpPr>
        <p:spPr>
          <a:xfrm>
            <a:off x="21507801" y="21786150"/>
            <a:ext cx="4161195" cy="2511308"/>
          </a:xfrm>
          <a:prstGeom prst="roundRect">
            <a:avLst>
              <a:gd name="adj" fmla="val 622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말풍선: 모서리가 둥근 사각형 48">
            <a:extLst>
              <a:ext uri="{FF2B5EF4-FFF2-40B4-BE49-F238E27FC236}">
                <a16:creationId xmlns:a16="http://schemas.microsoft.com/office/drawing/2014/main" id="{8234C6F1-75A4-08B7-E69A-6F5D5F7CF756}"/>
              </a:ext>
            </a:extLst>
          </p:cNvPr>
          <p:cNvSpPr/>
          <p:nvPr/>
        </p:nvSpPr>
        <p:spPr>
          <a:xfrm>
            <a:off x="21738223" y="21972184"/>
            <a:ext cx="3601872" cy="609349"/>
          </a:xfrm>
          <a:prstGeom prst="wedgeRoundRectCallout">
            <a:avLst>
              <a:gd name="adj1" fmla="val 45297"/>
              <a:gd name="adj2" fmla="val 77364"/>
              <a:gd name="adj3" fmla="val 1666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150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만 원 정도 생각하는데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오래 쓸 거라 더 비싸도 돼요</a:t>
            </a:r>
            <a:r>
              <a:rPr lang="en-US" altLang="ko-KR" sz="20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C0DD1A-2C94-60F8-4437-AC6A7EAEFD37}"/>
              </a:ext>
            </a:extLst>
          </p:cNvPr>
          <p:cNvSpPr txBox="1"/>
          <p:nvPr/>
        </p:nvSpPr>
        <p:spPr>
          <a:xfrm>
            <a:off x="25121420" y="22503626"/>
            <a:ext cx="691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800" dirty="0"/>
              <a:t>👤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39635F-36B8-BA88-3910-0E5737994E54}"/>
              </a:ext>
            </a:extLst>
          </p:cNvPr>
          <p:cNvSpPr txBox="1"/>
          <p:nvPr/>
        </p:nvSpPr>
        <p:spPr>
          <a:xfrm>
            <a:off x="21570515" y="23788809"/>
            <a:ext cx="601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🤖</a:t>
            </a:r>
            <a:endParaRPr lang="ko-KR" altLang="ko-KR" sz="2800" dirty="0"/>
          </a:p>
        </p:txBody>
      </p:sp>
      <p:sp>
        <p:nvSpPr>
          <p:cNvPr id="62" name="말풍선: 모서리가 둥근 사각형 61">
            <a:extLst>
              <a:ext uri="{FF2B5EF4-FFF2-40B4-BE49-F238E27FC236}">
                <a16:creationId xmlns:a16="http://schemas.microsoft.com/office/drawing/2014/main" id="{AF24930C-F12D-7CA4-36DF-00E2EF2F9BB7}"/>
              </a:ext>
            </a:extLst>
          </p:cNvPr>
          <p:cNvSpPr/>
          <p:nvPr/>
        </p:nvSpPr>
        <p:spPr>
          <a:xfrm>
            <a:off x="21997128" y="23077292"/>
            <a:ext cx="3374592" cy="788044"/>
          </a:xfrm>
          <a:prstGeom prst="wedgeRoundRectCallout">
            <a:avLst>
              <a:gd name="adj1" fmla="val -47132"/>
              <a:gd name="adj2" fmla="val 6860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iPhone 17 256GB</a:t>
            </a: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추천합니다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1,290,000</a:t>
            </a: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무료 배송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 algn="ctr"/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후 수령 조건</a:t>
            </a:r>
          </a:p>
        </p:txBody>
      </p:sp>
      <p:sp>
        <p:nvSpPr>
          <p:cNvPr id="64" name="말풍선: 사각형 63">
            <a:extLst>
              <a:ext uri="{FF2B5EF4-FFF2-40B4-BE49-F238E27FC236}">
                <a16:creationId xmlns:a16="http://schemas.microsoft.com/office/drawing/2014/main" id="{5420772A-9137-EF29-503D-3FAB74BF4146}"/>
              </a:ext>
            </a:extLst>
          </p:cNvPr>
          <p:cNvSpPr/>
          <p:nvPr/>
        </p:nvSpPr>
        <p:spPr>
          <a:xfrm>
            <a:off x="26785390" y="20364717"/>
            <a:ext cx="2801902" cy="1912142"/>
          </a:xfrm>
          <a:prstGeom prst="wedgeRectCallout">
            <a:avLst>
              <a:gd name="adj1" fmla="val 32504"/>
              <a:gd name="adj2" fmla="val 81669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폰이 고장 난 상태라서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 동안 기다리기는 </a:t>
            </a:r>
            <a:endParaRPr lang="en-US" altLang="ko-KR" sz="24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어려울 것 같아요</a:t>
            </a:r>
            <a:r>
              <a:rPr lang="en-US" altLang="ko-KR" sz="24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ABB4BD-C999-7C47-FFB7-7DFD36A222EB}"/>
              </a:ext>
            </a:extLst>
          </p:cNvPr>
          <p:cNvSpPr txBox="1"/>
          <p:nvPr/>
        </p:nvSpPr>
        <p:spPr>
          <a:xfrm>
            <a:off x="29057343" y="22901184"/>
            <a:ext cx="744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200" dirty="0"/>
              <a:t>👤</a:t>
            </a:r>
          </a:p>
        </p:txBody>
      </p:sp>
      <p:sp>
        <p:nvSpPr>
          <p:cNvPr id="72" name="Google Shape;129;p13">
            <a:extLst>
              <a:ext uri="{FF2B5EF4-FFF2-40B4-BE49-F238E27FC236}">
                <a16:creationId xmlns:a16="http://schemas.microsoft.com/office/drawing/2014/main" id="{7F08F97A-8741-1C21-ED88-0F1ABD85FF38}"/>
              </a:ext>
            </a:extLst>
          </p:cNvPr>
          <p:cNvSpPr>
            <a:spLocks noGrp="1"/>
          </p:cNvSpPr>
          <p:nvPr/>
        </p:nvSpPr>
        <p:spPr>
          <a:xfrm rot="5400000" flipH="1">
            <a:off x="364114" y="30110892"/>
            <a:ext cx="552300" cy="302100"/>
          </a:xfrm>
          <a:prstGeom prst="triangle">
            <a:avLst>
              <a:gd name="adj" fmla="val 50000"/>
            </a:avLst>
          </a:prstGeom>
          <a:solidFill>
            <a:srgbClr val="4DA19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SzPts val="3959"/>
              <a:buFont typeface="Arial"/>
              <a:buNone/>
            </a:pPr>
            <a:endParaRPr sz="3959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486626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886</Words>
  <Application>Microsoft Office PowerPoint</Application>
  <DocSecurity>0</DocSecurity>
  <PresentationFormat>사용자 지정</PresentationFormat>
  <Paragraphs>144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나눔스퀘어 ExtraBold</vt:lpstr>
      <vt:lpstr>IBM Plex Sans</vt:lpstr>
      <vt:lpstr>Arial</vt:lpstr>
      <vt:lpstr>맑은 고딕</vt:lpstr>
      <vt:lpstr>Pretendard SemiBold</vt:lpstr>
      <vt:lpstr>Pretendard</vt:lpstr>
      <vt:lpstr>Noto Sans KR</vt:lpstr>
      <vt:lpstr>IBM Plex Sans KR</vt:lpstr>
      <vt:lpstr>1_Office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jinwook kim</cp:lastModifiedBy>
  <cp:revision>42</cp:revision>
  <dcterms:created xsi:type="dcterms:W3CDTF">2026-08-12T10:29:06Z</dcterms:created>
  <dcterms:modified xsi:type="dcterms:W3CDTF">2026-08-19T16:15:02Z</dcterms:modified>
</cp:coreProperties>
</file>