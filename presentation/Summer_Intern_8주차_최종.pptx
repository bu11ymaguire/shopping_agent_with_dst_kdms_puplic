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embeddedFontLst>
    <p:embeddedFont>
      <p:font typeface="IBM Plex Sans"/>
      <p:regular r:id="rId36"/>
      <p:bold r:id="rId37"/>
      <p:italic r:id="rId38"/>
      <p:boldItalic r:id="rId39"/>
    </p:embeddedFont>
    <p:embeddedFont>
      <p:font typeface="IBM Plex Sans KR"/>
      <p:regular r:id="rId40"/>
      <p:bold r:id="rId41"/>
    </p:embeddedFont>
    <p:embeddedFont>
      <p:font typeface="IBM Plex Sans SemiBold"/>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51F6B1-2602-4EF5-8B1F-02A5E1A71A59}">
  <a:tblStyle styleId="{E251F6B1-2602-4EF5-8B1F-02A5E1A71A5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KR-regular.fntdata"/><Relationship Id="rId20" Type="http://schemas.openxmlformats.org/officeDocument/2006/relationships/slide" Target="slides/slide13.xml"/><Relationship Id="rId42" Type="http://schemas.openxmlformats.org/officeDocument/2006/relationships/font" Target="fonts/IBMPlexSansSemiBold-regular.fntdata"/><Relationship Id="rId41" Type="http://schemas.openxmlformats.org/officeDocument/2006/relationships/font" Target="fonts/IBMPlexSansKR-bold.fntdata"/><Relationship Id="rId22" Type="http://schemas.openxmlformats.org/officeDocument/2006/relationships/slide" Target="slides/slide15.xml"/><Relationship Id="rId44" Type="http://schemas.openxmlformats.org/officeDocument/2006/relationships/font" Target="fonts/IBMPlexSansSemiBold-italic.fntdata"/><Relationship Id="rId21" Type="http://schemas.openxmlformats.org/officeDocument/2006/relationships/slide" Target="slides/slide14.xml"/><Relationship Id="rId43" Type="http://schemas.openxmlformats.org/officeDocument/2006/relationships/font" Target="fonts/IBMPlexSansSemiBold-bold.fntdata"/><Relationship Id="rId24" Type="http://schemas.openxmlformats.org/officeDocument/2006/relationships/slide" Target="slides/slide17.xml"/><Relationship Id="rId23" Type="http://schemas.openxmlformats.org/officeDocument/2006/relationships/slide" Target="slides/slide16.xml"/><Relationship Id="rId45" Type="http://schemas.openxmlformats.org/officeDocument/2006/relationships/font" Target="fonts/IBMPlexSa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IBMPlexSans-bold.fntdata"/><Relationship Id="rId14" Type="http://schemas.openxmlformats.org/officeDocument/2006/relationships/slide" Target="slides/slide7.xml"/><Relationship Id="rId36" Type="http://schemas.openxmlformats.org/officeDocument/2006/relationships/font" Target="fonts/IBMPlexSans-regular.fntdata"/><Relationship Id="rId17" Type="http://schemas.openxmlformats.org/officeDocument/2006/relationships/slide" Target="slides/slide10.xml"/><Relationship Id="rId39" Type="http://schemas.openxmlformats.org/officeDocument/2006/relationships/font" Target="fonts/IBMPlexSans-boldItalic.fntdata"/><Relationship Id="rId16" Type="http://schemas.openxmlformats.org/officeDocument/2006/relationships/slide" Target="slides/slide9.xml"/><Relationship Id="rId38" Type="http://schemas.openxmlformats.org/officeDocument/2006/relationships/font" Target="fonts/IBMPlexSans-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ab30a3bc0_2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fab30a3bc0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8" name="Google Shape;128;g3fab30a3bc0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ab30a3bc0_2_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g3fab30a3bc0_2_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41" name="Google Shape;141;g3fab30a3bc0_2_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ab30a3bc0_2_1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g3fab30a3bc0_2_1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4" name="Google Shape;154;g3fab30a3bc0_2_10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ab30a3bc0_2_1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g3fab30a3bc0_2_1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66" name="Google Shape;166;g3fab30a3bc0_2_1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ab30a3bc0_2_1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g3fab30a3bc0_2_1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82" name="Google Shape;182;g3fab30a3bc0_2_1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ab30a3bc0_2_1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g3fab30a3bc0_2_1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95" name="Google Shape;195;g3fab30a3bc0_2_1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ab30a3bc0_2_1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fab30a3bc0_2_1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07" name="Google Shape;207;g3fab30a3bc0_2_1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ab30a3bc0_2_1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3fab30a3bc0_2_1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20" name="Google Shape;220;g3fab30a3bc0_2_16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ab30a3bc0_2_1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g3fab30a3bc0_2_1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35" name="Google Shape;235;g3fab30a3bc0_2_1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ab30a3bc0_2_1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g3fab30a3bc0_2_1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49" name="Google Shape;249;g3fab30a3bc0_2_18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ab30a3bc0_2_1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g3fab30a3bc0_2_1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61" name="Google Shape;261;g3fab30a3bc0_2_1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ab30a3bc0_2_2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g3fab30a3bc0_2_2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75" name="Google Shape;275;g3fab30a3bc0_2_2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ab30a3bc0_2_2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g3fab30a3bc0_2_2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87" name="Google Shape;287;g3fab30a3bc0_2_2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ab30a3bc0_2_2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g3fab30a3bc0_2_2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99" name="Google Shape;299;g3fab30a3bc0_2_2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fab30a3bc0_2_2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g3fab30a3bc0_2_2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13" name="Google Shape;313;g3fab30a3bc0_2_2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ab30a3bc0_2_2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3fab30a3bc0_2_2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27" name="Google Shape;327;g3fab30a3bc0_2_26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ab30a3bc0_2_2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g3fab30a3bc0_2_2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39" name="Google Shape;339;g3fab30a3bc0_2_2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ab3960d0a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g3fab3960d0a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52" name="Google Shape;352;g3fab3960d0a_0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ab3960d0a_0_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g3fab3960d0a_0_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65" name="Google Shape;365;g3fab3960d0a_0_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776855cb2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g3f776855cb2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80" name="Google Shape;380;g3f776855cb2_0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776855cb2_0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g3f776855cb2_0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92" name="Google Shape;392;g3f776855cb2_0_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ab30a3bc0_2_2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g3fab30a3bc0_2_2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04" name="Google Shape;404;g3fab30a3bc0_2_2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ab30a3bc0_2_2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g3fab30a3bc0_2_2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416" name="Google Shape;416;g3fab30a3bc0_2_29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ab30a3bc0_2_3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g3fab30a3bc0_2_3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429" name="Google Shape;429;g3fab30a3bc0_2_3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fab30a3bc0_2_3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g3fab30a3bc0_2_3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440" name="Google Shape;440;g3fab30a3bc0_2_3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ab30a3bc0_2_3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g3fab30a3bc0_2_3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451" name="Google Shape;451;g3fab30a3bc0_2_3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ab30a3bc0_2_3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g3fab30a3bc0_2_3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463" name="Google Shape;463;g3fab30a3bc0_2_3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fab30a3bc0_2_3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g3fab30a3bc0_2_3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474" name="Google Shape;474;g3fab30a3bc0_2_3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3"/>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4"/>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cxnSp>
        <p:nvCxnSpPr>
          <p:cNvPr id="130" name="Google Shape;130;p25"/>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31" name="Google Shape;131;p25"/>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32" name="Google Shape;132;p25"/>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133" name="Google Shape;133;p25"/>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1800"/>
              <a:buFont typeface="Arial"/>
              <a:buNone/>
            </a:pPr>
            <a:r>
              <a:rPr b="1" lang="ko" sz="1800">
                <a:solidFill>
                  <a:srgbClr val="595959"/>
                </a:solidFill>
                <a:latin typeface="IBM Plex Sans"/>
                <a:ea typeface="IBM Plex Sans"/>
                <a:cs typeface="IBM Plex Sans"/>
                <a:sym typeface="IBM Plex Sans"/>
              </a:rPr>
              <a:t>Summer Intern - 8주차</a:t>
            </a:r>
            <a:endParaRPr b="0" i="0" sz="1800" u="none" cap="none" strike="noStrike">
              <a:solidFill>
                <a:schemeClr val="dk1"/>
              </a:solidFill>
              <a:latin typeface="IBM Plex Sans"/>
              <a:ea typeface="IBM Plex Sans"/>
              <a:cs typeface="IBM Plex Sans"/>
              <a:sym typeface="IBM Plex Sans"/>
            </a:endParaRPr>
          </a:p>
          <a:p>
            <a:pPr indent="0" lvl="0" marL="0" marR="0" rtl="0" algn="l">
              <a:lnSpc>
                <a:spcPct val="125000"/>
              </a:lnSpc>
              <a:spcBef>
                <a:spcPts val="0"/>
              </a:spcBef>
              <a:spcAft>
                <a:spcPts val="0"/>
              </a:spcAft>
              <a:buClr>
                <a:srgbClr val="000000"/>
              </a:buClr>
              <a:buSzPts val="1500"/>
              <a:buFont typeface="Arial"/>
              <a:buNone/>
            </a:pPr>
            <a:r>
              <a:t/>
            </a:r>
            <a:endParaRPr b="1" i="0" sz="1800" u="none" cap="none" strike="noStrike">
              <a:solidFill>
                <a:srgbClr val="595959"/>
              </a:solidFill>
              <a:latin typeface="IBM Plex Sans"/>
              <a:ea typeface="IBM Plex Sans"/>
              <a:cs typeface="IBM Plex Sans"/>
              <a:sym typeface="IBM Plex Sans"/>
            </a:endParaRPr>
          </a:p>
        </p:txBody>
      </p:sp>
      <p:sp>
        <p:nvSpPr>
          <p:cNvPr id="134" name="Google Shape;134;p25"/>
          <p:cNvSpPr txBox="1"/>
          <p:nvPr/>
        </p:nvSpPr>
        <p:spPr>
          <a:xfrm>
            <a:off x="5694500" y="2815006"/>
            <a:ext cx="2504100" cy="396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400"/>
              <a:buFont typeface="Arial"/>
              <a:buNone/>
            </a:pPr>
            <a:r>
              <a:rPr b="1" lang="ko">
                <a:solidFill>
                  <a:srgbClr val="9E9E9E"/>
                </a:solidFill>
                <a:latin typeface="Malgun Gothic"/>
                <a:ea typeface="Malgun Gothic"/>
                <a:cs typeface="Malgun Gothic"/>
                <a:sym typeface="Malgun Gothic"/>
              </a:rPr>
              <a:t>2023036299</a:t>
            </a:r>
            <a:r>
              <a:rPr b="1" i="0" lang="ko" sz="1400" u="none" cap="none" strike="noStrike">
                <a:solidFill>
                  <a:srgbClr val="9E9E9E"/>
                </a:solidFill>
                <a:latin typeface="Malgun Gothic"/>
                <a:ea typeface="Malgun Gothic"/>
                <a:cs typeface="Malgun Gothic"/>
                <a:sym typeface="Malgun Gothic"/>
              </a:rPr>
              <a:t> 김진욱</a:t>
            </a:r>
            <a:endParaRPr b="0" i="0" sz="1400" u="none" cap="none" strike="noStrike">
              <a:solidFill>
                <a:srgbClr val="000000"/>
              </a:solidFill>
              <a:latin typeface="Arial"/>
              <a:ea typeface="Arial"/>
              <a:cs typeface="Arial"/>
              <a:sym typeface="Arial"/>
            </a:endParaRPr>
          </a:p>
        </p:txBody>
      </p:sp>
      <p:sp>
        <p:nvSpPr>
          <p:cNvPr id="135" name="Google Shape;135;p25"/>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136" name="Google Shape;136;p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37" name="Google Shape;137;p25"/>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cxnSp>
        <p:nvCxnSpPr>
          <p:cNvPr id="143" name="Google Shape;143;p26"/>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44" name="Google Shape;144;p26"/>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45" name="Google Shape;145;p26"/>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46" name="Google Shape;146;p2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147" name="Google Shape;147;p26"/>
          <p:cNvSpPr txBox="1"/>
          <p:nvPr/>
        </p:nvSpPr>
        <p:spPr>
          <a:xfrm>
            <a:off x="547425" y="661274"/>
            <a:ext cx="24438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Index</a:t>
            </a:r>
            <a:endParaRPr b="0" i="0" sz="1800" u="none" cap="none" strike="noStrike">
              <a:solidFill>
                <a:schemeClr val="dk1"/>
              </a:solidFill>
              <a:latin typeface="IBM Plex Sans KR"/>
              <a:ea typeface="IBM Plex Sans KR"/>
              <a:cs typeface="IBM Plex Sans KR"/>
              <a:sym typeface="IBM Plex Sans KR"/>
            </a:endParaRPr>
          </a:p>
        </p:txBody>
      </p:sp>
      <p:sp>
        <p:nvSpPr>
          <p:cNvPr id="148" name="Google Shape;148;p26"/>
          <p:cNvSpPr txBox="1"/>
          <p:nvPr/>
        </p:nvSpPr>
        <p:spPr>
          <a:xfrm>
            <a:off x="547425" y="1387150"/>
            <a:ext cx="2961900" cy="9570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IBM Plex Sans KR"/>
              <a:buAutoNum type="arabicPeriod"/>
            </a:pPr>
            <a:r>
              <a:rPr lang="ko" sz="1600">
                <a:solidFill>
                  <a:schemeClr val="dk1"/>
                </a:solidFill>
                <a:latin typeface="IBM Plex Sans KR"/>
                <a:ea typeface="IBM Plex Sans KR"/>
                <a:cs typeface="IBM Plex Sans KR"/>
                <a:sym typeface="IBM Plex Sans KR"/>
              </a:rPr>
              <a:t>Episode 분석</a:t>
            </a:r>
            <a:endParaRPr sz="1600">
              <a:solidFill>
                <a:schemeClr val="dk1"/>
              </a:solidFill>
              <a:latin typeface="IBM Plex Sans KR"/>
              <a:ea typeface="IBM Plex Sans KR"/>
              <a:cs typeface="IBM Plex Sans KR"/>
              <a:sym typeface="IBM Plex Sans KR"/>
            </a:endParaRPr>
          </a:p>
          <a:p>
            <a:pPr indent="-330200" lvl="0" marL="457200" marR="0" rtl="0" algn="l">
              <a:lnSpc>
                <a:spcPct val="100000"/>
              </a:lnSpc>
              <a:spcBef>
                <a:spcPts val="0"/>
              </a:spcBef>
              <a:spcAft>
                <a:spcPts val="0"/>
              </a:spcAft>
              <a:buClr>
                <a:schemeClr val="dk1"/>
              </a:buClr>
              <a:buSzPts val="1600"/>
              <a:buFont typeface="IBM Plex Sans KR"/>
              <a:buAutoNum type="arabicPeriod"/>
            </a:pPr>
            <a:r>
              <a:rPr lang="ko" sz="1600">
                <a:solidFill>
                  <a:schemeClr val="dk1"/>
                </a:solidFill>
                <a:latin typeface="IBM Plex Sans KR"/>
                <a:ea typeface="IBM Plex Sans KR"/>
                <a:cs typeface="IBM Plex Sans KR"/>
                <a:sym typeface="IBM Plex Sans KR"/>
              </a:rPr>
              <a:t>State Diff 개선 </a:t>
            </a:r>
            <a:endParaRPr sz="1600">
              <a:solidFill>
                <a:schemeClr val="dk1"/>
              </a:solidFill>
              <a:latin typeface="IBM Plex Sans KR"/>
              <a:ea typeface="IBM Plex Sans KR"/>
              <a:cs typeface="IBM Plex Sans KR"/>
              <a:sym typeface="IBM Plex Sans KR"/>
            </a:endParaRPr>
          </a:p>
          <a:p>
            <a:pPr indent="-330200" lvl="0" marL="457200" marR="0" rtl="0" algn="l">
              <a:lnSpc>
                <a:spcPct val="100000"/>
              </a:lnSpc>
              <a:spcBef>
                <a:spcPts val="0"/>
              </a:spcBef>
              <a:spcAft>
                <a:spcPts val="0"/>
              </a:spcAft>
              <a:buClr>
                <a:schemeClr val="dk1"/>
              </a:buClr>
              <a:buSzPts val="1600"/>
              <a:buFont typeface="IBM Plex Sans KR"/>
              <a:buAutoNum type="arabicPeriod"/>
            </a:pPr>
            <a:r>
              <a:rPr lang="ko" sz="1600">
                <a:solidFill>
                  <a:schemeClr val="dk1"/>
                </a:solidFill>
                <a:latin typeface="IBM Plex Sans KR"/>
                <a:ea typeface="IBM Plex Sans KR"/>
                <a:cs typeface="IBM Plex Sans KR"/>
                <a:sym typeface="IBM Plex Sans KR"/>
              </a:rPr>
              <a:t>Hidden Intent </a:t>
            </a:r>
            <a:r>
              <a:rPr lang="ko" sz="1600">
                <a:solidFill>
                  <a:schemeClr val="dk1"/>
                </a:solidFill>
                <a:latin typeface="IBM Plex Sans KR"/>
                <a:ea typeface="IBM Plex Sans KR"/>
                <a:cs typeface="IBM Plex Sans KR"/>
                <a:sym typeface="IBM Plex Sans KR"/>
              </a:rPr>
              <a:t>추출 실험</a:t>
            </a:r>
            <a:endParaRPr sz="1600">
              <a:solidFill>
                <a:schemeClr val="dk1"/>
              </a:solidFill>
              <a:latin typeface="IBM Plex Sans KR"/>
              <a:ea typeface="IBM Plex Sans KR"/>
              <a:cs typeface="IBM Plex Sans KR"/>
              <a:sym typeface="IBM Plex Sans KR"/>
            </a:endParaRPr>
          </a:p>
        </p:txBody>
      </p:sp>
      <p:pic>
        <p:nvPicPr>
          <p:cNvPr descr="logo.png" id="149" name="Google Shape;149;p26"/>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150" name="Google Shape;150;p26"/>
          <p:cNvSpPr txBox="1"/>
          <p:nvPr/>
        </p:nvSpPr>
        <p:spPr>
          <a:xfrm>
            <a:off x="547425" y="2498938"/>
            <a:ext cx="1689600" cy="6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100">
                <a:solidFill>
                  <a:schemeClr val="dk1"/>
                </a:solidFill>
                <a:latin typeface="IBM Plex Sans"/>
                <a:ea typeface="IBM Plex Sans"/>
                <a:cs typeface="IBM Plex Sans"/>
                <a:sym typeface="IBM Plex Sans"/>
              </a:rPr>
              <a:t>Appendix </a:t>
            </a:r>
            <a:endParaRPr sz="11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ko" sz="1100">
                <a:solidFill>
                  <a:schemeClr val="dk1"/>
                </a:solidFill>
                <a:latin typeface="IBM Plex Sans"/>
                <a:ea typeface="IBM Plex Sans"/>
                <a:cs typeface="IBM Plex Sans"/>
                <a:sym typeface="IBM Plex Sans"/>
              </a:rPr>
              <a:t>A.	Episode</a:t>
            </a:r>
            <a:endParaRPr sz="11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ko" sz="1100">
                <a:solidFill>
                  <a:schemeClr val="dk1"/>
                </a:solidFill>
                <a:latin typeface="IBM Plex Sans"/>
                <a:ea typeface="IBM Plex Sans"/>
                <a:cs typeface="IBM Plex Sans"/>
                <a:sym typeface="IBM Plex Sans"/>
              </a:rPr>
              <a:t>B.	State Compare</a:t>
            </a:r>
            <a:endParaRPr sz="1100">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cxnSp>
        <p:nvCxnSpPr>
          <p:cNvPr id="156" name="Google Shape;156;p27"/>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57" name="Google Shape;157;p27"/>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58" name="Google Shape;158;p27"/>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159" name="Google Shape;159;p27"/>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1.	Episode 분석</a:t>
            </a:r>
            <a:endParaRPr b="1" i="0" sz="1800" u="none" cap="none" strike="noStrike">
              <a:solidFill>
                <a:srgbClr val="595959"/>
              </a:solidFill>
              <a:latin typeface="IBM Plex Sans"/>
              <a:ea typeface="IBM Plex Sans"/>
              <a:cs typeface="IBM Plex Sans"/>
              <a:sym typeface="IBM Plex Sans"/>
            </a:endParaRPr>
          </a:p>
        </p:txBody>
      </p:sp>
      <p:sp>
        <p:nvSpPr>
          <p:cNvPr id="160" name="Google Shape;160;p27"/>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161" name="Google Shape;161;p2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62" name="Google Shape;162;p27"/>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cxnSp>
        <p:nvCxnSpPr>
          <p:cNvPr id="168" name="Google Shape;168;p28"/>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69" name="Google Shape;169;p28"/>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70" name="Google Shape;170;p28"/>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71" name="Google Shape;171;p2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172" name="Google Shape;172;p28"/>
          <p:cNvSpPr txBox="1"/>
          <p:nvPr/>
        </p:nvSpPr>
        <p:spPr>
          <a:xfrm>
            <a:off x="547400" y="516043"/>
            <a:ext cx="1222200" cy="39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Episode :</a:t>
            </a:r>
            <a:endParaRPr b="0" i="0" sz="1800" u="none" cap="none" strike="noStrike">
              <a:solidFill>
                <a:schemeClr val="dk1"/>
              </a:solidFill>
              <a:latin typeface="IBM Plex Sans KR"/>
              <a:ea typeface="IBM Plex Sans KR"/>
              <a:cs typeface="IBM Plex Sans KR"/>
              <a:sym typeface="IBM Plex Sans KR"/>
            </a:endParaRPr>
          </a:p>
        </p:txBody>
      </p:sp>
      <p:sp>
        <p:nvSpPr>
          <p:cNvPr id="173" name="Google Shape;173;p28"/>
          <p:cNvSpPr txBox="1"/>
          <p:nvPr/>
        </p:nvSpPr>
        <p:spPr>
          <a:xfrm>
            <a:off x="540700" y="920397"/>
            <a:ext cx="8076000" cy="39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ko" sz="1200">
                <a:solidFill>
                  <a:schemeClr val="dk1"/>
                </a:solidFill>
                <a:latin typeface="IBM Plex Sans KR"/>
                <a:ea typeface="IBM Plex Sans KR"/>
                <a:cs typeface="IBM Plex Sans KR"/>
                <a:sym typeface="IBM Plex Sans KR"/>
              </a:rPr>
              <a:t>쇼핑 에이전트가 대화 흐름을 실제로 이해하고 대처하는 지 파악하기 위해 </a:t>
            </a:r>
            <a:r>
              <a:rPr b="1" lang="ko" sz="1200">
                <a:solidFill>
                  <a:schemeClr val="dk1"/>
                </a:solidFill>
                <a:latin typeface="IBM Plex Sans KR"/>
                <a:ea typeface="IBM Plex Sans KR"/>
                <a:cs typeface="IBM Plex Sans KR"/>
                <a:sym typeface="IBM Plex Sans KR"/>
              </a:rPr>
              <a:t>평가 이전</a:t>
            </a:r>
            <a:r>
              <a:rPr lang="ko" sz="1200">
                <a:solidFill>
                  <a:schemeClr val="dk1"/>
                </a:solidFill>
                <a:latin typeface="IBM Plex Sans KR"/>
                <a:ea typeface="IBM Plex Sans KR"/>
                <a:cs typeface="IBM Plex Sans KR"/>
                <a:sym typeface="IBM Plex Sans KR"/>
              </a:rPr>
              <a:t>에 </a:t>
            </a:r>
            <a:r>
              <a:rPr b="1" lang="ko" sz="1200">
                <a:solidFill>
                  <a:schemeClr val="dk1"/>
                </a:solidFill>
                <a:latin typeface="IBM Plex Sans KR"/>
                <a:ea typeface="IBM Plex Sans KR"/>
                <a:cs typeface="IBM Plex Sans KR"/>
                <a:sym typeface="IBM Plex Sans KR"/>
              </a:rPr>
              <a:t>사전에 설계</a:t>
            </a:r>
            <a:r>
              <a:rPr lang="ko" sz="1200">
                <a:solidFill>
                  <a:schemeClr val="dk1"/>
                </a:solidFill>
                <a:latin typeface="IBM Plex Sans KR"/>
                <a:ea typeface="IBM Plex Sans KR"/>
                <a:cs typeface="IBM Plex Sans KR"/>
                <a:sym typeface="IBM Plex Sans KR"/>
              </a:rPr>
              <a:t>한 20개의 에피소드 사용.</a:t>
            </a:r>
            <a:endParaRPr sz="1200">
              <a:solidFill>
                <a:schemeClr val="dk1"/>
              </a:solidFill>
              <a:latin typeface="IBM Plex Sans KR"/>
              <a:ea typeface="IBM Plex Sans KR"/>
              <a:cs typeface="IBM Plex Sans KR"/>
              <a:sym typeface="IBM Plex Sans KR"/>
            </a:endParaRPr>
          </a:p>
        </p:txBody>
      </p:sp>
      <p:pic>
        <p:nvPicPr>
          <p:cNvPr descr="logo.png" id="174" name="Google Shape;174;p28"/>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175" name="Google Shape;175;p28"/>
          <p:cNvSpPr txBox="1"/>
          <p:nvPr/>
        </p:nvSpPr>
        <p:spPr>
          <a:xfrm>
            <a:off x="540700" y="1834252"/>
            <a:ext cx="8076000" cy="88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Gold State, Full Memory, No-Memory 비교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6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각 에피소드 별로, 대화가 종료되는 턴에서 Full Memory와 No-Memory가 사전에 정의해놓은 Gold State와 비교하였을때, 특징을 얼마나 잘 추출하였는지 분석</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p:txBody>
      </p:sp>
      <p:sp>
        <p:nvSpPr>
          <p:cNvPr id="176" name="Google Shape;176;p28"/>
          <p:cNvSpPr txBox="1"/>
          <p:nvPr/>
        </p:nvSpPr>
        <p:spPr>
          <a:xfrm>
            <a:off x="765400" y="2874500"/>
            <a:ext cx="7857900" cy="8871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IBM Plex Sans"/>
              <a:buChar char="-"/>
            </a:pPr>
            <a:r>
              <a:rPr lang="ko" sz="1000">
                <a:solidFill>
                  <a:schemeClr val="dk1"/>
                </a:solidFill>
                <a:latin typeface="IBM Plex Sans"/>
                <a:ea typeface="IBM Plex Sans"/>
                <a:cs typeface="IBM Plex Sans"/>
                <a:sym typeface="IBM Plex Sans"/>
              </a:rPr>
              <a:t>Gold State : 평가 이전에 사전에 설계한, 각 턴에서 사용자 발화를 시스템이 어떻게 이해하고 상태에 반영해야 하는지 적어놓은 답안.</a:t>
            </a:r>
            <a:endParaRPr sz="1000">
              <a:solidFill>
                <a:schemeClr val="dk1"/>
              </a:solidFill>
              <a:latin typeface="IBM Plex Sans"/>
              <a:ea typeface="IBM Plex Sans"/>
              <a:cs typeface="IBM Plex Sans"/>
              <a:sym typeface="IBM Plex Sans"/>
            </a:endParaRPr>
          </a:p>
          <a:p>
            <a:pPr indent="-292100" lvl="0" marL="457200" rtl="0" algn="l">
              <a:spcBef>
                <a:spcPts val="0"/>
              </a:spcBef>
              <a:spcAft>
                <a:spcPts val="0"/>
              </a:spcAft>
              <a:buClr>
                <a:schemeClr val="dk1"/>
              </a:buClr>
              <a:buSzPts val="1000"/>
              <a:buFont typeface="IBM Plex Sans"/>
              <a:buChar char="-"/>
            </a:pPr>
            <a:r>
              <a:rPr lang="ko" sz="1000">
                <a:solidFill>
                  <a:schemeClr val="dk1"/>
                </a:solidFill>
                <a:latin typeface="IBM Plex Sans"/>
                <a:ea typeface="IBM Plex Sans"/>
                <a:cs typeface="IBM Plex Sans"/>
                <a:sym typeface="IBM Plex Sans"/>
              </a:rPr>
              <a:t>Full Memory : 이전 턴까지 결정론적으로 누적된 상태에 현재 변화분을 병합한 내용을 시스템이 처리.</a:t>
            </a:r>
            <a:endParaRPr sz="1000">
              <a:solidFill>
                <a:schemeClr val="dk1"/>
              </a:solidFill>
              <a:latin typeface="IBM Plex Sans"/>
              <a:ea typeface="IBM Plex Sans"/>
              <a:cs typeface="IBM Plex Sans"/>
              <a:sym typeface="IBM Plex Sans"/>
            </a:endParaRPr>
          </a:p>
          <a:p>
            <a:pPr indent="-292100" lvl="0" marL="457200" rtl="0" algn="l">
              <a:lnSpc>
                <a:spcPct val="115000"/>
              </a:lnSpc>
              <a:spcBef>
                <a:spcPts val="0"/>
              </a:spcBef>
              <a:spcAft>
                <a:spcPts val="0"/>
              </a:spcAft>
              <a:buClr>
                <a:schemeClr val="dk1"/>
              </a:buClr>
              <a:buSzPts val="1000"/>
              <a:buFont typeface="IBM Plex Sans"/>
              <a:buChar char="-"/>
            </a:pPr>
            <a:r>
              <a:rPr lang="ko" sz="1000">
                <a:solidFill>
                  <a:schemeClr val="dk1"/>
                </a:solidFill>
                <a:latin typeface="IBM Plex Sans"/>
                <a:ea typeface="IBM Plex Sans"/>
                <a:cs typeface="IBM Plex Sans"/>
                <a:sym typeface="IBM Plex Sans"/>
              </a:rPr>
              <a:t>No - Memory : 매 턴 고정된 환경 시드에서 다시 시작해 현재 변화분만 병합</a:t>
            </a:r>
            <a:endParaRPr sz="1000">
              <a:solidFill>
                <a:schemeClr val="dk1"/>
              </a:solidFill>
              <a:latin typeface="IBM Plex Sans"/>
              <a:ea typeface="IBM Plex Sans"/>
              <a:cs typeface="IBM Plex Sans"/>
              <a:sym typeface="IBM Plex Sans"/>
            </a:endParaRPr>
          </a:p>
          <a:p>
            <a:pPr indent="-292100" lvl="0" marL="457200" rtl="0" algn="l">
              <a:spcBef>
                <a:spcPts val="0"/>
              </a:spcBef>
              <a:spcAft>
                <a:spcPts val="0"/>
              </a:spcAft>
              <a:buClr>
                <a:schemeClr val="dk1"/>
              </a:buClr>
              <a:buSzPts val="1000"/>
              <a:buFont typeface="IBM Plex Sans"/>
              <a:buChar char="-"/>
            </a:pPr>
            <a:r>
              <a:t/>
            </a:r>
            <a:endParaRPr sz="1000">
              <a:solidFill>
                <a:schemeClr val="dk1"/>
              </a:solidFill>
              <a:latin typeface="IBM Plex Sans"/>
              <a:ea typeface="IBM Plex Sans"/>
              <a:cs typeface="IBM Plex Sans"/>
              <a:sym typeface="IBM Plex Sans"/>
            </a:endParaRPr>
          </a:p>
        </p:txBody>
      </p:sp>
      <p:sp>
        <p:nvSpPr>
          <p:cNvPr id="177" name="Google Shape;177;p28"/>
          <p:cNvSpPr txBox="1"/>
          <p:nvPr/>
        </p:nvSpPr>
        <p:spPr>
          <a:xfrm>
            <a:off x="6038175" y="1369225"/>
            <a:ext cx="25002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ko" sz="800">
                <a:solidFill>
                  <a:schemeClr val="dk1"/>
                </a:solidFill>
                <a:latin typeface="IBM Plex Sans"/>
                <a:ea typeface="IBM Plex Sans"/>
                <a:cs typeface="IBM Plex Sans"/>
                <a:sym typeface="IBM Plex Sans"/>
              </a:rPr>
              <a:t>20개의 에피소드 목록은  Appendix - A 참조</a:t>
            </a:r>
            <a:endParaRPr i="1" sz="800">
              <a:solidFill>
                <a:schemeClr val="dk1"/>
              </a:solidFill>
              <a:latin typeface="IBM Plex Sans"/>
              <a:ea typeface="IBM Plex Sans"/>
              <a:cs typeface="IBM Plex Sans"/>
              <a:sym typeface="IBM Plex Sans"/>
            </a:endParaRPr>
          </a:p>
        </p:txBody>
      </p:sp>
      <p:sp>
        <p:nvSpPr>
          <p:cNvPr id="178" name="Google Shape;178;p28"/>
          <p:cNvSpPr txBox="1"/>
          <p:nvPr/>
        </p:nvSpPr>
        <p:spPr>
          <a:xfrm>
            <a:off x="6116500" y="3998125"/>
            <a:ext cx="25002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ko" sz="800">
                <a:solidFill>
                  <a:schemeClr val="dk1"/>
                </a:solidFill>
                <a:latin typeface="IBM Plex Sans"/>
                <a:ea typeface="IBM Plex Sans"/>
                <a:cs typeface="IBM Plex Sans"/>
                <a:sym typeface="IBM Plex Sans"/>
              </a:rPr>
              <a:t>20개의 에피소드 </a:t>
            </a:r>
            <a:r>
              <a:rPr i="1" lang="ko" sz="800">
                <a:solidFill>
                  <a:schemeClr val="dk1"/>
                </a:solidFill>
                <a:latin typeface="IBM Plex Sans"/>
                <a:ea typeface="IBM Plex Sans"/>
                <a:cs typeface="IBM Plex Sans"/>
                <a:sym typeface="IBM Plex Sans"/>
              </a:rPr>
              <a:t>별 세부 비교는</a:t>
            </a:r>
            <a:r>
              <a:rPr i="1" lang="ko" sz="800">
                <a:solidFill>
                  <a:schemeClr val="dk1"/>
                </a:solidFill>
                <a:latin typeface="IBM Plex Sans"/>
                <a:ea typeface="IBM Plex Sans"/>
                <a:cs typeface="IBM Plex Sans"/>
                <a:sym typeface="IBM Plex Sans"/>
              </a:rPr>
              <a:t>  Appendix - B 참조</a:t>
            </a:r>
            <a:endParaRPr i="1" sz="800">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cxnSp>
        <p:nvCxnSpPr>
          <p:cNvPr id="184" name="Google Shape;184;p29"/>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85" name="Google Shape;185;p29"/>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86" name="Google Shape;186;p29"/>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87" name="Google Shape;187;p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88" name="Google Shape;188;p29"/>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189" name="Google Shape;189;p29"/>
          <p:cNvSpPr txBox="1"/>
          <p:nvPr/>
        </p:nvSpPr>
        <p:spPr>
          <a:xfrm>
            <a:off x="508000" y="641575"/>
            <a:ext cx="6045300" cy="51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Gold State, Full Memory, No-Memory </a:t>
            </a:r>
            <a:r>
              <a:rPr lang="ko" sz="1800">
                <a:solidFill>
                  <a:schemeClr val="dk1"/>
                </a:solidFill>
                <a:latin typeface="IBM Plex Sans KR"/>
                <a:ea typeface="IBM Plex Sans KR"/>
                <a:cs typeface="IBM Plex Sans KR"/>
                <a:sym typeface="IBM Plex Sans KR"/>
              </a:rPr>
              <a:t>최종 State </a:t>
            </a:r>
            <a:r>
              <a:rPr lang="ko" sz="1800">
                <a:solidFill>
                  <a:schemeClr val="dk1"/>
                </a:solidFill>
                <a:latin typeface="IBM Plex Sans KR"/>
                <a:ea typeface="IBM Plex Sans KR"/>
                <a:cs typeface="IBM Plex Sans KR"/>
                <a:sym typeface="IBM Plex Sans KR"/>
              </a:rPr>
              <a:t>비교 </a:t>
            </a:r>
            <a:r>
              <a:rPr lang="ko" sz="1800">
                <a:solidFill>
                  <a:schemeClr val="dk1"/>
                </a:solidFill>
                <a:latin typeface="IBM Plex Sans KR"/>
                <a:ea typeface="IBM Plex Sans KR"/>
                <a:cs typeface="IBM Plex Sans KR"/>
                <a:sym typeface="IBM Plex Sans KR"/>
              </a:rPr>
              <a:t>결과</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6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p:txBody>
      </p:sp>
      <p:graphicFrame>
        <p:nvGraphicFramePr>
          <p:cNvPr id="190" name="Google Shape;190;p29"/>
          <p:cNvGraphicFramePr/>
          <p:nvPr/>
        </p:nvGraphicFramePr>
        <p:xfrm>
          <a:off x="1167100" y="1257400"/>
          <a:ext cx="3000000" cy="3000000"/>
        </p:xfrm>
        <a:graphic>
          <a:graphicData uri="http://schemas.openxmlformats.org/drawingml/2006/table">
            <a:tbl>
              <a:tblPr>
                <a:noFill/>
                <a:tableStyleId>{E251F6B1-2602-4EF5-8B1F-02A5E1A71A59}</a:tableStyleId>
              </a:tblPr>
              <a:tblGrid>
                <a:gridCol w="956200"/>
                <a:gridCol w="956200"/>
                <a:gridCol w="956200"/>
                <a:gridCol w="956200"/>
                <a:gridCol w="956200"/>
                <a:gridCol w="956200"/>
                <a:gridCol w="956200"/>
              </a:tblGrid>
              <a:tr h="259050">
                <a:tc>
                  <a:txBody>
                    <a:bodyPr/>
                    <a:lstStyle/>
                    <a:p>
                      <a:pPr indent="0" lvl="0" marL="0" rtl="0" algn="ctr">
                        <a:spcBef>
                          <a:spcPts val="0"/>
                        </a:spcBef>
                        <a:spcAft>
                          <a:spcPts val="0"/>
                        </a:spcAft>
                        <a:buNone/>
                      </a:pPr>
                      <a:r>
                        <a:rPr lang="ko" sz="1000">
                          <a:latin typeface="IBM Plex Sans"/>
                          <a:ea typeface="IBM Plex Sans"/>
                          <a:cs typeface="IBM Plex Sans"/>
                          <a:sym typeface="IBM Plex Sans"/>
                        </a:rPr>
                        <a:t>Condition</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TP</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FP</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FN</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Precision</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Recall</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Final State F1</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9050">
                <a:tc>
                  <a:txBody>
                    <a:bodyPr/>
                    <a:lstStyle/>
                    <a:p>
                      <a:pPr indent="0" lvl="0" marL="0" rtl="0" algn="ctr">
                        <a:spcBef>
                          <a:spcPts val="0"/>
                        </a:spcBef>
                        <a:spcAft>
                          <a:spcPts val="0"/>
                        </a:spcAft>
                        <a:buNone/>
                      </a:pPr>
                      <a:r>
                        <a:rPr lang="ko" sz="1000">
                          <a:latin typeface="IBM Plex Sans"/>
                          <a:ea typeface="IBM Plex Sans"/>
                          <a:cs typeface="IBM Plex Sans"/>
                          <a:sym typeface="IBM Plex Sans"/>
                        </a:rPr>
                        <a:t>Full-Memory</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72</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15</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31</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0.828</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0.699</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0.758</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9050">
                <a:tc>
                  <a:txBody>
                    <a:bodyPr/>
                    <a:lstStyle/>
                    <a:p>
                      <a:pPr indent="0" lvl="0" marL="0" rtl="0" algn="ctr">
                        <a:spcBef>
                          <a:spcPts val="0"/>
                        </a:spcBef>
                        <a:spcAft>
                          <a:spcPts val="0"/>
                        </a:spcAft>
                        <a:buNone/>
                      </a:pPr>
                      <a:r>
                        <a:rPr lang="ko" sz="1000">
                          <a:latin typeface="IBM Plex Sans"/>
                          <a:ea typeface="IBM Plex Sans"/>
                          <a:cs typeface="IBM Plex Sans"/>
                          <a:sym typeface="IBM Plex Sans"/>
                        </a:rPr>
                        <a:t>No-Memory</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35</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2</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68</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0.946</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0.340</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0.500</a:t>
                      </a:r>
                      <a:endParaRPr sz="10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91" name="Google Shape;191;p29"/>
          <p:cNvSpPr txBox="1"/>
          <p:nvPr/>
        </p:nvSpPr>
        <p:spPr>
          <a:xfrm>
            <a:off x="533550" y="2574925"/>
            <a:ext cx="8115300" cy="962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Full은 정밀도와 재현율을 비교적 균형있게 유지하였으나, </a:t>
            </a:r>
            <a:r>
              <a:rPr b="1" lang="ko" sz="1200">
                <a:solidFill>
                  <a:schemeClr val="dk1"/>
                </a:solidFill>
                <a:latin typeface="IBM Plex Sans KR"/>
                <a:ea typeface="IBM Plex Sans KR"/>
                <a:cs typeface="IBM Plex Sans KR"/>
                <a:sym typeface="IBM Plex Sans KR"/>
              </a:rPr>
              <a:t>False Positive</a:t>
            </a:r>
            <a:r>
              <a:rPr lang="ko" sz="1200">
                <a:solidFill>
                  <a:schemeClr val="dk1"/>
                </a:solidFill>
                <a:latin typeface="IBM Plex Sans KR"/>
                <a:ea typeface="IBM Plex Sans KR"/>
                <a:cs typeface="IBM Plex Sans KR"/>
                <a:sym typeface="IBM Plex Sans KR"/>
              </a:rPr>
              <a:t>가 No-Memory보다 높게 포착</a:t>
            </a:r>
            <a:endParaRPr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No-Memory는 현재 턴의 변화분만 참고하는 설계 특성 상, 정밀도가 매우 높지만(0.946), 재현율이 낮음(0.340)</a:t>
            </a:r>
            <a:endParaRPr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Full은 th03, th12에서 Gold-State와 완전히 일치하였음.</a:t>
            </a:r>
            <a:endParaRPr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No-Memory는 th06에서는 Full과 동률을 기록하였으며, th09와 th18에서는 Full보다 State를 더 잘 기록하였다.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cxnSp>
        <p:nvCxnSpPr>
          <p:cNvPr id="197" name="Google Shape;197;p30"/>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98" name="Google Shape;198;p30"/>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99" name="Google Shape;199;p30"/>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00" name="Google Shape;200;p3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201" name="Google Shape;201;p30"/>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02" name="Google Shape;202;p30"/>
          <p:cNvSpPr txBox="1"/>
          <p:nvPr/>
        </p:nvSpPr>
        <p:spPr>
          <a:xfrm>
            <a:off x="508000" y="641575"/>
            <a:ext cx="6045300" cy="51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주요 에피소드</a:t>
            </a:r>
            <a:endParaRPr sz="1800">
              <a:solidFill>
                <a:schemeClr val="dk1"/>
              </a:solidFill>
              <a:latin typeface="IBM Plex Sans KR"/>
              <a:ea typeface="IBM Plex Sans KR"/>
              <a:cs typeface="IBM Plex Sans KR"/>
              <a:sym typeface="IBM Plex Sans KR"/>
            </a:endParaRPr>
          </a:p>
        </p:txBody>
      </p:sp>
      <p:graphicFrame>
        <p:nvGraphicFramePr>
          <p:cNvPr id="203" name="Google Shape;203;p30"/>
          <p:cNvGraphicFramePr/>
          <p:nvPr/>
        </p:nvGraphicFramePr>
        <p:xfrm>
          <a:off x="507967" y="1268880"/>
          <a:ext cx="3000000" cy="3000000"/>
        </p:xfrm>
        <a:graphic>
          <a:graphicData uri="http://schemas.openxmlformats.org/drawingml/2006/table">
            <a:tbl>
              <a:tblPr>
                <a:noFill/>
                <a:tableStyleId>{E251F6B1-2602-4EF5-8B1F-02A5E1A71A59}</a:tableStyleId>
              </a:tblPr>
              <a:tblGrid>
                <a:gridCol w="767125"/>
                <a:gridCol w="2806525"/>
                <a:gridCol w="2310775"/>
                <a:gridCol w="2119900"/>
              </a:tblGrid>
              <a:tr h="3548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ID</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Gold Final State</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Full-Memory 종료 상태</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No-Memory 종료 상</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535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th03</a:t>
                      </a:r>
                      <a:endParaRPr sz="800">
                        <a:latin typeface="IBM Plex Sans KR"/>
                        <a:ea typeface="IBM Plex Sans KR"/>
                        <a:cs typeface="IBM Plex Sans KR"/>
                        <a:sym typeface="IBM Plex Sans KR"/>
                      </a:endParaRPr>
                    </a:p>
                    <a:p>
                      <a:pPr indent="0" lvl="0" marL="0" rtl="0" algn="ctr">
                        <a:spcBef>
                          <a:spcPts val="0"/>
                        </a:spcBef>
                        <a:spcAft>
                          <a:spcPts val="0"/>
                        </a:spcAft>
                        <a:buNone/>
                      </a:pPr>
                      <a:r>
                        <a:rPr b="1" lang="ko" sz="800">
                          <a:latin typeface="IBM Plex Sans KR"/>
                          <a:ea typeface="IBM Plex Sans KR"/>
                          <a:cs typeface="IBM Plex Sans KR"/>
                          <a:sym typeface="IBM Plex Sans KR"/>
                        </a:rPr>
                        <a:t>(Full==Gold)</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a:ea typeface="IBM Plex Sans"/>
                          <a:cs typeface="IBM Plex Sans"/>
                          <a:sym typeface="IBM Plex Sans"/>
                        </a:rPr>
                        <a:t>activity_gaming, performance, budget≤$420, memory≥8GB</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ko" sz="800">
                          <a:solidFill>
                            <a:schemeClr val="dk1"/>
                          </a:solidFill>
                          <a:latin typeface="IBM Plex Sans KR"/>
                          <a:ea typeface="IBM Plex Sans KR"/>
                          <a:cs typeface="IBM Plex Sans KR"/>
                          <a:sym typeface="IBM Plex Sans KR"/>
                        </a:rPr>
                        <a:t>Gold와 정확히 일치</a:t>
                      </a:r>
                      <a:endParaRPr b="1"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memory≥8GB</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3475">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th06</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Clr>
                          <a:schemeClr val="dk1"/>
                        </a:buClr>
                        <a:buSzPts val="1100"/>
                        <a:buFont typeface="Arial"/>
                        <a:buNone/>
                      </a:pPr>
                      <a:r>
                        <a:rPr b="1" lang="ko" sz="800">
                          <a:solidFill>
                            <a:schemeClr val="dk1"/>
                          </a:solidFill>
                          <a:latin typeface="IBM Plex Sans KR"/>
                          <a:ea typeface="IBM Plex Sans KR"/>
                          <a:cs typeface="IBM Plex Sans KR"/>
                          <a:sym typeface="IBM Plex Sans KR"/>
                        </a:rPr>
                        <a:t>(Full-No 동률)</a:t>
                      </a:r>
                      <a:endParaRPr b="1"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a:ea typeface="IBM Plex Sans"/>
                          <a:cs typeface="IBM Plex Sans"/>
                          <a:sym typeface="IBM Plex Sans"/>
                        </a:rPr>
                        <a:t>activity_general, budget≤$140, rating≥4.3, price_value, review_signal</a:t>
                      </a:r>
                      <a:endParaRPr sz="800">
                        <a:solidFill>
                          <a:schemeClr val="dk1"/>
                        </a:solidFill>
                        <a:latin typeface="IBM Plex Sans"/>
                        <a:ea typeface="IBM Plex Sans"/>
                        <a:cs typeface="IBM Plex Sans"/>
                        <a:sym typeface="IBM Plex Sans"/>
                      </a:endParaRPr>
                    </a:p>
                    <a:p>
                      <a:pPr indent="0" lvl="0" marL="0" rtl="0" algn="ctr">
                        <a:spcBef>
                          <a:spcPts val="0"/>
                        </a:spcBef>
                        <a:spcAft>
                          <a:spcPts val="0"/>
                        </a:spcAft>
                        <a:buNone/>
                      </a:pPr>
                      <a:r>
                        <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budget, min_rating, review_signal 보존; activity_general, price_value 누락; 과잉 activity_video, goal_entertainment</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budget, review_signal</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70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th09</a:t>
                      </a:r>
                      <a:endParaRPr sz="800">
                        <a:latin typeface="IBM Plex Sans KR"/>
                        <a:ea typeface="IBM Plex Sans KR"/>
                        <a:cs typeface="IBM Plex Sans KR"/>
                        <a:sym typeface="IBM Plex Sans KR"/>
                      </a:endParaRPr>
                    </a:p>
                    <a:p>
                      <a:pPr indent="0" lvl="0" marL="0" rtl="0" algn="ctr">
                        <a:spcBef>
                          <a:spcPts val="0"/>
                        </a:spcBef>
                        <a:spcAft>
                          <a:spcPts val="0"/>
                        </a:spcAft>
                        <a:buNone/>
                      </a:pPr>
                      <a:r>
                        <a:rPr lang="ko" sz="800">
                          <a:latin typeface="IBM Plex Sans KR"/>
                          <a:ea typeface="IBM Plex Sans KR"/>
                          <a:cs typeface="IBM Plex Sans KR"/>
                          <a:sym typeface="IBM Plex Sans KR"/>
                        </a:rPr>
                        <a:t>(</a:t>
                      </a:r>
                      <a:r>
                        <a:rPr b="1" lang="ko" sz="800">
                          <a:latin typeface="IBM Plex Sans KR"/>
                          <a:ea typeface="IBM Plex Sans KR"/>
                          <a:cs typeface="IBM Plex Sans KR"/>
                          <a:sym typeface="IBM Plex Sans KR"/>
                        </a:rPr>
                        <a:t>No&gt;Full)</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activity_video, budget≤$370, portability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portability만 보존, activity_general 오추가; activity_video, budget 누락</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portability(</a:t>
                      </a:r>
                      <a:r>
                        <a:rPr b="1" lang="ko" sz="800">
                          <a:solidFill>
                            <a:schemeClr val="dk1"/>
                          </a:solidFill>
                        </a:rPr>
                        <a:t>과잉이 없어 Full보다 상회</a:t>
                      </a:r>
                      <a:r>
                        <a:rPr lang="ko" sz="800">
                          <a:solidFill>
                            <a:schemeClr val="dk1"/>
                          </a:solidFill>
                        </a:rPr>
                        <a:t>)</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57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th12</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activity_reading, display, budget≤$350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latin typeface="IBM Plex Sans KR"/>
                          <a:ea typeface="IBM Plex Sans KR"/>
                          <a:cs typeface="IBM Plex Sans KR"/>
                          <a:sym typeface="IBM Plex Sans KR"/>
                        </a:rPr>
                        <a:t>Gold와 정확히 일치</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마지막 턴이 </a:t>
                      </a:r>
                      <a:r>
                        <a:rPr b="1" lang="ko" sz="800">
                          <a:latin typeface="IBM Plex Sans KR"/>
                          <a:ea typeface="IBM Plex Sans KR"/>
                          <a:cs typeface="IBM Plex Sans KR"/>
                          <a:sym typeface="IBM Plex Sans KR"/>
                        </a:rPr>
                        <a:t>Inspect</a:t>
                      </a:r>
                      <a:r>
                        <a:rPr lang="ko" sz="800">
                          <a:latin typeface="IBM Plex Sans KR"/>
                          <a:ea typeface="IBM Plex Sans KR"/>
                          <a:cs typeface="IBM Plex Sans KR"/>
                          <a:sym typeface="IBM Plex Sans KR"/>
                        </a:rPr>
                        <a:t>라 State 수집 X</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57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th18</a:t>
                      </a:r>
                      <a:endParaRPr sz="800">
                        <a:latin typeface="IBM Plex Sans KR"/>
                        <a:ea typeface="IBM Plex Sans KR"/>
                        <a:cs typeface="IBM Plex Sans KR"/>
                        <a:sym typeface="IBM Plex Sans KR"/>
                      </a:endParaRPr>
                    </a:p>
                    <a:p>
                      <a:pPr indent="0" lvl="0" marL="0" rtl="0" algn="ctr">
                        <a:spcBef>
                          <a:spcPts val="0"/>
                        </a:spcBef>
                        <a:spcAft>
                          <a:spcPts val="0"/>
                        </a:spcAft>
                        <a:buNone/>
                      </a:pPr>
                      <a:r>
                        <a:rPr b="1" lang="ko" sz="800">
                          <a:solidFill>
                            <a:schemeClr val="dk1"/>
                          </a:solidFill>
                          <a:latin typeface="IBM Plex Sans KR"/>
                          <a:ea typeface="IBM Plex Sans KR"/>
                          <a:cs typeface="IBM Plex Sans KR"/>
                          <a:sym typeface="IBM Plex Sans KR"/>
                        </a:rPr>
                        <a:t>(Full-No 동률)</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goal_work_study, OS=Windows, budget≤$550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solidFill>
                            <a:schemeClr val="dk1"/>
                          </a:solidFill>
                        </a:rPr>
                        <a:t>첫 턴부터 실패</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budget≤$550</a:t>
                      </a:r>
                      <a:r>
                        <a:rPr b="1" lang="ko" sz="800">
                          <a:solidFill>
                            <a:schemeClr val="dk1"/>
                          </a:solidFill>
                        </a:rPr>
                        <a:t>(</a:t>
                      </a:r>
                      <a:r>
                        <a:rPr b="1" lang="ko" sz="800">
                          <a:solidFill>
                            <a:schemeClr val="dk1"/>
                          </a:solidFill>
                        </a:rPr>
                        <a:t>완주를 하여 Full보다 상회)</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cxnSp>
        <p:nvCxnSpPr>
          <p:cNvPr id="209" name="Google Shape;209;p31"/>
          <p:cNvCxnSpPr/>
          <p:nvPr/>
        </p:nvCxnSpPr>
        <p:spPr>
          <a:xfrm>
            <a:off x="518583" y="47625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10" name="Google Shape;210;p31"/>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11" name="Google Shape;211;p31"/>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12" name="Google Shape;212;p3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213" name="Google Shape;213;p31"/>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14" name="Google Shape;214;p31"/>
          <p:cNvSpPr txBox="1"/>
          <p:nvPr/>
        </p:nvSpPr>
        <p:spPr>
          <a:xfrm>
            <a:off x="508000" y="641575"/>
            <a:ext cx="6045300" cy="51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Gold State, Full Memory, No-Memory 최종 </a:t>
            </a:r>
            <a:r>
              <a:rPr lang="ko" sz="1800">
                <a:solidFill>
                  <a:schemeClr val="dk1"/>
                </a:solidFill>
                <a:latin typeface="IBM Plex Sans KR"/>
                <a:ea typeface="IBM Plex Sans KR"/>
                <a:cs typeface="IBM Plex Sans KR"/>
                <a:sym typeface="IBM Plex Sans KR"/>
              </a:rPr>
              <a:t>아이템 </a:t>
            </a:r>
            <a:r>
              <a:rPr lang="ko" sz="1800">
                <a:solidFill>
                  <a:schemeClr val="dk1"/>
                </a:solidFill>
                <a:latin typeface="IBM Plex Sans KR"/>
                <a:ea typeface="IBM Plex Sans KR"/>
                <a:cs typeface="IBM Plex Sans KR"/>
                <a:sym typeface="IBM Plex Sans KR"/>
              </a:rPr>
              <a:t>비교 결과</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6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p:txBody>
      </p:sp>
      <p:sp>
        <p:nvSpPr>
          <p:cNvPr id="215" name="Google Shape;215;p31"/>
          <p:cNvSpPr txBox="1"/>
          <p:nvPr/>
        </p:nvSpPr>
        <p:spPr>
          <a:xfrm>
            <a:off x="3996167" y="4303525"/>
            <a:ext cx="46188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ko" sz="600">
                <a:solidFill>
                  <a:schemeClr val="dk1"/>
                </a:solidFill>
                <a:latin typeface="IBM Plex Sans"/>
                <a:ea typeface="IBM Plex Sans"/>
                <a:cs typeface="IBM Plex Sans"/>
                <a:sym typeface="IBM Plex Sans"/>
              </a:rPr>
              <a:t>Query→Catalog→Semantic Review Retrieval→Cross-Encoder→Rank 파이프라인에 Gold State를 입력하여 얻은 Item을 비교한 결과임.</a:t>
            </a:r>
            <a:endParaRPr i="1" sz="600">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i="1" sz="600">
              <a:solidFill>
                <a:schemeClr val="dk1"/>
              </a:solidFill>
              <a:latin typeface="IBM Plex Sans"/>
              <a:ea typeface="IBM Plex Sans"/>
              <a:cs typeface="IBM Plex Sans"/>
              <a:sym typeface="IBM Plex Sans"/>
            </a:endParaRPr>
          </a:p>
        </p:txBody>
      </p:sp>
      <p:graphicFrame>
        <p:nvGraphicFramePr>
          <p:cNvPr id="216" name="Google Shape;216;p31"/>
          <p:cNvGraphicFramePr/>
          <p:nvPr/>
        </p:nvGraphicFramePr>
        <p:xfrm>
          <a:off x="1841500" y="1279467"/>
          <a:ext cx="3000000" cy="3000000"/>
        </p:xfrm>
        <a:graphic>
          <a:graphicData uri="http://schemas.openxmlformats.org/drawingml/2006/table">
            <a:tbl>
              <a:tblPr>
                <a:noFill/>
                <a:tableStyleId>{E251F6B1-2602-4EF5-8B1F-02A5E1A71A59}</a:tableStyleId>
              </a:tblPr>
              <a:tblGrid>
                <a:gridCol w="1763900"/>
                <a:gridCol w="1763900"/>
                <a:gridCol w="1763900"/>
              </a:tblGrid>
              <a:tr h="326300">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비교</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Gold State vs Full</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Gold State vs No - Memory</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6300">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에피소드</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15</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13</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6300">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Top-1 </a:t>
                      </a:r>
                      <a:r>
                        <a:rPr lang="ko" sz="1000">
                          <a:latin typeface="IBM Plex Sans KR"/>
                          <a:ea typeface="IBM Plex Sans KR"/>
                          <a:cs typeface="IBM Plex Sans KR"/>
                          <a:sym typeface="IBM Plex Sans KR"/>
                        </a:rPr>
                        <a:t>일치율</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0.333</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0.077</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6300">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Top-3 </a:t>
                      </a:r>
                      <a:r>
                        <a:rPr lang="ko" sz="1000">
                          <a:latin typeface="IBM Plex Sans KR"/>
                          <a:ea typeface="IBM Plex Sans KR"/>
                          <a:cs typeface="IBM Plex Sans KR"/>
                          <a:sym typeface="IBM Plex Sans KR"/>
                        </a:rPr>
                        <a:t>순서 완전 일치</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0.333</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0.000</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6300">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Top-3 </a:t>
                      </a:r>
                      <a:r>
                        <a:rPr lang="ko" sz="1000">
                          <a:latin typeface="IBM Plex Sans KR"/>
                          <a:ea typeface="IBM Plex Sans KR"/>
                          <a:cs typeface="IBM Plex Sans KR"/>
                          <a:sym typeface="IBM Plex Sans KR"/>
                        </a:rPr>
                        <a:t>집합 완전 일치</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0.400</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0.000</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26300">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평균 공통 상품 수</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1.600</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0.538</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cxnSp>
        <p:nvCxnSpPr>
          <p:cNvPr id="222" name="Google Shape;222;p32"/>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23" name="Google Shape;223;p32"/>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24" name="Google Shape;224;p32"/>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25" name="Google Shape;225;p3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226" name="Google Shape;226;p32"/>
          <p:cNvSpPr txBox="1"/>
          <p:nvPr/>
        </p:nvSpPr>
        <p:spPr>
          <a:xfrm>
            <a:off x="547425" y="661275"/>
            <a:ext cx="56757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Full-Memory vs No-Memory 단일 턴 상태 변화 추출 비교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27" name="Google Shape;227;p32"/>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228" name="Google Shape;228;p32"/>
          <p:cNvGraphicFramePr/>
          <p:nvPr/>
        </p:nvGraphicFramePr>
        <p:xfrm>
          <a:off x="1546733" y="1637561"/>
          <a:ext cx="3000000" cy="3000000"/>
        </p:xfrm>
        <a:graphic>
          <a:graphicData uri="http://schemas.openxmlformats.org/drawingml/2006/table">
            <a:tbl>
              <a:tblPr>
                <a:noFill/>
                <a:tableStyleId>{E251F6B1-2602-4EF5-8B1F-02A5E1A71A59}</a:tableStyleId>
              </a:tblPr>
              <a:tblGrid>
                <a:gridCol w="929425"/>
                <a:gridCol w="683875"/>
                <a:gridCol w="806650"/>
                <a:gridCol w="806650"/>
                <a:gridCol w="806650"/>
                <a:gridCol w="806650"/>
                <a:gridCol w="806650"/>
              </a:tblGrid>
              <a:tr h="3038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조건</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TP</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FP</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FN</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Precision</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Recall</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F1</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8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Full</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61</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57</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38</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0.517</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0.616</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0.562</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8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No-memory</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63</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18</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36</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0.778</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0.636</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0.700</a:t>
                      </a:r>
                      <a:endParaRPr sz="8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29" name="Google Shape;229;p32"/>
          <p:cNvSpPr txBox="1"/>
          <p:nvPr/>
        </p:nvSpPr>
        <p:spPr>
          <a:xfrm>
            <a:off x="507875" y="1111250"/>
            <a:ext cx="7683600" cy="49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단일 턴에서 Full - Memory가 No-Memory와 비교하였을때, 새로운 상태 변화를 잘못 잡아내는 현상이 포착됨.</a:t>
            </a:r>
            <a:endParaRPr sz="1200">
              <a:solidFill>
                <a:schemeClr val="dk1"/>
              </a:solidFill>
              <a:latin typeface="IBM Plex Sans KR"/>
              <a:ea typeface="IBM Plex Sans KR"/>
              <a:cs typeface="IBM Plex Sans KR"/>
              <a:sym typeface="IBM Plex Sans KR"/>
            </a:endParaRPr>
          </a:p>
        </p:txBody>
      </p:sp>
      <p:graphicFrame>
        <p:nvGraphicFramePr>
          <p:cNvPr id="230" name="Google Shape;230;p32"/>
          <p:cNvGraphicFramePr/>
          <p:nvPr/>
        </p:nvGraphicFramePr>
        <p:xfrm>
          <a:off x="1506325" y="3267175"/>
          <a:ext cx="3000000" cy="3000000"/>
        </p:xfrm>
        <a:graphic>
          <a:graphicData uri="http://schemas.openxmlformats.org/drawingml/2006/table">
            <a:tbl>
              <a:tblPr>
                <a:noFill/>
                <a:tableStyleId>{E251F6B1-2602-4EF5-8B1F-02A5E1A71A59}</a:tableStyleId>
              </a:tblPr>
              <a:tblGrid>
                <a:gridCol w="831000"/>
                <a:gridCol w="831000"/>
                <a:gridCol w="831000"/>
                <a:gridCol w="831000"/>
                <a:gridCol w="831000"/>
                <a:gridCol w="831000"/>
                <a:gridCol w="831000"/>
              </a:tblGrid>
              <a:tr h="441575">
                <a:tc>
                  <a:txBody>
                    <a:bodyPr/>
                    <a:lstStyle/>
                    <a:p>
                      <a:pPr indent="0" lvl="0" marL="0" rtl="0" algn="ctr">
                        <a:spcBef>
                          <a:spcPts val="0"/>
                        </a:spcBef>
                        <a:spcAft>
                          <a:spcPts val="0"/>
                        </a:spcAft>
                        <a:buNone/>
                      </a:pPr>
                      <a:r>
                        <a:rPr lang="ko" sz="800">
                          <a:latin typeface="IBM Plex Sans"/>
                          <a:ea typeface="IBM Plex Sans"/>
                          <a:cs typeface="IBM Plex Sans"/>
                          <a:sym typeface="IBM Plex Sans"/>
                        </a:rPr>
                        <a:t>Condition</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TP</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FP</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FN</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Precision</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Recall</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Final State F1</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41575">
                <a:tc>
                  <a:txBody>
                    <a:bodyPr/>
                    <a:lstStyle/>
                    <a:p>
                      <a:pPr indent="0" lvl="0" marL="0" rtl="0" algn="ctr">
                        <a:spcBef>
                          <a:spcPts val="0"/>
                        </a:spcBef>
                        <a:spcAft>
                          <a:spcPts val="0"/>
                        </a:spcAft>
                        <a:buNone/>
                      </a:pPr>
                      <a:r>
                        <a:rPr lang="ko" sz="800">
                          <a:latin typeface="IBM Plex Sans"/>
                          <a:ea typeface="IBM Plex Sans"/>
                          <a:cs typeface="IBM Plex Sans"/>
                          <a:sym typeface="IBM Plex Sans"/>
                        </a:rPr>
                        <a:t>Full-Memory</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72</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15</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31</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0.828</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0.699</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0.758</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575">
                <a:tc>
                  <a:txBody>
                    <a:bodyPr/>
                    <a:lstStyle/>
                    <a:p>
                      <a:pPr indent="0" lvl="0" marL="0" rtl="0" algn="ctr">
                        <a:spcBef>
                          <a:spcPts val="0"/>
                        </a:spcBef>
                        <a:spcAft>
                          <a:spcPts val="0"/>
                        </a:spcAft>
                        <a:buNone/>
                      </a:pPr>
                      <a:r>
                        <a:rPr lang="ko" sz="800">
                          <a:latin typeface="IBM Plex Sans"/>
                          <a:ea typeface="IBM Plex Sans"/>
                          <a:cs typeface="IBM Plex Sans"/>
                          <a:sym typeface="IBM Plex Sans"/>
                        </a:rPr>
                        <a:t>No-Memory</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35</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2</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68</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0.946</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0.340</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a:ea typeface="IBM Plex Sans"/>
                          <a:cs typeface="IBM Plex Sans"/>
                          <a:sym typeface="IBM Plex Sans"/>
                        </a:rPr>
                        <a:t>0.500</a:t>
                      </a:r>
                      <a:endParaRPr sz="800">
                        <a:latin typeface="IBM Plex Sans"/>
                        <a:ea typeface="IBM Plex Sans"/>
                        <a:cs typeface="IBM Plex Sans"/>
                        <a:sym typeface="IBM Plex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31" name="Google Shape;231;p32"/>
          <p:cNvSpPr txBox="1"/>
          <p:nvPr/>
        </p:nvSpPr>
        <p:spPr>
          <a:xfrm>
            <a:off x="507875" y="2679825"/>
            <a:ext cx="7748700" cy="47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Final State 비교 당시에도, Full-Memory는 최종 상태에 가짜 State(False Positive)를 포함하는 경우가 많았음.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cxnSp>
        <p:nvCxnSpPr>
          <p:cNvPr id="237" name="Google Shape;237;p33"/>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38" name="Google Shape;238;p33"/>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39" name="Google Shape;239;p33"/>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40" name="Google Shape;240;p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241" name="Google Shape;241;p33"/>
          <p:cNvSpPr txBox="1"/>
          <p:nvPr/>
        </p:nvSpPr>
        <p:spPr>
          <a:xfrm>
            <a:off x="547425" y="589639"/>
            <a:ext cx="8076000" cy="3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ko" sz="1800">
                <a:solidFill>
                  <a:schemeClr val="dk1"/>
                </a:solidFill>
                <a:latin typeface="IBM Plex Sans KR"/>
                <a:ea typeface="IBM Plex Sans KR"/>
                <a:cs typeface="IBM Plex Sans KR"/>
                <a:sym typeface="IBM Plex Sans KR"/>
              </a:rPr>
              <a:t>단일 턴에서 Full - Memory가 새로운 상태 변화를 잘못 잡아내는 현상</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42" name="Google Shape;242;p33"/>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43" name="Google Shape;243;p33"/>
          <p:cNvSpPr txBox="1"/>
          <p:nvPr/>
        </p:nvSpPr>
        <p:spPr>
          <a:xfrm>
            <a:off x="2850525" y="1019188"/>
            <a:ext cx="3238500" cy="8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chemeClr val="dk1"/>
                </a:solidFill>
                <a:latin typeface="IBM Plex Sans KR"/>
                <a:ea typeface="IBM Plex Sans KR"/>
                <a:cs typeface="IBM Plex Sans KR"/>
                <a:sym typeface="IBM Plex Sans KR"/>
              </a:rPr>
              <a:t>이전 Dialogue State를 LLM 문맥으로 제공</a:t>
            </a:r>
            <a:endParaRPr sz="8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800">
                <a:solidFill>
                  <a:schemeClr val="dk1"/>
                </a:solidFill>
                <a:latin typeface="IBM Plex Sans KR"/>
                <a:ea typeface="IBM Plex Sans KR"/>
                <a:cs typeface="IBM Plex Sans KR"/>
                <a:sym typeface="IBM Plex Sans KR"/>
              </a:rPr>
              <a:t>→ LLM이 이전 특징을 다시 출력에 채움</a:t>
            </a:r>
            <a:endParaRPr sz="8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800">
                <a:solidFill>
                  <a:schemeClr val="dk1"/>
                </a:solidFill>
                <a:latin typeface="IBM Plex Sans KR"/>
                <a:ea typeface="IBM Plex Sans KR"/>
                <a:cs typeface="IBM Plex Sans KR"/>
                <a:sym typeface="IBM Plex Sans KR"/>
              </a:rPr>
              <a:t>→ Validator가 non-null facet을 candidate로 자동으로 추가</a:t>
            </a:r>
            <a:endParaRPr sz="8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800">
                <a:solidFill>
                  <a:schemeClr val="dk1"/>
                </a:solidFill>
                <a:latin typeface="IBM Plex Sans KR"/>
                <a:ea typeface="IBM Plex Sans KR"/>
                <a:cs typeface="IBM Plex Sans KR"/>
                <a:sym typeface="IBM Plex Sans KR"/>
              </a:rPr>
              <a:t>→ State Manager가 값이 동일해도 changed-paths에 기록</a:t>
            </a:r>
            <a:endParaRPr sz="8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
              <a:solidFill>
                <a:schemeClr val="dk1"/>
              </a:solidFill>
              <a:latin typeface="IBM Plex Sans KR"/>
              <a:ea typeface="IBM Plex Sans KR"/>
              <a:cs typeface="IBM Plex Sans KR"/>
              <a:sym typeface="IBM Plex Sans KR"/>
            </a:endParaRPr>
          </a:p>
          <a:p>
            <a:pPr indent="0" lvl="0" marL="0" rtl="0" algn="l">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 evaluator가 현재 턴의 upsert로 계산(State Diff False Positive 발생)</a:t>
            </a:r>
            <a:endParaRPr sz="800">
              <a:solidFill>
                <a:schemeClr val="dk1"/>
              </a:solidFill>
              <a:latin typeface="IBM Plex Sans KR"/>
              <a:ea typeface="IBM Plex Sans KR"/>
              <a:cs typeface="IBM Plex Sans KR"/>
              <a:sym typeface="IBM Plex Sans KR"/>
            </a:endParaRPr>
          </a:p>
        </p:txBody>
      </p:sp>
      <p:graphicFrame>
        <p:nvGraphicFramePr>
          <p:cNvPr id="244" name="Google Shape;244;p33"/>
          <p:cNvGraphicFramePr/>
          <p:nvPr/>
        </p:nvGraphicFramePr>
        <p:xfrm>
          <a:off x="1267360" y="2008833"/>
          <a:ext cx="3000000" cy="3000000"/>
        </p:xfrm>
        <a:graphic>
          <a:graphicData uri="http://schemas.openxmlformats.org/drawingml/2006/table">
            <a:tbl>
              <a:tblPr>
                <a:noFill/>
                <a:tableStyleId>{E251F6B1-2602-4EF5-8B1F-02A5E1A71A59}</a:tableStyleId>
              </a:tblPr>
              <a:tblGrid>
                <a:gridCol w="760375"/>
                <a:gridCol w="2216375"/>
                <a:gridCol w="1467650"/>
                <a:gridCol w="2198800"/>
              </a:tblGrid>
              <a:tr h="2911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ID</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발화</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Gold_Diff</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State Diff</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75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th05- turn : 02</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“Android is mandatory”</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[operating_system]</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note_taking, for_myself, work or study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7575">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th05- turn : 03</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“Don’t exceed $350”</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[‘budget’]</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note_taking, for_myself, work or study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75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th09- turn : 02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“I can go as high as $370”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[‘budget’]</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activity_video</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75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th19- turn : 02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“Keep the total below $300”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[‘budget’]</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activity_general, audience_self, goal_work_study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6262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th19 - turn : 04</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“I’ve decide to buy this one.”</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None(구매 확정 발화)</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activity_general, audience_self, goal_work_study</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45" name="Google Shape;245;p33"/>
          <p:cNvSpPr txBox="1"/>
          <p:nvPr/>
        </p:nvSpPr>
        <p:spPr>
          <a:xfrm>
            <a:off x="143275" y="3911350"/>
            <a:ext cx="1017300" cy="2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chemeClr val="dk1"/>
                </a:solidFill>
                <a:latin typeface="IBM Plex Sans KR"/>
                <a:ea typeface="IBM Plex Sans KR"/>
                <a:cs typeface="IBM Plex Sans KR"/>
                <a:sym typeface="IBM Plex Sans KR"/>
              </a:rPr>
              <a:t>▶주요 사례</a:t>
            </a:r>
            <a:endParaRPr sz="800">
              <a:solidFill>
                <a:schemeClr val="dk1"/>
              </a:solidFill>
              <a:latin typeface="IBM Plex Sans KR"/>
              <a:ea typeface="IBM Plex Sans KR"/>
              <a:cs typeface="IBM Plex Sans KR"/>
              <a:sym typeface="IBM Plex Sans K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cxnSp>
        <p:nvCxnSpPr>
          <p:cNvPr id="251" name="Google Shape;251;p34"/>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52" name="Google Shape;252;p34"/>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53" name="Google Shape;253;p34"/>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254" name="Google Shape;254;p34"/>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2.	State Diff 개선</a:t>
            </a:r>
            <a:endParaRPr b="1" i="0" sz="1800" u="none" cap="none" strike="noStrike">
              <a:solidFill>
                <a:srgbClr val="595959"/>
              </a:solidFill>
              <a:latin typeface="IBM Plex Sans"/>
              <a:ea typeface="IBM Plex Sans"/>
              <a:cs typeface="IBM Plex Sans"/>
              <a:sym typeface="IBM Plex Sans"/>
            </a:endParaRPr>
          </a:p>
        </p:txBody>
      </p:sp>
      <p:sp>
        <p:nvSpPr>
          <p:cNvPr id="255" name="Google Shape;255;p34"/>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256" name="Google Shape;256;p3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257" name="Google Shape;257;p34"/>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cxnSp>
        <p:nvCxnSpPr>
          <p:cNvPr id="263" name="Google Shape;263;p35"/>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64" name="Google Shape;264;p35"/>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65" name="Google Shape;265;p35"/>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66" name="Google Shape;266;p3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267" name="Google Shape;267;p35"/>
          <p:cNvSpPr txBox="1"/>
          <p:nvPr/>
        </p:nvSpPr>
        <p:spPr>
          <a:xfrm>
            <a:off x="547425" y="661275"/>
            <a:ext cx="65160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Full Memory의 State Management 개선 필요성</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68" name="Google Shape;268;p35"/>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269" name="Google Shape;269;p35"/>
          <p:cNvGraphicFramePr/>
          <p:nvPr/>
        </p:nvGraphicFramePr>
        <p:xfrm>
          <a:off x="4141011" y="1938456"/>
          <a:ext cx="3000000" cy="3000000"/>
        </p:xfrm>
        <a:graphic>
          <a:graphicData uri="http://schemas.openxmlformats.org/drawingml/2006/table">
            <a:tbl>
              <a:tblPr>
                <a:noFill/>
                <a:tableStyleId>{E251F6B1-2602-4EF5-8B1F-02A5E1A71A59}</a:tableStyleId>
              </a:tblPr>
              <a:tblGrid>
                <a:gridCol w="1608700"/>
                <a:gridCol w="1608700"/>
                <a:gridCol w="1608700"/>
              </a:tblGrid>
              <a:tr h="303625">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비교</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Gold State vs Full</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Gold State vs No - Memory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625">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에피소드</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15</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13</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625">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Top-1 일치율</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0.333</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0.077</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625">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Top-3 순서 완전 일치</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0.333</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0.000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625">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Top-3 집합 완전 일치</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0.400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0.000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03625">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평균 공통 상품 수</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1.600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0.538</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270" name="Google Shape;270;p35"/>
          <p:cNvPicPr preferRelativeResize="0"/>
          <p:nvPr/>
        </p:nvPicPr>
        <p:blipFill>
          <a:blip r:embed="rId4">
            <a:alphaModFix/>
          </a:blip>
          <a:stretch>
            <a:fillRect/>
          </a:stretch>
        </p:blipFill>
        <p:spPr>
          <a:xfrm>
            <a:off x="204525" y="2093488"/>
            <a:ext cx="3768175" cy="1635375"/>
          </a:xfrm>
          <a:prstGeom prst="rect">
            <a:avLst/>
          </a:prstGeom>
          <a:noFill/>
          <a:ln>
            <a:noFill/>
          </a:ln>
        </p:spPr>
      </p:pic>
      <p:sp>
        <p:nvSpPr>
          <p:cNvPr id="271" name="Google Shape;271;p35"/>
          <p:cNvSpPr txBox="1"/>
          <p:nvPr/>
        </p:nvSpPr>
        <p:spPr>
          <a:xfrm>
            <a:off x="486850" y="1175050"/>
            <a:ext cx="6719700" cy="6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Full Memory는 파이프라인이 Gold-Policy, Gold-HardFilter로 나아가지 못하는 직접적인 원인이 되며,</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Gold Annotation에서 출력되는 추천 아이템과 Full Memory를 통해 출력되는 추천 아이템이 차이가 많이 난다는 사실이 검증 됨.</a:t>
            </a:r>
            <a:endParaRPr sz="1000">
              <a:solidFill>
                <a:schemeClr val="dk1"/>
              </a:solidFill>
              <a:latin typeface="IBM Plex Sans KR"/>
              <a:ea typeface="IBM Plex Sans KR"/>
              <a:cs typeface="IBM Plex Sans KR"/>
              <a:sym typeface="IBM Plex Sans K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cxnSp>
        <p:nvCxnSpPr>
          <p:cNvPr id="277" name="Google Shape;277;p36"/>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78" name="Google Shape;278;p36"/>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79" name="Google Shape;279;p36"/>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80" name="Google Shape;280;p3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281" name="Google Shape;281;p36"/>
          <p:cNvSpPr txBox="1"/>
          <p:nvPr/>
        </p:nvSpPr>
        <p:spPr>
          <a:xfrm>
            <a:off x="547425" y="661275"/>
            <a:ext cx="651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State Diff 개선 방향</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82" name="Google Shape;282;p36"/>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283" name="Google Shape;283;p36"/>
          <p:cNvGraphicFramePr/>
          <p:nvPr/>
        </p:nvGraphicFramePr>
        <p:xfrm>
          <a:off x="791900" y="1428750"/>
          <a:ext cx="3000000" cy="3000000"/>
        </p:xfrm>
        <a:graphic>
          <a:graphicData uri="http://schemas.openxmlformats.org/drawingml/2006/table">
            <a:tbl>
              <a:tblPr>
                <a:noFill/>
                <a:tableStyleId>{E251F6B1-2602-4EF5-8B1F-02A5E1A71A59}</a:tableStyleId>
              </a:tblPr>
              <a:tblGrid>
                <a:gridCol w="655075"/>
                <a:gridCol w="2848650"/>
                <a:gridCol w="3895875"/>
              </a:tblGrid>
              <a:tr h="352350">
                <a:tc>
                  <a:txBody>
                    <a:bodyPr/>
                    <a:lstStyle/>
                    <a:p>
                      <a:pPr indent="0" lvl="0" marL="0" rtl="0" algn="ctr">
                        <a:spcBef>
                          <a:spcPts val="0"/>
                        </a:spcBef>
                        <a:spcAft>
                          <a:spcPts val="0"/>
                        </a:spcAft>
                        <a:buNone/>
                      </a:pPr>
                      <a:r>
                        <a:rPr lang="ko" sz="1000">
                          <a:latin typeface="IBM Plex Sans"/>
                          <a:ea typeface="IBM Plex Sans"/>
                          <a:cs typeface="IBM Plex Sans"/>
                          <a:sym typeface="IBM Plex Sans"/>
                        </a:rPr>
                        <a:t>Label</a:t>
                      </a:r>
                      <a:endParaRPr sz="1000">
                        <a:latin typeface="IBM Plex Sans"/>
                        <a:ea typeface="IBM Plex Sans"/>
                        <a:cs typeface="IBM Plex Sans"/>
                        <a:sym typeface="IBM Plex Sans"/>
                      </a:endParaRPr>
                    </a:p>
                  </a:txBody>
                  <a:tcPr marT="91425" marB="91425" marR="91425" marL="91425"/>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Contents</a:t>
                      </a:r>
                      <a:endParaRPr sz="1000">
                        <a:latin typeface="IBM Plex Sans"/>
                        <a:ea typeface="IBM Plex Sans"/>
                        <a:cs typeface="IBM Plex Sans"/>
                        <a:sym typeface="IBM Plex Sans"/>
                      </a:endParaRPr>
                    </a:p>
                  </a:txBody>
                  <a:tcPr marT="91425" marB="91425" marR="91425" marL="91425"/>
                </a:tc>
                <a:tc>
                  <a:txBody>
                    <a:bodyPr/>
                    <a:lstStyle/>
                    <a:p>
                      <a:pPr indent="0" lvl="0" marL="0" rtl="0" algn="ctr">
                        <a:spcBef>
                          <a:spcPts val="0"/>
                        </a:spcBef>
                        <a:spcAft>
                          <a:spcPts val="0"/>
                        </a:spcAft>
                        <a:buNone/>
                      </a:pPr>
                      <a:r>
                        <a:rPr lang="ko" sz="1000">
                          <a:latin typeface="IBM Plex Sans"/>
                          <a:ea typeface="IBM Plex Sans"/>
                          <a:cs typeface="IBM Plex Sans"/>
                          <a:sym typeface="IBM Plex Sans"/>
                        </a:rPr>
                        <a:t>Reference</a:t>
                      </a:r>
                      <a:endParaRPr sz="1000">
                        <a:latin typeface="IBM Plex Sans"/>
                        <a:ea typeface="IBM Plex Sans"/>
                        <a:cs typeface="IBM Plex Sans"/>
                        <a:sym typeface="IBM Plex Sans"/>
                      </a:endParaRPr>
                    </a:p>
                  </a:txBody>
                  <a:tcPr marT="91425" marB="91425" marR="91425" marL="91425"/>
                </a:tc>
              </a:tr>
              <a:tr h="429400">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A</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LLM에게 이번 턴에서 정보의 상태가 직접적으로 질문</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lnSpc>
                          <a:spcPct val="115000"/>
                        </a:lnSpc>
                        <a:spcBef>
                          <a:spcPts val="1200"/>
                        </a:spcBef>
                        <a:spcAft>
                          <a:spcPts val="1200"/>
                        </a:spcAft>
                        <a:buNone/>
                      </a:pPr>
                      <a:r>
                        <a:rPr lang="ko" sz="700">
                          <a:solidFill>
                            <a:schemeClr val="dk1"/>
                          </a:solidFill>
                          <a:latin typeface="IBM Plex Sans"/>
                          <a:ea typeface="IBM Plex Sans"/>
                          <a:cs typeface="IBM Plex Sans"/>
                          <a:sym typeface="IBM Plex Sans"/>
                        </a:rPr>
                        <a:t>SOM-DST, </a:t>
                      </a:r>
                      <a:r>
                        <a:rPr i="1" lang="ko" sz="700">
                          <a:solidFill>
                            <a:schemeClr val="dk1"/>
                          </a:solidFill>
                          <a:latin typeface="IBM Plex Sans"/>
                          <a:ea typeface="IBM Plex Sans"/>
                          <a:cs typeface="IBM Plex Sans"/>
                          <a:sym typeface="IBM Plex Sans"/>
                        </a:rPr>
                        <a:t>Efficient Dialogue State Tracking by Selectively Overwriting Memory</a:t>
                      </a:r>
                      <a:r>
                        <a:rPr lang="ko" sz="700">
                          <a:solidFill>
                            <a:schemeClr val="dk1"/>
                          </a:solidFill>
                          <a:latin typeface="IBM Plex Sans"/>
                          <a:ea typeface="IBM Plex Sans"/>
                          <a:cs typeface="IBM Plex Sans"/>
                          <a:sym typeface="IBM Plex Sans"/>
                        </a:rPr>
                        <a:t> (ACL 2020)</a:t>
                      </a:r>
                      <a:endParaRPr sz="700">
                        <a:latin typeface="IBM Plex Sans"/>
                        <a:ea typeface="IBM Plex Sans"/>
                        <a:cs typeface="IBM Plex Sans"/>
                        <a:sym typeface="IBM Plex Sans"/>
                      </a:endParaRPr>
                    </a:p>
                  </a:txBody>
                  <a:tcPr marT="91425" marB="91425" marR="91425" marL="91425"/>
                </a:tc>
              </a:tr>
              <a:tr h="451975">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B</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LLM에게 이번 턴의 변화만 생성하도록 요구</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700">
                          <a:latin typeface="IBM Plex Sans"/>
                          <a:ea typeface="IBM Plex Sans"/>
                          <a:cs typeface="IBM Plex Sans"/>
                          <a:sym typeface="IBM Plex Sans"/>
                        </a:rPr>
                        <a:t>IC-DST, In-Context Learning for Few-Shot Dialogue State Tracking (EMNLP Findings 2022); Diable, Efficient Dialogue State Tracking as Operations on Tables (ACL Findings 2023)  </a:t>
                      </a:r>
                      <a:endParaRPr sz="700">
                        <a:latin typeface="IBM Plex Sans"/>
                        <a:ea typeface="IBM Plex Sans"/>
                        <a:cs typeface="IBM Plex Sans"/>
                        <a:sym typeface="IBM Plex Sans"/>
                      </a:endParaRPr>
                    </a:p>
                  </a:txBody>
                  <a:tcPr marT="91425" marB="91425" marR="91425" marL="91425"/>
                </a:tc>
              </a:tr>
              <a:tr h="381000">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C</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상태 재추출을 막지 말고, 의미상 변화가 없으면 폐기</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700">
                          <a:solidFill>
                            <a:schemeClr val="dk1"/>
                          </a:solidFill>
                          <a:latin typeface="IBM Plex Sans"/>
                          <a:ea typeface="IBM Plex Sans"/>
                          <a:cs typeface="IBM Plex Sans"/>
                          <a:sym typeface="IBM Plex Sans"/>
                        </a:rPr>
                        <a:t>principles from SOM-DST, Diable, ReacTOD</a:t>
                      </a:r>
                      <a:endParaRPr sz="700">
                        <a:latin typeface="IBM Plex Sans"/>
                        <a:ea typeface="IBM Plex Sans"/>
                        <a:cs typeface="IBM Plex Sans"/>
                        <a:sym typeface="IBM Plex Sans"/>
                      </a:endParaRPr>
                    </a:p>
                  </a:txBody>
                  <a:tcPr marT="91425" marB="91425" marR="91425" marL="91425"/>
                </a:tc>
              </a:tr>
              <a:tr h="338025">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D</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사전에 작성한 코드를 통해 현재 상태와 이전 상태의 차이를 계산</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lnSpc>
                          <a:spcPct val="115000"/>
                        </a:lnSpc>
                        <a:spcBef>
                          <a:spcPts val="1200"/>
                        </a:spcBef>
                        <a:spcAft>
                          <a:spcPts val="1200"/>
                        </a:spcAft>
                        <a:buNone/>
                      </a:pPr>
                      <a:r>
                        <a:rPr lang="ko" sz="700">
                          <a:latin typeface="IBM Plex Sans"/>
                          <a:ea typeface="IBM Plex Sans"/>
                          <a:cs typeface="IBM Plex Sans"/>
                          <a:sym typeface="IBM Plex Sans"/>
                        </a:rPr>
                        <a:t>Experimental control; no direct single-paper reproduction</a:t>
                      </a:r>
                      <a:endParaRPr sz="700">
                        <a:latin typeface="IBM Plex Sans"/>
                        <a:ea typeface="IBM Plex Sans"/>
                        <a:cs typeface="IBM Plex Sans"/>
                        <a:sym typeface="IBM Plex Sans"/>
                      </a:endParaRPr>
                    </a:p>
                  </a:txBody>
                  <a:tcPr marT="91425" marB="91425" marR="91425" marL="91425"/>
                </a:tc>
              </a:tr>
              <a:tr h="381000">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E</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LLM에게 제한된 과거 상태만 노출시켜서 과잉 추출을 막는다</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t/>
                      </a:r>
                      <a:endParaRPr sz="700">
                        <a:latin typeface="IBM Plex Sans"/>
                        <a:ea typeface="IBM Plex Sans"/>
                        <a:cs typeface="IBM Plex Sans"/>
                        <a:sym typeface="IBM Plex Sans"/>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cxnSp>
        <p:nvCxnSpPr>
          <p:cNvPr id="289" name="Google Shape;289;p37"/>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90" name="Google Shape;290;p37"/>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91" name="Google Shape;291;p37"/>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92" name="Google Shape;292;p3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293" name="Google Shape;293;p37"/>
          <p:cNvSpPr txBox="1"/>
          <p:nvPr/>
        </p:nvSpPr>
        <p:spPr>
          <a:xfrm>
            <a:off x="547425" y="661275"/>
            <a:ext cx="651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Label 별 벤치마크 비교</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94" name="Google Shape;294;p37"/>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295" name="Google Shape;295;p37"/>
          <p:cNvGraphicFramePr/>
          <p:nvPr/>
        </p:nvGraphicFramePr>
        <p:xfrm>
          <a:off x="952475" y="1428750"/>
          <a:ext cx="3000000" cy="3000000"/>
        </p:xfrm>
        <a:graphic>
          <a:graphicData uri="http://schemas.openxmlformats.org/drawingml/2006/table">
            <a:tbl>
              <a:tblPr>
                <a:noFill/>
                <a:tableStyleId>{E251F6B1-2602-4EF5-8B1F-02A5E1A71A59}</a:tableStyleId>
              </a:tblPr>
              <a:tblGrid>
                <a:gridCol w="1034150"/>
                <a:gridCol w="1034150"/>
                <a:gridCol w="1034150"/>
                <a:gridCol w="1034150"/>
                <a:gridCol w="1034150"/>
                <a:gridCol w="1034150"/>
                <a:gridCol w="1034150"/>
              </a:tblGrid>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Label</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State Diff F1</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Material FP</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Final  State F1</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Correction Recall</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Hard-filter</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Turn</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기존 Full-Memory</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0.601</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50</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0.763</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1.000</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0.679</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69/81</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A</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0.479</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9</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0.638</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0.333</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0.383</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31/81</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B</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0.455</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13</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0.584</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0.000</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0.383</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31/81</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C</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0.739</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17</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0.796</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1.000</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0.741</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71/81</a:t>
                      </a:r>
                      <a:endParaRPr b="1"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D</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0.361</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28</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0.444</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0.333</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0.210</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25/81</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E</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0.713</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31</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0.785</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0.667</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0.827</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75/81</a:t>
                      </a:r>
                      <a:endParaRPr b="1" sz="800">
                        <a:latin typeface="IBM Plex Sans KR"/>
                        <a:ea typeface="IBM Plex Sans KR"/>
                        <a:cs typeface="IBM Plex Sans KR"/>
                        <a:sym typeface="IBM Plex Sans K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cxnSp>
        <p:nvCxnSpPr>
          <p:cNvPr id="301" name="Google Shape;301;p38"/>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02" name="Google Shape;302;p38"/>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03" name="Google Shape;303;p38"/>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04" name="Google Shape;304;p3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05" name="Google Shape;305;p38"/>
          <p:cNvSpPr txBox="1"/>
          <p:nvPr/>
        </p:nvSpPr>
        <p:spPr>
          <a:xfrm>
            <a:off x="508000" y="608888"/>
            <a:ext cx="1124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분석 결과</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06" name="Google Shape;306;p38"/>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07" name="Google Shape;307;p38"/>
          <p:cNvSpPr txBox="1"/>
          <p:nvPr/>
        </p:nvSpPr>
        <p:spPr>
          <a:xfrm>
            <a:off x="481050" y="1034763"/>
            <a:ext cx="8181900" cy="12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LLM에게 노출시키는 정보를 조절하여, State Diff 문제를 해결한 Label E Method는 전반적으로 뛰어난 수치를 기록하였으나, 노출량을 제한 하였더니 Correlation을 읽는 퍼포먼스가 하락하였다.</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 이전 상태가 State Diff에 노출되는 것을 막지않고, 기록된 State Diff 중에서 유의미한 내용만 차이로 기록한 Label C Method는 대부분의 벤치마크에서 가장 높은 수치를 기록하였다. </a:t>
            </a:r>
            <a:endParaRPr sz="1200">
              <a:solidFill>
                <a:schemeClr val="dk1"/>
              </a:solidFill>
              <a:latin typeface="IBM Plex Sans KR"/>
              <a:ea typeface="IBM Plex Sans KR"/>
              <a:cs typeface="IBM Plex Sans KR"/>
              <a:sym typeface="IBM Plex Sans KR"/>
            </a:endParaRPr>
          </a:p>
        </p:txBody>
      </p:sp>
      <p:sp>
        <p:nvSpPr>
          <p:cNvPr id="308" name="Google Shape;308;p38"/>
          <p:cNvSpPr/>
          <p:nvPr/>
        </p:nvSpPr>
        <p:spPr>
          <a:xfrm>
            <a:off x="1714500" y="3103388"/>
            <a:ext cx="5048400" cy="94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p38"/>
          <p:cNvSpPr txBox="1"/>
          <p:nvPr/>
        </p:nvSpPr>
        <p:spPr>
          <a:xfrm>
            <a:off x="1733700" y="3141488"/>
            <a:ext cx="5010000" cy="8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기존  상태: budget ≤ $300,  발화 : “배터리 오래 갔으면 좋겠어요.”</a:t>
            </a:r>
            <a:endParaRPr sz="9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a:t>
            </a:r>
            <a:endParaRPr sz="9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기존 State Diff : battery = Long, </a:t>
            </a:r>
            <a:r>
              <a:rPr b="1" lang="ko" sz="900">
                <a:solidFill>
                  <a:schemeClr val="dk1"/>
                </a:solidFill>
                <a:latin typeface="IBM Plex Sans KR"/>
                <a:ea typeface="IBM Plex Sans KR"/>
                <a:cs typeface="IBM Plex Sans KR"/>
                <a:sym typeface="IBM Plex Sans KR"/>
              </a:rPr>
              <a:t>budget ≤ $300</a:t>
            </a:r>
            <a:endParaRPr b="1" sz="900">
              <a:solidFill>
                <a:schemeClr val="dk1"/>
              </a:solidFill>
              <a:latin typeface="IBM Plex Sans KR"/>
              <a:ea typeface="IBM Plex Sans KR"/>
              <a:cs typeface="IBM Plex Sans KR"/>
              <a:sym typeface="IBM Plex Sans KR"/>
            </a:endParaRPr>
          </a:p>
          <a:p>
            <a:pPr indent="0" lvl="0" marL="0" rtl="0" algn="ctr">
              <a:spcBef>
                <a:spcPts val="0"/>
              </a:spcBef>
              <a:spcAft>
                <a:spcPts val="0"/>
              </a:spcAft>
              <a:buClr>
                <a:schemeClr val="dk1"/>
              </a:buClr>
              <a:buSzPts val="1100"/>
              <a:buFont typeface="Arial"/>
              <a:buNone/>
            </a:pPr>
            <a:r>
              <a:rPr lang="ko" sz="900">
                <a:solidFill>
                  <a:schemeClr val="dk1"/>
                </a:solidFill>
                <a:latin typeface="IBM Plex Sans KR"/>
                <a:ea typeface="IBM Plex Sans KR"/>
                <a:cs typeface="IBM Plex Sans KR"/>
                <a:sym typeface="IBM Plex Sans KR"/>
              </a:rPr>
              <a:t>▼</a:t>
            </a:r>
            <a:endParaRPr sz="9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Method C : budget ≤ $300이 </a:t>
            </a:r>
            <a:r>
              <a:rPr b="1" lang="ko" sz="900">
                <a:solidFill>
                  <a:schemeClr val="dk1"/>
                </a:solidFill>
                <a:latin typeface="IBM Plex Sans KR"/>
                <a:ea typeface="IBM Plex Sans KR"/>
                <a:cs typeface="IBM Plex Sans KR"/>
                <a:sym typeface="IBM Plex Sans KR"/>
              </a:rPr>
              <a:t>이전 턴의 budget ≤ $300과 동일함을 인지</a:t>
            </a:r>
            <a:r>
              <a:rPr lang="ko" sz="900">
                <a:solidFill>
                  <a:schemeClr val="dk1"/>
                </a:solidFill>
                <a:latin typeface="IBM Plex Sans KR"/>
                <a:ea typeface="IBM Plex Sans KR"/>
                <a:cs typeface="IBM Plex Sans KR"/>
                <a:sym typeface="IBM Plex Sans KR"/>
              </a:rPr>
              <a:t>하고 battery = Long만 기록</a:t>
            </a:r>
            <a:endParaRPr sz="900">
              <a:solidFill>
                <a:schemeClr val="dk1"/>
              </a:solidFill>
              <a:latin typeface="IBM Plex Sans KR"/>
              <a:ea typeface="IBM Plex Sans KR"/>
              <a:cs typeface="IBM Plex Sans KR"/>
              <a:sym typeface="IBM Plex Sans K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cxnSp>
        <p:nvCxnSpPr>
          <p:cNvPr id="315" name="Google Shape;315;p39"/>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16" name="Google Shape;316;p39"/>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17" name="Google Shape;317;p39"/>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18" name="Google Shape;318;p3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19" name="Google Shape;319;p39"/>
          <p:cNvSpPr txBox="1"/>
          <p:nvPr/>
        </p:nvSpPr>
        <p:spPr>
          <a:xfrm>
            <a:off x="508000" y="608900"/>
            <a:ext cx="13494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Limitations</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20" name="Google Shape;320;p39"/>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21" name="Google Shape;321;p39"/>
          <p:cNvSpPr txBox="1"/>
          <p:nvPr/>
        </p:nvSpPr>
        <p:spPr>
          <a:xfrm>
            <a:off x="481050" y="1034775"/>
            <a:ext cx="8181900" cy="1327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State Diff로 넘어가기전에 검수를 진행하여 이전 상태가 State Diff에 넘어오는 것을 막는 방식으로, 이전 상태를 현재 상태의 변화분으로 인식하는 문제에 대한 근본적인 해결책이 되지는 못함.</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또한 C는 “이미 존재하는 상태를 새로운 변화로 다시 기록하는 오류”를 해결한다.</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 발화 단계에서 잘못 이해한 속성이 State에 남는 문제를 해결하지는 못함.  즉, Final State 정확도에 대한 해결책은 되지 못함.</a:t>
            </a:r>
            <a:endParaRPr sz="1000">
              <a:solidFill>
                <a:schemeClr val="dk1"/>
              </a:solidFill>
              <a:latin typeface="IBM Plex Sans KR"/>
              <a:ea typeface="IBM Plex Sans KR"/>
              <a:cs typeface="IBM Plex Sans KR"/>
              <a:sym typeface="IBM Plex Sans KR"/>
            </a:endParaRPr>
          </a:p>
        </p:txBody>
      </p:sp>
      <p:sp>
        <p:nvSpPr>
          <p:cNvPr id="322" name="Google Shape;322;p39"/>
          <p:cNvSpPr txBox="1"/>
          <p:nvPr/>
        </p:nvSpPr>
        <p:spPr>
          <a:xfrm>
            <a:off x="3967000" y="3527225"/>
            <a:ext cx="4656300" cy="7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000">
                <a:solidFill>
                  <a:schemeClr val="dk1"/>
                </a:solidFill>
                <a:latin typeface="Calibri"/>
                <a:ea typeface="Calibri"/>
                <a:cs typeface="Calibri"/>
                <a:sym typeface="Calibri"/>
              </a:rPr>
              <a:t>Final State F1을 동일한 UpStream으로 고정하였을때,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ko" sz="1000">
                <a:solidFill>
                  <a:schemeClr val="dk1"/>
                </a:solidFill>
                <a:latin typeface="Calibri"/>
                <a:ea typeface="Calibri"/>
                <a:cs typeface="Calibri"/>
                <a:sym typeface="Calibri"/>
              </a:rPr>
              <a:t>동일한 Final State F1을 기록, C 매커니즘이 Final State F1을  직접적으로 개선시키지는 못함을 보여줌.</a:t>
            </a:r>
            <a:endParaRPr sz="1000">
              <a:solidFill>
                <a:schemeClr val="dk1"/>
              </a:solidFill>
              <a:latin typeface="Calibri"/>
              <a:ea typeface="Calibri"/>
              <a:cs typeface="Calibri"/>
              <a:sym typeface="Calibri"/>
            </a:endParaRPr>
          </a:p>
        </p:txBody>
      </p:sp>
      <p:graphicFrame>
        <p:nvGraphicFramePr>
          <p:cNvPr id="323" name="Google Shape;323;p39"/>
          <p:cNvGraphicFramePr/>
          <p:nvPr/>
        </p:nvGraphicFramePr>
        <p:xfrm>
          <a:off x="1304900" y="2486025"/>
          <a:ext cx="3000000" cy="3000000"/>
        </p:xfrm>
        <a:graphic>
          <a:graphicData uri="http://schemas.openxmlformats.org/drawingml/2006/table">
            <a:tbl>
              <a:tblPr>
                <a:noFill/>
                <a:tableStyleId>{E251F6B1-2602-4EF5-8B1F-02A5E1A71A59}</a:tableStyleId>
              </a:tblPr>
              <a:tblGrid>
                <a:gridCol w="1034150"/>
                <a:gridCol w="1034150"/>
              </a:tblGrid>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Label</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Final  State F1</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기존 Full-Memory</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0.763</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C</a:t>
                      </a:r>
                      <a:endParaRPr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0.796</a:t>
                      </a:r>
                      <a:endParaRPr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Full-Memory</a:t>
                      </a:r>
                      <a:endParaRPr sz="800">
                        <a:latin typeface="IBM Plex Sans KR"/>
                        <a:ea typeface="IBM Plex Sans KR"/>
                        <a:cs typeface="IBM Plex Sans KR"/>
                        <a:sym typeface="IBM Plex Sans KR"/>
                      </a:endParaRPr>
                    </a:p>
                    <a:p>
                      <a:pPr indent="0" lvl="0" marL="0" rtl="0" algn="l">
                        <a:spcBef>
                          <a:spcPts val="0"/>
                        </a:spcBef>
                        <a:spcAft>
                          <a:spcPts val="0"/>
                        </a:spcAft>
                        <a:buNone/>
                      </a:pPr>
                      <a:r>
                        <a:rPr b="1" lang="ko" sz="800">
                          <a:latin typeface="IBM Plex Sans KR"/>
                          <a:ea typeface="IBM Plex Sans KR"/>
                          <a:cs typeface="IBM Plex Sans KR"/>
                          <a:sym typeface="IBM Plex Sans KR"/>
                        </a:rPr>
                        <a:t>(Fixed UpStream)</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0.752</a:t>
                      </a:r>
                      <a:endParaRPr b="1" sz="800">
                        <a:latin typeface="IBM Plex Sans KR"/>
                        <a:ea typeface="IBM Plex Sans KR"/>
                        <a:cs typeface="IBM Plex Sans KR"/>
                        <a:sym typeface="IBM Plex Sans KR"/>
                      </a:endParaRPr>
                    </a:p>
                  </a:txBody>
                  <a:tcPr marT="91425" marB="91425" marR="91425" marL="91425"/>
                </a:tc>
              </a:tr>
              <a:tr h="381000">
                <a:tc>
                  <a:txBody>
                    <a:bodyPr/>
                    <a:lstStyle/>
                    <a:p>
                      <a:pPr indent="0" lvl="0" marL="0" rtl="0" algn="l">
                        <a:spcBef>
                          <a:spcPts val="0"/>
                        </a:spcBef>
                        <a:spcAft>
                          <a:spcPts val="0"/>
                        </a:spcAft>
                        <a:buNone/>
                      </a:pPr>
                      <a:r>
                        <a:rPr lang="ko" sz="800">
                          <a:latin typeface="IBM Plex Sans KR"/>
                          <a:ea typeface="IBM Plex Sans KR"/>
                          <a:cs typeface="IBM Plex Sans KR"/>
                          <a:sym typeface="IBM Plex Sans KR"/>
                        </a:rPr>
                        <a:t>C</a:t>
                      </a:r>
                      <a:endParaRPr sz="800">
                        <a:latin typeface="IBM Plex Sans KR"/>
                        <a:ea typeface="IBM Plex Sans KR"/>
                        <a:cs typeface="IBM Plex Sans KR"/>
                        <a:sym typeface="IBM Plex Sans KR"/>
                      </a:endParaRPr>
                    </a:p>
                    <a:p>
                      <a:pPr indent="0" lvl="0" marL="0" rtl="0" algn="l">
                        <a:spcBef>
                          <a:spcPts val="0"/>
                        </a:spcBef>
                        <a:spcAft>
                          <a:spcPts val="0"/>
                        </a:spcAft>
                        <a:buNone/>
                      </a:pPr>
                      <a:r>
                        <a:rPr b="1" lang="ko" sz="800">
                          <a:latin typeface="IBM Plex Sans KR"/>
                          <a:ea typeface="IBM Plex Sans KR"/>
                          <a:cs typeface="IBM Plex Sans KR"/>
                          <a:sym typeface="IBM Plex Sans KR"/>
                        </a:rPr>
                        <a:t>(Fixed UpStream)</a:t>
                      </a:r>
                      <a:endParaRPr b="1" sz="800">
                        <a:latin typeface="IBM Plex Sans KR"/>
                        <a:ea typeface="IBM Plex Sans KR"/>
                        <a:cs typeface="IBM Plex Sans KR"/>
                        <a:sym typeface="IBM Plex Sans KR"/>
                      </a:endParaRPr>
                    </a:p>
                  </a:txBody>
                  <a:tcPr marT="91425" marB="91425" marR="91425" marL="91425"/>
                </a:tc>
                <a:tc>
                  <a:txBody>
                    <a:bodyPr/>
                    <a:lstStyle/>
                    <a:p>
                      <a:pPr indent="0" lvl="0" marL="0" rtl="0" algn="l">
                        <a:spcBef>
                          <a:spcPts val="0"/>
                        </a:spcBef>
                        <a:spcAft>
                          <a:spcPts val="0"/>
                        </a:spcAft>
                        <a:buNone/>
                      </a:pPr>
                      <a:r>
                        <a:rPr b="1" lang="ko" sz="800">
                          <a:latin typeface="IBM Plex Sans KR"/>
                          <a:ea typeface="IBM Plex Sans KR"/>
                          <a:cs typeface="IBM Plex Sans KR"/>
                          <a:sym typeface="IBM Plex Sans KR"/>
                        </a:rPr>
                        <a:t>0.752</a:t>
                      </a:r>
                      <a:endParaRPr b="1" sz="800">
                        <a:latin typeface="IBM Plex Sans KR"/>
                        <a:ea typeface="IBM Plex Sans KR"/>
                        <a:cs typeface="IBM Plex Sans KR"/>
                        <a:sym typeface="IBM Plex Sans KR"/>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cxnSp>
        <p:nvCxnSpPr>
          <p:cNvPr id="329" name="Google Shape;329;p40"/>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30" name="Google Shape;330;p40"/>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31" name="Google Shape;331;p40"/>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332" name="Google Shape;332;p40"/>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3</a:t>
            </a:r>
            <a:r>
              <a:rPr b="1" lang="ko" sz="1800">
                <a:solidFill>
                  <a:srgbClr val="595959"/>
                </a:solidFill>
                <a:latin typeface="IBM Plex Sans"/>
                <a:ea typeface="IBM Plex Sans"/>
                <a:cs typeface="IBM Plex Sans"/>
                <a:sym typeface="IBM Plex Sans"/>
              </a:rPr>
              <a:t>.	Hidden Intent </a:t>
            </a:r>
            <a:r>
              <a:rPr b="1" lang="ko" sz="1800">
                <a:solidFill>
                  <a:srgbClr val="595959"/>
                </a:solidFill>
                <a:latin typeface="IBM Plex Sans"/>
                <a:ea typeface="IBM Plex Sans"/>
                <a:cs typeface="IBM Plex Sans"/>
                <a:sym typeface="IBM Plex Sans"/>
              </a:rPr>
              <a:t>추출 실험</a:t>
            </a:r>
            <a:endParaRPr b="1" i="0" sz="1800" u="none" cap="none" strike="noStrike">
              <a:solidFill>
                <a:srgbClr val="595959"/>
              </a:solidFill>
              <a:latin typeface="IBM Plex Sans"/>
              <a:ea typeface="IBM Plex Sans"/>
              <a:cs typeface="IBM Plex Sans"/>
              <a:sym typeface="IBM Plex Sans"/>
            </a:endParaRPr>
          </a:p>
        </p:txBody>
      </p:sp>
      <p:sp>
        <p:nvSpPr>
          <p:cNvPr id="333" name="Google Shape;333;p40"/>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334" name="Google Shape;334;p4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335" name="Google Shape;335;p40"/>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cxnSp>
        <p:nvCxnSpPr>
          <p:cNvPr id="341" name="Google Shape;341;p41"/>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42" name="Google Shape;342;p41"/>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43" name="Google Shape;343;p41"/>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44" name="Google Shape;344;p4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45" name="Google Shape;345;p41"/>
          <p:cNvSpPr txBox="1"/>
          <p:nvPr/>
        </p:nvSpPr>
        <p:spPr>
          <a:xfrm>
            <a:off x="508000" y="608900"/>
            <a:ext cx="16263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Hidden Intent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46" name="Google Shape;346;p41"/>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47" name="Google Shape;347;p41"/>
          <p:cNvSpPr txBox="1"/>
          <p:nvPr/>
        </p:nvSpPr>
        <p:spPr>
          <a:xfrm>
            <a:off x="481050" y="1844255"/>
            <a:ext cx="8181900" cy="1276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Dialogue State : </a:t>
            </a:r>
            <a:r>
              <a:rPr b="1" lang="ko" sz="1200">
                <a:solidFill>
                  <a:schemeClr val="dk1"/>
                </a:solidFill>
                <a:latin typeface="IBM Plex Sans KR"/>
                <a:ea typeface="IBM Plex Sans KR"/>
                <a:cs typeface="IBM Plex Sans KR"/>
                <a:sym typeface="IBM Plex Sans KR"/>
              </a:rPr>
              <a:t>발화와 행동</a:t>
            </a:r>
            <a:r>
              <a:rPr lang="ko" sz="1200">
                <a:solidFill>
                  <a:schemeClr val="dk1"/>
                </a:solidFill>
                <a:latin typeface="IBM Plex Sans KR"/>
                <a:ea typeface="IBM Plex Sans KR"/>
                <a:cs typeface="IBM Plex Sans KR"/>
                <a:sym typeface="IBM Plex Sans KR"/>
              </a:rPr>
              <a:t>으로 </a:t>
            </a:r>
            <a:r>
              <a:rPr b="1" lang="ko" sz="1200">
                <a:solidFill>
                  <a:schemeClr val="dk1"/>
                </a:solidFill>
                <a:latin typeface="IBM Plex Sans KR"/>
                <a:ea typeface="IBM Plex Sans KR"/>
                <a:cs typeface="IBM Plex Sans KR"/>
                <a:sym typeface="IBM Plex Sans KR"/>
              </a:rPr>
              <a:t>관찰되어 확인</a:t>
            </a:r>
            <a:r>
              <a:rPr lang="ko" sz="1200">
                <a:solidFill>
                  <a:schemeClr val="dk1"/>
                </a:solidFill>
                <a:latin typeface="IBM Plex Sans KR"/>
                <a:ea typeface="IBM Plex Sans KR"/>
                <a:cs typeface="IBM Plex Sans KR"/>
                <a:sym typeface="IBM Plex Sans KR"/>
              </a:rPr>
              <a:t>된 내용</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Hidden Intent :  Dialogue State를 설명할 수 있으나, 직접적으로 확정되지는 않은 </a:t>
            </a:r>
            <a:r>
              <a:rPr b="1" lang="ko" sz="1200">
                <a:solidFill>
                  <a:schemeClr val="dk1"/>
                </a:solidFill>
                <a:latin typeface="IBM Plex Sans KR"/>
                <a:ea typeface="IBM Plex Sans KR"/>
                <a:cs typeface="IBM Plex Sans KR"/>
                <a:sym typeface="IBM Plex Sans KR"/>
              </a:rPr>
              <a:t>반증 가능</a:t>
            </a:r>
            <a:r>
              <a:rPr lang="ko" sz="1200">
                <a:solidFill>
                  <a:schemeClr val="dk1"/>
                </a:solidFill>
                <a:latin typeface="IBM Plex Sans KR"/>
                <a:ea typeface="IBM Plex Sans KR"/>
                <a:cs typeface="IBM Plex Sans KR"/>
                <a:sym typeface="IBM Plex Sans KR"/>
              </a:rPr>
              <a:t>한 가설.</a:t>
            </a:r>
            <a:endParaRPr sz="1200">
              <a:solidFill>
                <a:schemeClr val="dk1"/>
              </a:solidFill>
              <a:latin typeface="IBM Plex Sans KR"/>
              <a:ea typeface="IBM Plex Sans KR"/>
              <a:cs typeface="IBM Plex Sans KR"/>
              <a:sym typeface="IBM Plex Sans KR"/>
            </a:endParaRPr>
          </a:p>
        </p:txBody>
      </p:sp>
      <p:sp>
        <p:nvSpPr>
          <p:cNvPr id="348" name="Google Shape;348;p41"/>
          <p:cNvSpPr txBox="1"/>
          <p:nvPr/>
        </p:nvSpPr>
        <p:spPr>
          <a:xfrm>
            <a:off x="508625" y="1088875"/>
            <a:ext cx="81153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사용자가 직접적으로 말하지는 않았지만, 현재까지의 발화, 행동,제약, 트레이드 오프를 보았을 때 사용자의 선택을 설명하는</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잠재적인 구매 판단 기준 이나 상황적 동기</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cxnSp>
        <p:nvCxnSpPr>
          <p:cNvPr id="354" name="Google Shape;354;p42"/>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55" name="Google Shape;355;p42"/>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56" name="Google Shape;356;p42"/>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57" name="Google Shape;357;p4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58" name="Google Shape;358;p42"/>
          <p:cNvSpPr txBox="1"/>
          <p:nvPr/>
        </p:nvSpPr>
        <p:spPr>
          <a:xfrm>
            <a:off x="508000" y="573082"/>
            <a:ext cx="4184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Hidden Intent </a:t>
            </a:r>
            <a:r>
              <a:rPr lang="ko" sz="1800">
                <a:solidFill>
                  <a:schemeClr val="dk1"/>
                </a:solidFill>
                <a:latin typeface="IBM Plex Sans KR"/>
                <a:ea typeface="IBM Plex Sans KR"/>
                <a:cs typeface="IBM Plex Sans KR"/>
                <a:sym typeface="IBM Plex Sans KR"/>
              </a:rPr>
              <a:t>가설 실험 - Episode Level</a:t>
            </a: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59" name="Google Shape;359;p42"/>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60" name="Google Shape;360;p42"/>
          <p:cNvSpPr txBox="1"/>
          <p:nvPr/>
        </p:nvSpPr>
        <p:spPr>
          <a:xfrm>
            <a:off x="508625" y="1010075"/>
            <a:ext cx="59889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각 에피소드 종료 시점에서 Gold-Final State와 Full Memory State의 내용을 바탕으로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LLM(GPT-4o mini)을 활용하여 Hidden Intent 추론을 진행</a:t>
            </a:r>
            <a:endParaRPr sz="1200">
              <a:solidFill>
                <a:schemeClr val="dk1"/>
              </a:solidFill>
              <a:latin typeface="IBM Plex Sans KR"/>
              <a:ea typeface="IBM Plex Sans KR"/>
              <a:cs typeface="IBM Plex Sans KR"/>
              <a:sym typeface="IBM Plex Sans KR"/>
            </a:endParaRPr>
          </a:p>
        </p:txBody>
      </p:sp>
      <p:sp>
        <p:nvSpPr>
          <p:cNvPr id="361" name="Google Shape;361;p42"/>
          <p:cNvSpPr txBox="1"/>
          <p:nvPr/>
        </p:nvSpPr>
        <p:spPr>
          <a:xfrm>
            <a:off x="571500" y="1584590"/>
            <a:ext cx="8115300" cy="27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200">
                <a:solidFill>
                  <a:schemeClr val="dk1"/>
                </a:solidFill>
                <a:latin typeface="IBM Plex Sans KR"/>
                <a:ea typeface="IBM Plex Sans KR"/>
                <a:cs typeface="IBM Plex Sans KR"/>
                <a:sym typeface="IBM Plex Sans KR"/>
              </a:rPr>
              <a:t>[Result]</a:t>
            </a:r>
            <a:endParaRPr b="1"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Gold- Final State는 모든 에피소드에서 가설 생성에 성공하였으나, Full Memory는 17개의 에피소드에서 가설 생성.</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4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Final State Memory는 많은 내용을 담는 것 보다는 정확한 내용을 담는 것이 추론에 더 큰 영향을 미쳤음.</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4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사용자 발화: “Battery Life is worth a bit more weight.” (episode 1)</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Gold : battery → Hidden Intent : “배터리 지속 시간을 우선시 할 것”</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4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Full : max_weight, goal_entertainment → Hidden Intent : “가벼운 태블릿 우선시, entertainment application 사용 가능성”</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5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현재 State 표현 방식의 한계점</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5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	사용자 발화: “Durability wins over speed; slower is acceptable if it is sturdy.”(episode 14)</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4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	Gold : audience_child, budget, category_tablet, child_friendly, durability, event_gift</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5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	Hidden Intent : 태블릿 고려시 Durability을 우선시 하는 것을 추론하는데는 성공하였으나 Durability &gt; Performance Trade-off까지는 추론X</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(현재 State가 구조적으로 durability &gt; Performance 까지는 나타내지 못함)</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cxnSp>
        <p:nvCxnSpPr>
          <p:cNvPr id="367" name="Google Shape;367;p43"/>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68" name="Google Shape;368;p43"/>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69" name="Google Shape;369;p43"/>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70" name="Google Shape;370;p4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71" name="Google Shape;371;p43"/>
          <p:cNvSpPr txBox="1"/>
          <p:nvPr/>
        </p:nvSpPr>
        <p:spPr>
          <a:xfrm>
            <a:off x="508000" y="573082"/>
            <a:ext cx="4184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Hidden Intent 가설 실험 - Episode Level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72" name="Google Shape;372;p43"/>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73" name="Google Shape;373;p43"/>
          <p:cNvSpPr txBox="1"/>
          <p:nvPr/>
        </p:nvSpPr>
        <p:spPr>
          <a:xfrm>
            <a:off x="508625" y="1010075"/>
            <a:ext cx="5079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각 에피소드</a:t>
            </a:r>
            <a:r>
              <a:rPr lang="ko" sz="1200">
                <a:solidFill>
                  <a:schemeClr val="dk1"/>
                </a:solidFill>
                <a:latin typeface="IBM Plex Sans KR"/>
                <a:ea typeface="IBM Plex Sans KR"/>
                <a:cs typeface="IBM Plex Sans KR"/>
                <a:sym typeface="IBM Plex Sans KR"/>
              </a:rPr>
              <a:t>를 턴 단위로</a:t>
            </a:r>
            <a:r>
              <a:rPr lang="ko" sz="1200">
                <a:solidFill>
                  <a:schemeClr val="dk1"/>
                </a:solidFill>
                <a:latin typeface="IBM Plex Sans KR"/>
                <a:ea typeface="IBM Plex Sans KR"/>
                <a:cs typeface="IBM Plex Sans KR"/>
                <a:sym typeface="IBM Plex Sans KR"/>
              </a:rPr>
              <a:t> Gold- State와 Full Memory State의 내용을 바탕으로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LLM(GPT-4o mini)을 활용하여 Hidden Intent 추론을 진행  </a:t>
            </a:r>
            <a:endParaRPr sz="1200">
              <a:solidFill>
                <a:schemeClr val="dk1"/>
              </a:solidFill>
              <a:latin typeface="IBM Plex Sans KR"/>
              <a:ea typeface="IBM Plex Sans KR"/>
              <a:cs typeface="IBM Plex Sans KR"/>
              <a:sym typeface="IBM Plex Sans KR"/>
            </a:endParaRPr>
          </a:p>
        </p:txBody>
      </p:sp>
      <p:sp>
        <p:nvSpPr>
          <p:cNvPr id="374" name="Google Shape;374;p43"/>
          <p:cNvSpPr txBox="1"/>
          <p:nvPr/>
        </p:nvSpPr>
        <p:spPr>
          <a:xfrm>
            <a:off x="571500" y="1584593"/>
            <a:ext cx="8115300" cy="9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200">
                <a:solidFill>
                  <a:schemeClr val="dk1"/>
                </a:solidFill>
                <a:latin typeface="IBM Plex Sans KR"/>
                <a:ea typeface="IBM Plex Sans KR"/>
                <a:cs typeface="IBM Plex Sans KR"/>
                <a:sym typeface="IBM Plex Sans KR"/>
              </a:rPr>
              <a:t>[Result]						                                                                        </a:t>
            </a:r>
            <a:r>
              <a:rPr i="1" lang="ko" sz="600">
                <a:solidFill>
                  <a:schemeClr val="dk1"/>
                </a:solidFill>
                <a:latin typeface="IBM Plex Sans KR"/>
                <a:ea typeface="IBM Plex Sans KR"/>
                <a:cs typeface="IBM Plex Sans KR"/>
                <a:sym typeface="IBM Plex Sans KR"/>
              </a:rPr>
              <a:t>전체 턴 81개 중 Gold 와 Full 모두 완주한 65개의 턴에 대한 분석 결과</a:t>
            </a:r>
            <a:endParaRPr i="1" sz="6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에피소드 별 Gold, Full Memory DST 차이는 대부분 초기에 발생</a:t>
            </a:r>
            <a:endParaRPr sz="1200">
              <a:solidFill>
                <a:schemeClr val="dk1"/>
              </a:solidFill>
              <a:latin typeface="IBM Plex Sans KR"/>
              <a:ea typeface="IBM Plex Sans KR"/>
              <a:cs typeface="IBM Plex Sans KR"/>
              <a:sym typeface="IBM Plex Sans KR"/>
            </a:endParaRPr>
          </a:p>
          <a:p>
            <a:pPr indent="-292100" lvl="1" marL="914400" rtl="0" algn="l">
              <a:spcBef>
                <a:spcPts val="0"/>
              </a:spcBef>
              <a:spcAft>
                <a:spcPts val="0"/>
              </a:spcAft>
              <a:buClr>
                <a:schemeClr val="dk1"/>
              </a:buClr>
              <a:buSzPts val="1000"/>
              <a:buFont typeface="IBM Plex Sans KR"/>
              <a:buChar char="○"/>
            </a:pPr>
            <a:r>
              <a:rPr lang="ko" sz="1000">
                <a:solidFill>
                  <a:schemeClr val="dk1"/>
                </a:solidFill>
                <a:latin typeface="IBM Plex Sans KR"/>
                <a:ea typeface="IBM Plex Sans KR"/>
                <a:cs typeface="IBM Plex Sans KR"/>
                <a:sym typeface="IBM Plex Sans KR"/>
              </a:rPr>
              <a:t>DST 차이가 발생한 15개의 에피소드 중 10개의 에피소드가 1턴에서 발생한 State 차이가 수정되지 않고 누적되어                             </a:t>
            </a:r>
            <a:endParaRPr sz="1000">
              <a:solidFill>
                <a:schemeClr val="dk1"/>
              </a:solidFill>
              <a:latin typeface="IBM Plex Sans KR"/>
              <a:ea typeface="IBM Plex Sans KR"/>
              <a:cs typeface="IBM Plex Sans KR"/>
              <a:sym typeface="IBM Plex Sans KR"/>
            </a:endParaRPr>
          </a:p>
          <a:p>
            <a:pPr indent="0" lvl="0" marL="914400" rtl="0" algn="l">
              <a:spcBef>
                <a:spcPts val="0"/>
              </a:spcBef>
              <a:spcAft>
                <a:spcPts val="0"/>
              </a:spcAft>
              <a:buNone/>
            </a:pPr>
            <a:r>
              <a:rPr lang="ko" sz="1000">
                <a:solidFill>
                  <a:schemeClr val="dk1"/>
                </a:solidFill>
                <a:latin typeface="IBM Plex Sans KR"/>
                <a:ea typeface="IBM Plex Sans KR"/>
                <a:cs typeface="IBM Plex Sans KR"/>
                <a:sym typeface="IBM Plex Sans KR"/>
              </a:rPr>
              <a:t>상품 추천, Hidden Intent 추론 등에 영향을 주었음</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p:txBody>
      </p:sp>
      <p:sp>
        <p:nvSpPr>
          <p:cNvPr id="375" name="Google Shape;375;p43"/>
          <p:cNvSpPr txBox="1"/>
          <p:nvPr/>
        </p:nvSpPr>
        <p:spPr>
          <a:xfrm>
            <a:off x="5955487" y="1382234"/>
            <a:ext cx="27834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ko" sz="600">
                <a:solidFill>
                  <a:schemeClr val="dk1"/>
                </a:solidFill>
                <a:latin typeface="IBM Plex Sans KR"/>
                <a:ea typeface="IBM Plex Sans KR"/>
                <a:cs typeface="IBM Plex Sans KR"/>
                <a:sym typeface="IBM Plex Sans KR"/>
              </a:rPr>
              <a:t>세부 내용은 Tablet-domain hidden-intent probe, turn level (exploratory) 참고</a:t>
            </a:r>
            <a:endParaRPr i="1" sz="600">
              <a:solidFill>
                <a:schemeClr val="dk1"/>
              </a:solidFill>
              <a:latin typeface="Calibri"/>
              <a:ea typeface="Calibri"/>
              <a:cs typeface="Calibri"/>
              <a:sym typeface="Calibri"/>
            </a:endParaRPr>
          </a:p>
        </p:txBody>
      </p:sp>
      <p:graphicFrame>
        <p:nvGraphicFramePr>
          <p:cNvPr id="376" name="Google Shape;376;p43"/>
          <p:cNvGraphicFramePr/>
          <p:nvPr/>
        </p:nvGraphicFramePr>
        <p:xfrm>
          <a:off x="2358300" y="2658261"/>
          <a:ext cx="3000000" cy="3000000"/>
        </p:xfrm>
        <a:graphic>
          <a:graphicData uri="http://schemas.openxmlformats.org/drawingml/2006/table">
            <a:tbl>
              <a:tblPr>
                <a:noFill/>
                <a:tableStyleId>{E251F6B1-2602-4EF5-8B1F-02A5E1A71A59}</a:tableStyleId>
              </a:tblPr>
              <a:tblGrid>
                <a:gridCol w="2420675"/>
                <a:gridCol w="1515975"/>
              </a:tblGrid>
              <a:tr h="295625">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Gold - Full Memory DST 차이 발생 시점</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에피소드 개수</a:t>
                      </a:r>
                      <a:endParaRPr sz="1000">
                        <a:latin typeface="IBM Plex Sans KR"/>
                        <a:ea typeface="IBM Plex Sans KR"/>
                        <a:cs typeface="IBM Plex Sans KR"/>
                        <a:sym typeface="IBM Plex Sans KR"/>
                      </a:endParaRPr>
                    </a:p>
                  </a:txBody>
                  <a:tcPr marT="91425" marB="91425" marR="91425" marL="91425"/>
                </a:tc>
              </a:tr>
              <a:tr h="295625">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1 - turn</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10개</a:t>
                      </a:r>
                      <a:endParaRPr sz="1000">
                        <a:latin typeface="IBM Plex Sans KR"/>
                        <a:ea typeface="IBM Plex Sans KR"/>
                        <a:cs typeface="IBM Plex Sans KR"/>
                        <a:sym typeface="IBM Plex Sans KR"/>
                      </a:endParaRPr>
                    </a:p>
                  </a:txBody>
                  <a:tcPr marT="91425" marB="91425" marR="91425" marL="91425"/>
                </a:tc>
              </a:tr>
              <a:tr h="295625">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2 - turn</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2개</a:t>
                      </a:r>
                      <a:endParaRPr sz="1000">
                        <a:latin typeface="IBM Plex Sans KR"/>
                        <a:ea typeface="IBM Plex Sans KR"/>
                        <a:cs typeface="IBM Plex Sans KR"/>
                        <a:sym typeface="IBM Plex Sans KR"/>
                      </a:endParaRPr>
                    </a:p>
                  </a:txBody>
                  <a:tcPr marT="91425" marB="91425" marR="91425" marL="91425"/>
                </a:tc>
              </a:tr>
              <a:tr h="295625">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3 - turn</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2개</a:t>
                      </a:r>
                      <a:endParaRPr sz="1000">
                        <a:latin typeface="IBM Plex Sans KR"/>
                        <a:ea typeface="IBM Plex Sans KR"/>
                        <a:cs typeface="IBM Plex Sans KR"/>
                        <a:sym typeface="IBM Plex Sans KR"/>
                      </a:endParaRPr>
                    </a:p>
                  </a:txBody>
                  <a:tcPr marT="91425" marB="91425" marR="91425" marL="91425"/>
                </a:tc>
              </a:tr>
              <a:tr h="295625">
                <a:tc>
                  <a:txBody>
                    <a:bodyPr/>
                    <a:lstStyle/>
                    <a:p>
                      <a:pPr indent="0" lvl="0" marL="0" rtl="0" algn="l">
                        <a:spcBef>
                          <a:spcPts val="0"/>
                        </a:spcBef>
                        <a:spcAft>
                          <a:spcPts val="0"/>
                        </a:spcAft>
                        <a:buNone/>
                      </a:pPr>
                      <a:r>
                        <a:rPr lang="ko" sz="1000">
                          <a:latin typeface="IBM Plex Sans KR"/>
                          <a:ea typeface="IBM Plex Sans KR"/>
                          <a:cs typeface="IBM Plex Sans KR"/>
                          <a:sym typeface="IBM Plex Sans KR"/>
                        </a:rPr>
                        <a:t>4 - turn</a:t>
                      </a:r>
                      <a:endParaRPr sz="1000">
                        <a:latin typeface="IBM Plex Sans KR"/>
                        <a:ea typeface="IBM Plex Sans KR"/>
                        <a:cs typeface="IBM Plex Sans KR"/>
                        <a:sym typeface="IBM Plex Sans KR"/>
                      </a:endParaRPr>
                    </a:p>
                  </a:txBody>
                  <a:tcPr marT="91425" marB="91425" marR="91425" marL="91425"/>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1개</a:t>
                      </a:r>
                      <a:endParaRPr sz="1000">
                        <a:latin typeface="IBM Plex Sans KR"/>
                        <a:ea typeface="IBM Plex Sans KR"/>
                        <a:cs typeface="IBM Plex Sans KR"/>
                        <a:sym typeface="IBM Plex Sans KR"/>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cxnSp>
        <p:nvCxnSpPr>
          <p:cNvPr id="382" name="Google Shape;382;p44"/>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83" name="Google Shape;383;p44"/>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84" name="Google Shape;384;p44"/>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85" name="Google Shape;385;p4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86" name="Google Shape;386;p44"/>
          <p:cNvSpPr txBox="1"/>
          <p:nvPr/>
        </p:nvSpPr>
        <p:spPr>
          <a:xfrm>
            <a:off x="508000" y="573082"/>
            <a:ext cx="4184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Hidden Intent 가설 실험 - Episode Level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87" name="Google Shape;387;p44"/>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88" name="Google Shape;388;p44"/>
          <p:cNvSpPr txBox="1"/>
          <p:nvPr/>
        </p:nvSpPr>
        <p:spPr>
          <a:xfrm>
            <a:off x="571500" y="1078775"/>
            <a:ext cx="8115300" cy="2998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정보의 양보다는 내용이 더 중요</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State 별 평균 ID 개수 - Gold : 3.74, Full : 3.80</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	</a:t>
            </a:r>
            <a:r>
              <a:rPr lang="ko" sz="1000">
                <a:solidFill>
                  <a:schemeClr val="dk1"/>
                </a:solidFill>
                <a:latin typeface="IBM Plex Sans KR"/>
                <a:ea typeface="IBM Plex Sans KR"/>
                <a:cs typeface="IBM Plex Sans KR"/>
                <a:sym typeface="IBM Plex Sans KR"/>
              </a:rPr>
              <a:t>Gold 와 Full - Memory가 담고 있는 정보의 양은 비슷하였지만, 저장된 정보가 이후 Hidden Intent 추론과 Trade - Off 해석에 영향을 미쳤음.</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Dialogue State 표현 방식 및 단순 LLM Based Hidden Intent 추론의 한계 노출</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5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th19 - turn 3 : Gold State Diff - action : inspect_current</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Gold DST based Hidden Intent : 아직 상품을 탐색하지는 않음. </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 Full DST based Hidden Intent : 최소 1개 이상의 상품 탐색. </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th19 - turn 4 : Gold State Diff - action : purchase_current</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Gold DST based Hidden Intent : 아직 상품을 구매 하지는 않음.</a:t>
            </a:r>
            <a:endParaRPr sz="12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rPr lang="ko" sz="1200">
                <a:solidFill>
                  <a:schemeClr val="dk1"/>
                </a:solidFill>
                <a:latin typeface="IBM Plex Sans KR"/>
                <a:ea typeface="IBM Plex Sans KR"/>
                <a:cs typeface="IBM Plex Sans KR"/>
                <a:sym typeface="IBM Plex Sans KR"/>
              </a:rPr>
              <a:t>/ Full DST based Hidden Intent : 최소 1개 이사의 상품을 탐색 및 구매</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cxnSp>
        <p:nvCxnSpPr>
          <p:cNvPr id="394" name="Google Shape;394;p45"/>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95" name="Google Shape;395;p45"/>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96" name="Google Shape;396;p45"/>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97" name="Google Shape;397;p4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398" name="Google Shape;398;p45"/>
          <p:cNvSpPr txBox="1"/>
          <p:nvPr/>
        </p:nvSpPr>
        <p:spPr>
          <a:xfrm>
            <a:off x="508000" y="573082"/>
            <a:ext cx="4184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Conclusion</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99" name="Google Shape;399;p45"/>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400" name="Google Shape;400;p45"/>
          <p:cNvSpPr txBox="1"/>
          <p:nvPr/>
        </p:nvSpPr>
        <p:spPr>
          <a:xfrm>
            <a:off x="571500" y="1078775"/>
            <a:ext cx="8115300" cy="2998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현재 시스템의 한계는 단순히 DialogueState를 정확하게 추출하지 못하는 데 그치지 않는다. 초기에 잘못 추출한 State가 누적 상태에서 지속되는 문제와 함께, trade-off, inspect/purchase event와 같은 관계적·행동적 정보를 충분히 보존하지 못하는 State Representation의 구조적 한계도 존재한다. 따라서 hidden intent를 안정적으로 추론하기 위해서는 State Tracking 정확도 개선과 더불어 relation, event history, uncertainty를 명시적으로 보존하는 richer DialogueState 설계가 필요하다.</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46"/>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07" name="Google Shape;407;p46"/>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08" name="Google Shape;408;p46"/>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409" name="Google Shape;409;p46"/>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Appendix</a:t>
            </a:r>
            <a:endParaRPr b="1" i="0" sz="1800" u="none" cap="none" strike="noStrike">
              <a:solidFill>
                <a:srgbClr val="595959"/>
              </a:solidFill>
              <a:latin typeface="IBM Plex Sans"/>
              <a:ea typeface="IBM Plex Sans"/>
              <a:cs typeface="IBM Plex Sans"/>
              <a:sym typeface="IBM Plex Sans"/>
            </a:endParaRPr>
          </a:p>
        </p:txBody>
      </p:sp>
      <p:sp>
        <p:nvSpPr>
          <p:cNvPr id="410" name="Google Shape;410;p46"/>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411" name="Google Shape;411;p4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412" name="Google Shape;412;p46"/>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cxnSp>
        <p:nvCxnSpPr>
          <p:cNvPr id="418" name="Google Shape;418;p47"/>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19" name="Google Shape;419;p47"/>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20" name="Google Shape;420;p47"/>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421" name="Google Shape;421;p4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422" name="Google Shape;422;p47"/>
          <p:cNvSpPr txBox="1"/>
          <p:nvPr/>
        </p:nvSpPr>
        <p:spPr>
          <a:xfrm>
            <a:off x="547400" y="541563"/>
            <a:ext cx="2573700" cy="39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Appendix-A. </a:t>
            </a:r>
            <a:r>
              <a:rPr lang="ko" sz="1800">
                <a:solidFill>
                  <a:schemeClr val="dk1"/>
                </a:solidFill>
                <a:latin typeface="IBM Plex Sans KR"/>
                <a:ea typeface="IBM Plex Sans KR"/>
                <a:cs typeface="IBM Plex Sans KR"/>
                <a:sym typeface="IBM Plex Sans KR"/>
              </a:rPr>
              <a:t>Episode :</a:t>
            </a:r>
            <a:endParaRPr b="0" i="0" sz="1800" u="none" cap="none" strike="noStrike">
              <a:solidFill>
                <a:schemeClr val="dk1"/>
              </a:solidFill>
              <a:latin typeface="IBM Plex Sans KR"/>
              <a:ea typeface="IBM Plex Sans KR"/>
              <a:cs typeface="IBM Plex Sans KR"/>
              <a:sym typeface="IBM Plex Sans KR"/>
            </a:endParaRPr>
          </a:p>
        </p:txBody>
      </p:sp>
      <p:sp>
        <p:nvSpPr>
          <p:cNvPr id="423" name="Google Shape;423;p47"/>
          <p:cNvSpPr txBox="1"/>
          <p:nvPr/>
        </p:nvSpPr>
        <p:spPr>
          <a:xfrm>
            <a:off x="540700" y="920397"/>
            <a:ext cx="8076000" cy="39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ko" sz="1200">
                <a:solidFill>
                  <a:schemeClr val="dk1"/>
                </a:solidFill>
                <a:latin typeface="IBM Plex Sans KR"/>
                <a:ea typeface="IBM Plex Sans KR"/>
                <a:cs typeface="IBM Plex Sans KR"/>
                <a:sym typeface="IBM Plex Sans KR"/>
              </a:rPr>
              <a:t>쇼핑 에이전트가 대화 흐름을 실제로 이해하고 대처하는 지 파악하기 위해 </a:t>
            </a:r>
            <a:r>
              <a:rPr b="1" lang="ko" sz="1200">
                <a:solidFill>
                  <a:schemeClr val="dk1"/>
                </a:solidFill>
                <a:latin typeface="IBM Plex Sans KR"/>
                <a:ea typeface="IBM Plex Sans KR"/>
                <a:cs typeface="IBM Plex Sans KR"/>
                <a:sym typeface="IBM Plex Sans KR"/>
              </a:rPr>
              <a:t>평가 이전</a:t>
            </a:r>
            <a:r>
              <a:rPr lang="ko" sz="1200">
                <a:solidFill>
                  <a:schemeClr val="dk1"/>
                </a:solidFill>
                <a:latin typeface="IBM Plex Sans KR"/>
                <a:ea typeface="IBM Plex Sans KR"/>
                <a:cs typeface="IBM Plex Sans KR"/>
                <a:sym typeface="IBM Plex Sans KR"/>
              </a:rPr>
              <a:t>에 </a:t>
            </a:r>
            <a:r>
              <a:rPr b="1" lang="ko" sz="1200">
                <a:solidFill>
                  <a:schemeClr val="dk1"/>
                </a:solidFill>
                <a:latin typeface="IBM Plex Sans KR"/>
                <a:ea typeface="IBM Plex Sans KR"/>
                <a:cs typeface="IBM Plex Sans KR"/>
                <a:sym typeface="IBM Plex Sans KR"/>
              </a:rPr>
              <a:t>사전에 설계</a:t>
            </a:r>
            <a:r>
              <a:rPr lang="ko" sz="1200">
                <a:solidFill>
                  <a:schemeClr val="dk1"/>
                </a:solidFill>
                <a:latin typeface="IBM Plex Sans KR"/>
                <a:ea typeface="IBM Plex Sans KR"/>
                <a:cs typeface="IBM Plex Sans KR"/>
                <a:sym typeface="IBM Plex Sans KR"/>
              </a:rPr>
              <a:t>한 20개의 에피소드 사용.</a:t>
            </a:r>
            <a:endParaRPr sz="1200">
              <a:solidFill>
                <a:schemeClr val="dk1"/>
              </a:solidFill>
              <a:latin typeface="IBM Plex Sans KR"/>
              <a:ea typeface="IBM Plex Sans KR"/>
              <a:cs typeface="IBM Plex Sans KR"/>
              <a:sym typeface="IBM Plex Sans KR"/>
            </a:endParaRPr>
          </a:p>
        </p:txBody>
      </p:sp>
      <p:pic>
        <p:nvPicPr>
          <p:cNvPr descr="logo.png" id="424" name="Google Shape;424;p47"/>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425" name="Google Shape;425;p47"/>
          <p:cNvGraphicFramePr/>
          <p:nvPr/>
        </p:nvGraphicFramePr>
        <p:xfrm>
          <a:off x="547400" y="1312563"/>
          <a:ext cx="3000000" cy="3000000"/>
        </p:xfrm>
        <a:graphic>
          <a:graphicData uri="http://schemas.openxmlformats.org/drawingml/2006/table">
            <a:tbl>
              <a:tblPr>
                <a:noFill/>
                <a:tableStyleId>{E251F6B1-2602-4EF5-8B1F-02A5E1A71A59}</a:tableStyleId>
              </a:tblPr>
              <a:tblGrid>
                <a:gridCol w="687400"/>
                <a:gridCol w="3272075"/>
                <a:gridCol w="1967775"/>
                <a:gridCol w="2135350"/>
              </a:tblGrid>
              <a:tr h="381000">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ID</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시나리오 및 핵심 대화 흐름</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HARD FILTER(제약 조건)</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GOLD STATE &amp; 주요 평가 역랑</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th01</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버스에서 PDF 읽기 → $275 이하 → 저장공간 128GB 이상 → 무게보다 배터리 우선</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가격 ≤ $275, 저장공간 ≥ 128GB</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800">
                          <a:latin typeface="IBM Plex Sans SemiBold"/>
                          <a:ea typeface="IBM Plex Sans SemiBold"/>
                          <a:cs typeface="IBM Plex Sans SemiBold"/>
                          <a:sym typeface="IBM Plex Sans SemiBold"/>
                        </a:rPr>
                        <a:t>reading, budget, storage, battery Trade-off </a:t>
                      </a:r>
                      <a:r>
                        <a:rPr lang="ko" sz="900">
                          <a:latin typeface="IBM Plex Sans SemiBold"/>
                          <a:ea typeface="IBM Plex Sans SemiBold"/>
                          <a:cs typeface="IBM Plex Sans SemiBold"/>
                          <a:sym typeface="IBM Plex Sans SemiBold"/>
                        </a:rPr>
                        <a:t>(배터리 &gt; 휴대성)</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th02</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중학생 수업용 → $210 이하 → 손글씨 숙제 필기 → 학교 생활 견디는 내구성 리뷰 중시</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가격 ≤ $210</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child, work/study, note-taking, durability,</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th03</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전략 게임/부드러운 성능 → $420 이하 → RAM 6GB 이상 → RAM 8GB 이상으로 수정</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가격 ≤ $420, RAM ≥ 8GB</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gaming, performance, budget, memory capacity, Hard Filter 수정( 6GB → 8 GB)</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th04</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다큐멘터리·라이브 스트리밍 → $195 이하 → 화면 10.1인치 이상 → 리뷰의 스피커 경험을 tie-breaker로 사용</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가격 ≤ $195, 화면 ≥ 10.1인치</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video, display, audio, 리뷰 바탕으로 상품 선택</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th05</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보고서·스프레드시트 편집 → Android 필수 → $330 이하 → 저장공간 64GB 이상</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가격 ≤ $330,저장공간 ≥ 64GB, Android</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work/study, operating_system, budget, storage, OS 필수 제약 필터링</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th06</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영상통화·레시피·웹 사용 → $140 이하 → 평점 4.3 이상 → 가성비와 신뢰할 만한 고객 경험 중시</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solidFill>
                            <a:schemeClr val="dk1"/>
                          </a:solidFill>
                          <a:latin typeface="IBM Plex Sans KR"/>
                          <a:ea typeface="IBM Plex Sans KR"/>
                          <a:cs typeface="IBM Plex Sans KR"/>
                          <a:sym typeface="IBM Plex Sans KR"/>
                        </a:rPr>
                        <a:t>가격 ≤ $140 평점 ≥ 4.3</a:t>
                      </a:r>
                      <a:endParaRPr sz="9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general use, price_value, review_signal(고평점 &amp; 가성비 검증)</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cxnSp>
        <p:nvCxnSpPr>
          <p:cNvPr id="431" name="Google Shape;431;p48"/>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32" name="Google Shape;432;p48"/>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33" name="Google Shape;433;p48"/>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434" name="Google Shape;434;p4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435" name="Google Shape;435;p48"/>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436" name="Google Shape;436;p48"/>
          <p:cNvGraphicFramePr/>
          <p:nvPr/>
        </p:nvGraphicFramePr>
        <p:xfrm>
          <a:off x="516509" y="922197"/>
          <a:ext cx="3000000" cy="3000000"/>
        </p:xfrm>
        <a:graphic>
          <a:graphicData uri="http://schemas.openxmlformats.org/drawingml/2006/table">
            <a:tbl>
              <a:tblPr>
                <a:noFill/>
                <a:tableStyleId>{E251F6B1-2602-4EF5-8B1F-02A5E1A71A59}</a:tableStyleId>
              </a:tblPr>
              <a:tblGrid>
                <a:gridCol w="687400"/>
                <a:gridCol w="3272075"/>
                <a:gridCol w="1967775"/>
                <a:gridCol w="2135350"/>
              </a:tblGrid>
              <a:tr h="500775">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th07</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등산 사진용 휴대전화 요청 → 매장 안내 → 오프라인 지도·안내 읽기, $260 이하 → 600g 이하</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$260, 무게 ≤ 600g</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tablet, reading, budget, max weight, Unsupported Category(휴대전화X) 복구</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3625">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th08</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계약서 검토 → $500 이하 → RAM 4GB → 노트북 추천 요청 → 철회 후 태블릿 계속 (5턴)</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$500, RAM ≥ 4GB</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tablet, work/study, budget, memory_capacity </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th09</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강의·영화 시청 → $370 이하 → Windows 비필수 (필터 미적용) → 휴대성 중시</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$370,  (OS 필터 없음)</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video, budget, portability</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th10</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가족 공유 용도 → $240 이하 → microSD 언급 (미지원 필드 제외) → 장기 내구성 리뷰</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$240, (microSD 제외)</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family, general use, budget, durability</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th11</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손그림·회의 필기 → $300 이하 → 저장공간 64GB 이상 → 3위 상품 부피 커서 거절</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$300, 저장공간 ≥ 64GB</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note-taking, budget, storage, portability</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th12</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장시간 독서/편안한 화면 → $350 이하 → 1위·3위 비교 → 2위 상세 보기 (Inspect)</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$350</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reading, display, budget</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th13</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원격 근무·복잡한 문서 → $280 이하 → 성능 우수 시 예산 초과 허용 → RAM 4GB 이상</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기준 가격 ≤ $280, RAM ≥ 4GB</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work/study, budget, flexibility, performance.</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cxnSp>
        <p:nvCxnSpPr>
          <p:cNvPr id="442" name="Google Shape;442;p49"/>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43" name="Google Shape;443;p49"/>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44" name="Google Shape;444;p49"/>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445" name="Google Shape;445;p4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446" name="Google Shape;446;p49"/>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447" name="Google Shape;447;p49"/>
          <p:cNvGraphicFramePr/>
          <p:nvPr/>
        </p:nvGraphicFramePr>
        <p:xfrm>
          <a:off x="516509" y="922197"/>
          <a:ext cx="3000000" cy="3000000"/>
        </p:xfrm>
        <a:graphic>
          <a:graphicData uri="http://schemas.openxmlformats.org/drawingml/2006/table">
            <a:tbl>
              <a:tblPr>
                <a:noFill/>
                <a:tableStyleId>{E251F6B1-2602-4EF5-8B1F-02A5E1A71A59}</a:tableStyleId>
              </a:tblPr>
              <a:tblGrid>
                <a:gridCol w="687400"/>
                <a:gridCol w="3272075"/>
                <a:gridCol w="1967775"/>
                <a:gridCol w="2135350"/>
              </a:tblGrid>
              <a:tr h="500775">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th14</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8세 생일 선물 → $170 이하 → 어린이가 쉽게 사용 →</a:t>
                      </a:r>
                      <a:endParaRPr sz="900">
                        <a:latin typeface="IBM Plex Sans KR"/>
                        <a:ea typeface="IBM Plex Sans KR"/>
                        <a:cs typeface="IBM Plex Sans KR"/>
                        <a:sym typeface="IBM Plex Sans KR"/>
                      </a:endParaRPr>
                    </a:p>
                    <a:p>
                      <a:pPr indent="0" lvl="0" marL="0" rtl="0" algn="ctr">
                        <a:spcBef>
                          <a:spcPts val="0"/>
                        </a:spcBef>
                        <a:spcAft>
                          <a:spcPts val="0"/>
                        </a:spcAft>
                        <a:buNone/>
                      </a:pPr>
                      <a:r>
                        <a:rPr lang="ko" sz="900">
                          <a:latin typeface="IBM Plex Sans KR"/>
                          <a:ea typeface="IBM Plex Sans KR"/>
                          <a:cs typeface="IBM Plex Sans KR"/>
                          <a:sym typeface="IBM Plex Sans KR"/>
                        </a:rPr>
                        <a:t> 속도보다 내구성 우선</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$170</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gift, child, child_friendly, durability, Trade-off (내구성 &gt; 성능)</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3625">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th15</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낡은 기기 교체, 수년간 사용 → $650 이하 → 저장공간 256GB 이상 → 내구성·품질 리뷰 중시</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$650, 저장공간 ≥ 256GB</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replacement, long_term_use, storage, durability, 대용량 &amp; 장기 사용 신호</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th16</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저렴하고 휴대 쉬운 기기 → $225 확정 → 평점 4.2 이상 → 잡지·기사 읽기 용도</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$225,평점 ≥ 4.2</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price_value, portability, reading, 가성비 &amp; 평점 제약</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th17</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빠른 게임 → $380 이하 → </a:t>
                      </a:r>
                      <a:endParaRPr sz="900">
                        <a:latin typeface="IBM Plex Sans KR"/>
                        <a:ea typeface="IBM Plex Sans KR"/>
                        <a:cs typeface="IBM Plex Sans KR"/>
                        <a:sym typeface="IBM Plex Sans KR"/>
                      </a:endParaRPr>
                    </a:p>
                    <a:p>
                      <a:pPr indent="0" lvl="0" marL="0" rtl="0" algn="ctr">
                        <a:spcBef>
                          <a:spcPts val="0"/>
                        </a:spcBef>
                        <a:spcAft>
                          <a:spcPts val="0"/>
                        </a:spcAft>
                        <a:buNone/>
                      </a:pPr>
                      <a:r>
                        <a:rPr lang="ko" sz="900">
                          <a:latin typeface="IBM Plex Sans KR"/>
                          <a:ea typeface="IBM Plex Sans KR"/>
                          <a:cs typeface="IBM Plex Sans KR"/>
                          <a:sym typeface="IBM Plex Sans KR"/>
                        </a:rPr>
                        <a:t>“RAM 12GB에서 8GB으로 정정” → 반응성과 선명한 화면</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$380, RAM ≥ 8GB</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gaming, performance, display, memory_capacity, 동일 턴 자기정정 &amp; Zero-result</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th18</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학업·연구 노트 → Android 요청 → 마음 바꿔 Windows 필수 변경 → $550 이하</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$550, Windows</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work/study, operating_system, budge,t OS 제약조건 교체 (Android→Win)</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th19</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이메일·프로젝트 문서용 → $300 이하 → 1위 상세 보기 → 명시적 구매 결정</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$300</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ko" sz="900">
                          <a:latin typeface="IBM Plex Sans SemiBold"/>
                          <a:ea typeface="IBM Plex Sans SemiBold"/>
                          <a:cs typeface="IBM Plex Sans SemiBold"/>
                          <a:sym typeface="IBM Plex Sans SemiBold"/>
                        </a:rPr>
                        <a:t>work/study, budget, Item Action (Inspect → Purchase)</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th20</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스포츠·콘서트 시청 → $450 이하 → 1위·2위 비교 → 화면 약한 1위 거절</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KR"/>
                          <a:ea typeface="IBM Plex Sans KR"/>
                          <a:cs typeface="IBM Plex Sans KR"/>
                          <a:sym typeface="IBM Plex Sans KR"/>
                        </a:rPr>
                        <a:t>가격 ≤ $450</a:t>
                      </a:r>
                      <a:endParaRPr sz="9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900">
                          <a:latin typeface="IBM Plex Sans SemiBold"/>
                          <a:ea typeface="IBM Plex Sans SemiBold"/>
                          <a:cs typeface="IBM Plex Sans SemiBold"/>
                          <a:sym typeface="IBM Plex Sans SemiBold"/>
                        </a:rPr>
                        <a:t>video, budget, display 1위 거절 → Display 속성 반영</a:t>
                      </a:r>
                      <a:endParaRPr sz="900">
                        <a:latin typeface="IBM Plex Sans SemiBold"/>
                        <a:ea typeface="IBM Plex Sans SemiBold"/>
                        <a:cs typeface="IBM Plex Sans SemiBold"/>
                        <a:sym typeface="IBM Plex Sans SemiBol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cxnSp>
        <p:nvCxnSpPr>
          <p:cNvPr id="453" name="Google Shape;453;p50"/>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54" name="Google Shape;454;p50"/>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55" name="Google Shape;455;p50"/>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456" name="Google Shape;456;p5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sp>
        <p:nvSpPr>
          <p:cNvPr id="457" name="Google Shape;457;p50"/>
          <p:cNvSpPr txBox="1"/>
          <p:nvPr/>
        </p:nvSpPr>
        <p:spPr>
          <a:xfrm>
            <a:off x="547400" y="541575"/>
            <a:ext cx="3959400" cy="39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Appendix-B. State Compare</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458" name="Google Shape;458;p50"/>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459" name="Google Shape;459;p50"/>
          <p:cNvGraphicFramePr/>
          <p:nvPr/>
        </p:nvGraphicFramePr>
        <p:xfrm>
          <a:off x="600317" y="1099338"/>
          <a:ext cx="3000000" cy="3000000"/>
        </p:xfrm>
        <a:graphic>
          <a:graphicData uri="http://schemas.openxmlformats.org/drawingml/2006/table">
            <a:tbl>
              <a:tblPr>
                <a:noFill/>
                <a:tableStyleId>{E251F6B1-2602-4EF5-8B1F-02A5E1A71A59}</a:tableStyleId>
              </a:tblPr>
              <a:tblGrid>
                <a:gridCol w="672975"/>
                <a:gridCol w="2851100"/>
                <a:gridCol w="2278725"/>
                <a:gridCol w="2090500"/>
              </a:tblGrid>
              <a:tr h="354800">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ID</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Gold Final State</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Full-Memory 종료 상태</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1000">
                          <a:latin typeface="IBM Plex Sans KR"/>
                          <a:ea typeface="IBM Plex Sans KR"/>
                          <a:cs typeface="IBM Plex Sans KR"/>
                          <a:sym typeface="IBM Plex Sans KR"/>
                        </a:rPr>
                        <a:t>No-Memory 종료 상태</a:t>
                      </a:r>
                      <a:endParaRPr sz="10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7535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th01</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a:ea typeface="IBM Plex Sans"/>
                          <a:cs typeface="IBM Plex Sans"/>
                          <a:sym typeface="IBM Plex Sans"/>
                        </a:rPr>
                        <a:t>activity_reading, budget≤$275, storage≥128GB, battery</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activity_reading, budget, storage_capacity + 잘못된 goal_entertainment, max_weight; battery 누락</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battery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34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th02</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a:ea typeface="IBM Plex Sans"/>
                          <a:cs typeface="IBM Plex Sans"/>
                          <a:sym typeface="IBM Plex Sans"/>
                        </a:rPr>
                        <a:t>udience_child, goal_work_study, budget≤$210, activity_note_taking, note_taking, durability, review_signal</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activity_note_taking, audience_child, budget, goal_work_study, review_signal; note_taking·durability 누락</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goal_work_study, review_signal</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370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th03</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a:ea typeface="IBM Plex Sans"/>
                          <a:cs typeface="IBM Plex Sans"/>
                          <a:sym typeface="IBM Plex Sans"/>
                        </a:rPr>
                        <a:t>activity_gaming, performance, budget≤$420, memory≥8GB</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solidFill>
                            <a:schemeClr val="dk1"/>
                          </a:solidFill>
                          <a:latin typeface="IBM Plex Sans KR"/>
                          <a:ea typeface="IBM Plex Sans KR"/>
                          <a:cs typeface="IBM Plex Sans KR"/>
                          <a:sym typeface="IBM Plex Sans KR"/>
                        </a:rPr>
                        <a:t>Gold와 정확히 일치</a:t>
                      </a:r>
                      <a:endParaRPr b="1"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memory≥8GB</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57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th04</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a:ea typeface="IBM Plex Sans"/>
                          <a:cs typeface="IBM Plex Sans"/>
                          <a:sym typeface="IBM Plex Sans"/>
                        </a:rPr>
                        <a:t>activity_video, budget≤$195, display≥10.1″, audio</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activity_video, budget, display, review_signal; audio를 review_signal로 잘못 기록</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video, display, audio, 리뷰 바탕으로 상품 선택</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257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th05</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a:ea typeface="IBM Plex Sans"/>
                          <a:cs typeface="IBM Plex Sans"/>
                          <a:sym typeface="IBM Plex Sans"/>
                        </a:rPr>
                        <a:t>goal_work_study, OS=Android, budget≤$330, storage≥64GB</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Gold 전부 보존 + 과잉 activity_note_taking, audience_self</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첫 턴부터 실패</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2957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th06</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a:ea typeface="IBM Plex Sans"/>
                          <a:cs typeface="IBM Plex Sans"/>
                          <a:sym typeface="IBM Plex Sans"/>
                        </a:rPr>
                        <a:t>activity_general, budget≤$140, rating≥4.3, price_value, review_signal</a:t>
                      </a:r>
                      <a:endParaRPr sz="800">
                        <a:solidFill>
                          <a:schemeClr val="dk1"/>
                        </a:solidFill>
                        <a:latin typeface="IBM Plex Sans"/>
                        <a:ea typeface="IBM Plex Sans"/>
                        <a:cs typeface="IBM Plex Sans"/>
                        <a:sym typeface="IBM Plex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latin typeface="IBM Plex Sans KR"/>
                          <a:ea typeface="IBM Plex Sans KR"/>
                          <a:cs typeface="IBM Plex Sans KR"/>
                          <a:sym typeface="IBM Plex Sans KR"/>
                        </a:rPr>
                        <a:t>budget, min_rating, review_signal 보존; activity_general, price_value 누락; 과잉 activity_video, goal_entertainment</a:t>
                      </a:r>
                      <a:endParaRPr sz="800">
                        <a:solidFill>
                          <a:schemeClr val="dk1"/>
                        </a:solidFill>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budget, review_signal</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cxnSp>
        <p:nvCxnSpPr>
          <p:cNvPr id="465" name="Google Shape;465;p51"/>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66" name="Google Shape;466;p51"/>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67" name="Google Shape;467;p51"/>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468" name="Google Shape;468;p5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469" name="Google Shape;469;p51"/>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470" name="Google Shape;470;p51"/>
          <p:cNvGraphicFramePr/>
          <p:nvPr/>
        </p:nvGraphicFramePr>
        <p:xfrm>
          <a:off x="516509" y="922197"/>
          <a:ext cx="3000000" cy="3000000"/>
        </p:xfrm>
        <a:graphic>
          <a:graphicData uri="http://schemas.openxmlformats.org/drawingml/2006/table">
            <a:tbl>
              <a:tblPr>
                <a:noFill/>
                <a:tableStyleId>{E251F6B1-2602-4EF5-8B1F-02A5E1A71A59}</a:tableStyleId>
              </a:tblPr>
              <a:tblGrid>
                <a:gridCol w="687400"/>
                <a:gridCol w="3166250"/>
                <a:gridCol w="2073600"/>
                <a:gridCol w="2135350"/>
              </a:tblGrid>
              <a:tr h="34202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th07</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activity_reading, budget≤$260, weight≤600g</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latin typeface="IBM Plex Sans KR"/>
                          <a:ea typeface="IBM Plex Sans KR"/>
                          <a:cs typeface="IBM Plex Sans KR"/>
                          <a:sym typeface="IBM Plex Sans KR"/>
                        </a:rPr>
                        <a:t>Gold 전부 보존</a:t>
                      </a:r>
                      <a:r>
                        <a:rPr lang="ko" sz="800">
                          <a:latin typeface="IBM Plex Sans KR"/>
                          <a:ea typeface="IBM Plex Sans KR"/>
                          <a:cs typeface="IBM Plex Sans KR"/>
                          <a:sym typeface="IBM Plex Sans KR"/>
                        </a:rPr>
                        <a:t> + 과잉 goal_work_study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weight≤600g</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362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th08</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goal_work_study, budget≤$500, memory≥4GB</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latin typeface="IBM Plex Sans KR"/>
                          <a:ea typeface="IBM Plex Sans KR"/>
                          <a:cs typeface="IBM Plex Sans KR"/>
                          <a:sym typeface="IBM Plex Sans KR"/>
                        </a:rPr>
                        <a:t>첫 턴부터 실패</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latin typeface="IBM Plex Sans KR"/>
                          <a:ea typeface="IBM Plex Sans KR"/>
                          <a:cs typeface="IBM Plex Sans KR"/>
                          <a:sym typeface="IBM Plex Sans KR"/>
                        </a:rPr>
                        <a:t>첫 턴부터 실패</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th09</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activity_video, budget≤$370, portability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portability만 보존, activity_general 오추가; activity_video, budget 누락</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portability(</a:t>
                      </a:r>
                      <a:r>
                        <a:rPr b="1" lang="ko" sz="800">
                          <a:solidFill>
                            <a:schemeClr val="dk1"/>
                          </a:solidFill>
                        </a:rPr>
                        <a:t>과잉이 없어 Full보다 상회</a:t>
                      </a:r>
                      <a:r>
                        <a:rPr lang="ko" sz="800">
                          <a:solidFill>
                            <a:schemeClr val="dk1"/>
                          </a:solidFill>
                        </a:rPr>
                        <a:t>)</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audience_family, activity_general, budget≤$240, durability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audience_family, budget, durability 보존; activity_general 누락; 과잉 goal_long_term_use, storage_capacity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durability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th11</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activity_note_taking, note_taking, budget≤$300, storage≥64GB, portability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ko" sz="800">
                          <a:solidFill>
                            <a:schemeClr val="dk1"/>
                          </a:solidFill>
                          <a:latin typeface="IBM Plex Sans KR"/>
                          <a:ea typeface="IBM Plex Sans KR"/>
                          <a:cs typeface="IBM Plex Sans KR"/>
                          <a:sym typeface="IBM Plex Sans KR"/>
                        </a:rPr>
                        <a:t>첫 턴부터 실패</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ko" sz="800">
                          <a:solidFill>
                            <a:schemeClr val="dk1"/>
                          </a:solidFill>
                          <a:latin typeface="IBM Plex Sans KR"/>
                          <a:ea typeface="IBM Plex Sans KR"/>
                          <a:cs typeface="IBM Plex Sans KR"/>
                          <a:sym typeface="IBM Plex Sans KR"/>
                        </a:rPr>
                        <a:t>첫 턴부터 실패</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th12</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activity_reading, display, budget≤$350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latin typeface="IBM Plex Sans KR"/>
                          <a:ea typeface="IBM Plex Sans KR"/>
                          <a:cs typeface="IBM Plex Sans KR"/>
                          <a:sym typeface="IBM Plex Sans KR"/>
                        </a:rPr>
                        <a:t>Gold와 정확히 일치</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마지막</a:t>
                      </a:r>
                      <a:r>
                        <a:rPr lang="ko" sz="800">
                          <a:latin typeface="IBM Plex Sans KR"/>
                          <a:ea typeface="IBM Plex Sans KR"/>
                          <a:cs typeface="IBM Plex Sans KR"/>
                          <a:sym typeface="IBM Plex Sans KR"/>
                        </a:rPr>
                        <a:t> 턴이 </a:t>
                      </a:r>
                      <a:r>
                        <a:rPr b="1" lang="ko" sz="800">
                          <a:latin typeface="IBM Plex Sans KR"/>
                          <a:ea typeface="IBM Plex Sans KR"/>
                          <a:cs typeface="IBM Plex Sans KR"/>
                          <a:sym typeface="IBM Plex Sans KR"/>
                        </a:rPr>
                        <a:t>Inspect</a:t>
                      </a:r>
                      <a:r>
                        <a:rPr lang="ko" sz="800">
                          <a:latin typeface="IBM Plex Sans KR"/>
                          <a:ea typeface="IBM Plex Sans KR"/>
                          <a:cs typeface="IBM Plex Sans KR"/>
                          <a:sym typeface="IBM Plex Sans KR"/>
                        </a:rPr>
                        <a:t>라 State 수집 X</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th13</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goal_work_study, budget≤$280, budget_flexibility, performance, memory≥4GB</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budget 누락, 과잉 activity_reading</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memory≥4GB</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cxnSp>
        <p:nvCxnSpPr>
          <p:cNvPr id="476" name="Google Shape;476;p52"/>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477" name="Google Shape;477;p52"/>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478" name="Google Shape;478;p52"/>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479" name="Google Shape;479;p5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480" name="Google Shape;480;p52"/>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graphicFrame>
        <p:nvGraphicFramePr>
          <p:cNvPr id="481" name="Google Shape;481;p52"/>
          <p:cNvGraphicFramePr/>
          <p:nvPr/>
        </p:nvGraphicFramePr>
        <p:xfrm>
          <a:off x="516509" y="922197"/>
          <a:ext cx="3000000" cy="3000000"/>
        </p:xfrm>
        <a:graphic>
          <a:graphicData uri="http://schemas.openxmlformats.org/drawingml/2006/table">
            <a:tbl>
              <a:tblPr>
                <a:noFill/>
                <a:tableStyleId>{E251F6B1-2602-4EF5-8B1F-02A5E1A71A59}</a:tableStyleId>
              </a:tblPr>
              <a:tblGrid>
                <a:gridCol w="687400"/>
                <a:gridCol w="3240325"/>
                <a:gridCol w="1999525"/>
                <a:gridCol w="2135350"/>
              </a:tblGrid>
              <a:tr h="44785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th14</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event_gift, audience_child, budget≤$170, child_friendly, durability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audience child</a:t>
                      </a:r>
                      <a:r>
                        <a:rPr lang="ko" sz="800">
                          <a:latin typeface="IBM Plex Sans KR"/>
                          <a:ea typeface="IBM Plex Sans KR"/>
                          <a:cs typeface="IBM Plex Sans KR"/>
                          <a:sym typeface="IBM Plex Sans KR"/>
                        </a:rPr>
                        <a:t>, </a:t>
                      </a:r>
                      <a:r>
                        <a:rPr lang="ko" sz="800">
                          <a:latin typeface="IBM Plex Sans KR"/>
                          <a:ea typeface="IBM Plex Sans KR"/>
                          <a:cs typeface="IBM Plex Sans KR"/>
                          <a:sym typeface="IBM Plex Sans KR"/>
                        </a:rPr>
                        <a:t>child friendly</a:t>
                      </a:r>
                      <a:r>
                        <a:rPr lang="ko" sz="800">
                          <a:latin typeface="IBM Plex Sans KR"/>
                          <a:ea typeface="IBM Plex Sans KR"/>
                          <a:cs typeface="IBM Plex Sans KR"/>
                          <a:sym typeface="IBM Plex Sans KR"/>
                        </a:rPr>
                        <a:t>, durability 보존; </a:t>
                      </a:r>
                      <a:r>
                        <a:rPr lang="ko" sz="800">
                          <a:latin typeface="IBM Plex Sans KR"/>
                          <a:ea typeface="IBM Plex Sans KR"/>
                          <a:cs typeface="IBM Plex Sans KR"/>
                          <a:sym typeface="IBM Plex Sans KR"/>
                        </a:rPr>
                        <a:t>event gift</a:t>
                      </a:r>
                      <a:r>
                        <a:rPr lang="ko" sz="800">
                          <a:latin typeface="IBM Plex Sans KR"/>
                          <a:ea typeface="IBM Plex Sans KR"/>
                          <a:cs typeface="IBM Plex Sans KR"/>
                          <a:sym typeface="IBM Plex Sans KR"/>
                        </a:rPr>
                        <a:t>, budget 누락</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durability 보존, perfermoance 과잉</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3625">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th15</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event_replacement, goal_long_term_use, budget≤$650, storage≥256GB, durability, review_signal</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goal_long_term_use, budget, storage_capacity, review_signal 보존; event_replacement, durability 누락</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review_signal</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th16</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price_value, portability, budget≤$225, rating≥4.2, activity_reading</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portability, budget, min_rating, activity_reading 보존; price_value 누락; 과잉 goal_entertainment</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activity_reading</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th17</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activity_gaming, budget≤$380, memory≥8GB, performance, display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solidFill>
                            <a:schemeClr val="dk1"/>
                          </a:solidFill>
                        </a:rPr>
                        <a:t>2/4턴 조기 종료</a:t>
                      </a:r>
                      <a:r>
                        <a:rPr lang="ko" sz="800">
                          <a:solidFill>
                            <a:schemeClr val="dk1"/>
                          </a:solidFill>
                        </a:rPr>
                        <a:t>. activity_gaming, budget, performance 보존; memory_capacity, display 누락</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display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th18</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goal_work_study, OS=Windows, budget≤$550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ko" sz="800">
                          <a:solidFill>
                            <a:schemeClr val="dk1"/>
                          </a:solidFill>
                        </a:rPr>
                        <a:t>첫 턴부터 실패</a:t>
                      </a:r>
                      <a:endParaRPr b="1"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budget≤$550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th19</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goal_work_study, budget≤$300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goal_work_study 보존; budget 누락; 과잉 activity_general, audience_self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ko" sz="800">
                          <a:solidFill>
                            <a:schemeClr val="dk1"/>
                          </a:solidFill>
                          <a:latin typeface="IBM Plex Sans KR"/>
                          <a:ea typeface="IBM Plex Sans KR"/>
                          <a:cs typeface="IBM Plex Sans KR"/>
                          <a:sym typeface="IBM Plex Sans KR"/>
                        </a:rPr>
                        <a:t>마지막 턴이 </a:t>
                      </a:r>
                      <a:r>
                        <a:rPr b="1" lang="ko" sz="800">
                          <a:solidFill>
                            <a:schemeClr val="dk1"/>
                          </a:solidFill>
                          <a:latin typeface="IBM Plex Sans KR"/>
                          <a:ea typeface="IBM Plex Sans KR"/>
                          <a:cs typeface="IBM Plex Sans KR"/>
                          <a:sym typeface="IBM Plex Sans KR"/>
                        </a:rPr>
                        <a:t>Purchase</a:t>
                      </a:r>
                      <a:r>
                        <a:rPr lang="ko" sz="800">
                          <a:solidFill>
                            <a:schemeClr val="dk1"/>
                          </a:solidFill>
                          <a:latin typeface="IBM Plex Sans KR"/>
                          <a:ea typeface="IBM Plex Sans KR"/>
                          <a:cs typeface="IBM Plex Sans KR"/>
                          <a:sym typeface="IBM Plex Sans KR"/>
                        </a:rPr>
                        <a:t>라 State 수집 X</a:t>
                      </a:r>
                      <a:endParaRPr sz="800">
                        <a:solidFill>
                          <a:schemeClr val="dk1"/>
                        </a:solidFill>
                        <a:latin typeface="IBM Plex Sans KR"/>
                        <a:ea typeface="IBM Plex Sans KR"/>
                        <a:cs typeface="IBM Plex Sans KR"/>
                        <a:sym typeface="IBM Plex Sans KR"/>
                      </a:endParaRPr>
                    </a:p>
                    <a:p>
                      <a:pPr indent="0" lvl="0" marL="0" rtl="0" algn="ctr">
                        <a:spcBef>
                          <a:spcPts val="0"/>
                        </a:spcBef>
                        <a:spcAft>
                          <a:spcPts val="0"/>
                        </a:spcAft>
                        <a:buNone/>
                      </a:pPr>
                      <a:r>
                        <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lang="ko" sz="800">
                          <a:latin typeface="IBM Plex Sans KR"/>
                          <a:ea typeface="IBM Plex Sans KR"/>
                          <a:cs typeface="IBM Plex Sans KR"/>
                          <a:sym typeface="IBM Plex Sans KR"/>
                        </a:rPr>
                        <a:t>th20</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activity_video, budget≤$450, display</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3/4턴에서 종료. activity_video만 남고 최종 display 피드백 처리 실패</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ko" sz="800">
                          <a:solidFill>
                            <a:schemeClr val="dk1"/>
                          </a:solidFill>
                        </a:rPr>
                        <a:t>display 및 거절 행동 기록 실패</a:t>
                      </a:r>
                      <a:endParaRPr sz="800">
                        <a:latin typeface="IBM Plex Sans KR"/>
                        <a:ea typeface="IBM Plex Sans KR"/>
                        <a:cs typeface="IBM Plex Sans KR"/>
                        <a:sym typeface="IBM Plex Sans K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